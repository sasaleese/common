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2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1"/>
  </p:notesMasterIdLst>
  <p:sldIdLst>
    <p:sldId id="256" r:id="rId2"/>
    <p:sldId id="13676" r:id="rId3"/>
    <p:sldId id="13678" r:id="rId4"/>
    <p:sldId id="13713" r:id="rId5"/>
    <p:sldId id="13701" r:id="rId6"/>
    <p:sldId id="13686" r:id="rId7"/>
    <p:sldId id="13722" r:id="rId8"/>
    <p:sldId id="13672" r:id="rId9"/>
    <p:sldId id="2842" r:id="rId10"/>
    <p:sldId id="2843" r:id="rId11"/>
    <p:sldId id="13702" r:id="rId12"/>
    <p:sldId id="13724" r:id="rId13"/>
    <p:sldId id="13725" r:id="rId14"/>
    <p:sldId id="13719" r:id="rId15"/>
    <p:sldId id="13699" r:id="rId16"/>
    <p:sldId id="13691" r:id="rId17"/>
    <p:sldId id="13694" r:id="rId18"/>
    <p:sldId id="13692" r:id="rId19"/>
    <p:sldId id="13693" r:id="rId20"/>
    <p:sldId id="13695" r:id="rId21"/>
    <p:sldId id="13721" r:id="rId22"/>
    <p:sldId id="13707" r:id="rId23"/>
    <p:sldId id="13708" r:id="rId24"/>
    <p:sldId id="13709" r:id="rId25"/>
    <p:sldId id="13712" r:id="rId26"/>
    <p:sldId id="13714" r:id="rId27"/>
    <p:sldId id="13717" r:id="rId28"/>
    <p:sldId id="13710" r:id="rId29"/>
    <p:sldId id="13711" r:id="rId30"/>
    <p:sldId id="13715" r:id="rId31"/>
    <p:sldId id="13718" r:id="rId32"/>
    <p:sldId id="13720" r:id="rId33"/>
    <p:sldId id="13679" r:id="rId34"/>
    <p:sldId id="13705" r:id="rId35"/>
    <p:sldId id="13704" r:id="rId36"/>
    <p:sldId id="13723" r:id="rId37"/>
    <p:sldId id="13687" r:id="rId38"/>
    <p:sldId id="13688" r:id="rId39"/>
    <p:sldId id="13690" r:id="rId40"/>
  </p:sldIdLst>
  <p:sldSz cx="12192000" cy="6858000"/>
  <p:notesSz cx="6858000" cy="9144000"/>
  <p:defaultTextStyle>
    <a:defPPr>
      <a:defRPr lang="en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50" autoAdjust="0"/>
    <p:restoredTop sz="94690"/>
  </p:normalViewPr>
  <p:slideViewPr>
    <p:cSldViewPr snapToGrid="0">
      <p:cViewPr varScale="1">
        <p:scale>
          <a:sx n="111" d="100"/>
          <a:sy n="111" d="100"/>
        </p:scale>
        <p:origin x="624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" d="1"/>
        <a:sy n="1" d="1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-munkalap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-munkalap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hu-H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128" b="1" i="0" u="none" strike="noStrike" kern="1200" spc="100" baseline="0">
                <a:solidFill>
                  <a:schemeClr val="lt1">
                    <a:lumMod val="95000"/>
                  </a:schemeClr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+mn-lt"/>
                <a:ea typeface="+mn-ea"/>
                <a:cs typeface="+mn-cs"/>
              </a:defRPr>
            </a:pPr>
            <a:r>
              <a:rPr lang="en-GB" b="0" i="0" dirty="0">
                <a:latin typeface="Arial" panose="020B0604020202020204" pitchFamily="34" charset="0"/>
              </a:rPr>
              <a:t>10 </a:t>
            </a:r>
            <a:r>
              <a:rPr lang="en-GB" b="0" i="0" dirty="0" err="1">
                <a:latin typeface="Arial" panose="020B0604020202020204" pitchFamily="34" charset="0"/>
              </a:rPr>
              <a:t>éves</a:t>
            </a:r>
            <a:r>
              <a:rPr lang="en-GB" b="0" i="0" dirty="0">
                <a:latin typeface="Arial" panose="020B0604020202020204" pitchFamily="34" charset="0"/>
              </a:rPr>
              <a:t> CV </a:t>
            </a:r>
            <a:r>
              <a:rPr lang="en-GB" b="0" i="0" dirty="0" err="1">
                <a:latin typeface="Arial" panose="020B0604020202020204" pitchFamily="34" charset="0"/>
              </a:rPr>
              <a:t>rizikó</a:t>
            </a:r>
            <a:r>
              <a:rPr lang="en-GB" b="0" i="0" baseline="0" dirty="0">
                <a:latin typeface="Arial" panose="020B0604020202020204" pitchFamily="34" charset="0"/>
              </a:rPr>
              <a:t> </a:t>
            </a:r>
            <a:r>
              <a:rPr lang="en-GB" b="0" i="0" dirty="0" err="1">
                <a:latin typeface="Arial" panose="020B0604020202020204" pitchFamily="34" charset="0"/>
              </a:rPr>
              <a:t>csökkentése</a:t>
            </a:r>
            <a:endParaRPr lang="en-GB" b="0" i="0" dirty="0">
              <a:latin typeface="Arial" panose="020B0604020202020204" pitchFamily="34" charset="0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128" b="1" i="0" u="none" strike="noStrike" kern="1200" spc="100" baseline="0">
              <a:solidFill>
                <a:schemeClr val="lt1">
                  <a:lumMod val="95000"/>
                </a:schemeClr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  <a:latin typeface="+mn-lt"/>
              <a:ea typeface="+mn-ea"/>
              <a:cs typeface="+mn-cs"/>
            </a:defRPr>
          </a:pPr>
          <a:endParaRPr lang="en-GB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Rizikócsökkentés</c:v>
                </c:pt>
              </c:strCache>
            </c:strRef>
          </c:tx>
          <c:spPr>
            <a:gradFill rotWithShape="1">
              <a:gsLst>
                <a:gs pos="0">
                  <a:schemeClr val="accent1">
                    <a:satMod val="103000"/>
                    <a:lumMod val="102000"/>
                    <a:tint val="94000"/>
                  </a:schemeClr>
                </a:gs>
                <a:gs pos="50000">
                  <a:schemeClr val="accent1">
                    <a:satMod val="110000"/>
                    <a:lumMod val="100000"/>
                    <a:shade val="100000"/>
                  </a:schemeClr>
                </a:gs>
                <a:gs pos="100000">
                  <a:schemeClr val="accent1">
                    <a:lumMod val="99000"/>
                    <a:satMod val="120000"/>
                    <a:shade val="78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</c:spPr>
          <c:invertIfNegative val="0"/>
          <c:dPt>
            <c:idx val="0"/>
            <c:invertIfNegative val="0"/>
            <c:bubble3D val="0"/>
            <c:spPr>
              <a:solidFill>
                <a:srgbClr val="C00000"/>
              </a:soli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10-C9CE-A746-8970-2B5B4894A007}"/>
              </c:ext>
            </c:extLst>
          </c:dPt>
          <c:dPt>
            <c:idx val="1"/>
            <c:invertIfNegative val="0"/>
            <c:bubble3D val="0"/>
            <c:spPr>
              <a:solidFill>
                <a:srgbClr val="FFFF00"/>
              </a:soli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13-C9CE-A746-8970-2B5B4894A007}"/>
              </c:ext>
            </c:extLst>
          </c:dPt>
          <c:dPt>
            <c:idx val="2"/>
            <c:invertIfNegative val="0"/>
            <c:bubble3D val="0"/>
            <c:spPr>
              <a:solidFill>
                <a:srgbClr val="FFFF00"/>
              </a:soli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14-C9CE-A746-8970-2B5B4894A007}"/>
              </c:ext>
            </c:extLst>
          </c:dPt>
          <c:dPt>
            <c:idx val="3"/>
            <c:invertIfNegative val="0"/>
            <c:bubble3D val="0"/>
            <c:spPr>
              <a:solidFill>
                <a:srgbClr val="FFC000"/>
              </a:soli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11-C9CE-A746-8970-2B5B4894A007}"/>
              </c:ext>
            </c:extLst>
          </c:dPt>
          <c:dPt>
            <c:idx val="4"/>
            <c:invertIfNegative val="0"/>
            <c:bubble3D val="0"/>
            <c:spPr>
              <a:solidFill>
                <a:srgbClr val="FF0000"/>
              </a:soli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12-C9CE-A746-8970-2B5B4894A007}"/>
              </c:ext>
            </c:extLst>
          </c:dPt>
          <c:dLbls>
            <c:dLbl>
              <c:idx val="6"/>
              <c:layout>
                <c:manualLayout>
                  <c:x val="1.9243545361821552E-3"/>
                  <c:y val="-3.8531155827743753E-2"/>
                </c:manualLayout>
              </c:layout>
              <c:showLegendKey val="0"/>
              <c:showVal val="1"/>
              <c:showCatName val="1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C9CE-A746-8970-2B5B4894A007}"/>
                </c:ext>
              </c:extLst>
            </c:dLbl>
            <c:spPr>
              <a:solidFill>
                <a:prstClr val="white"/>
              </a:solidFill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600" b="1" i="0" u="none" strike="noStrike" kern="1200" baseline="0">
                    <a:solidFill>
                      <a:schemeClr val="dk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defRPr>
                </a:pPr>
                <a:endParaRPr lang="hu-HU"/>
              </a:p>
            </c:txPr>
            <c:showLegendKey val="0"/>
            <c:showVal val="1"/>
            <c:showCatName val="1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Dohányzás</c:v>
                </c:pt>
                <c:pt idx="1">
                  <c:v>Mozgás, diéta</c:v>
                </c:pt>
                <c:pt idx="2">
                  <c:v>GLP1+SGLT2</c:v>
                </c:pt>
                <c:pt idx="3">
                  <c:v>Statin</c:v>
                </c:pt>
                <c:pt idx="4">
                  <c:v>&lt;130 Hgmm</c:v>
                </c:pt>
                <c:pt idx="5">
                  <c:v>&lt;140 Hgmm</c:v>
                </c:pt>
                <c:pt idx="6">
                  <c:v>HbA1c &lt;7%</c:v>
                </c:pt>
              </c:strCache>
            </c:strRef>
          </c:cat>
          <c:val>
            <c:numRef>
              <c:f>Sheet1!$B$2:$B$8</c:f>
              <c:numCache>
                <c:formatCode>0.0%</c:formatCode>
                <c:ptCount val="7"/>
                <c:pt idx="0">
                  <c:v>8.8999999999999996E-2</c:v>
                </c:pt>
                <c:pt idx="1">
                  <c:v>5.8999999999999997E-2</c:v>
                </c:pt>
                <c:pt idx="2">
                  <c:v>4.9000000000000002E-2</c:v>
                </c:pt>
                <c:pt idx="3">
                  <c:v>7.1999999999999995E-2</c:v>
                </c:pt>
                <c:pt idx="4">
                  <c:v>0.08</c:v>
                </c:pt>
                <c:pt idx="5">
                  <c:v>4.2999999999999997E-2</c:v>
                </c:pt>
                <c:pt idx="6">
                  <c:v>6.0000000000000001E-3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9CE-A746-8970-2B5B4894A00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702177728"/>
        <c:axId val="1702173248"/>
      </c:barChart>
      <c:catAx>
        <c:axId val="1702177728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1702173248"/>
        <c:crosses val="autoZero"/>
        <c:auto val="1"/>
        <c:lblAlgn val="ctr"/>
        <c:lblOffset val="100"/>
        <c:noMultiLvlLbl val="0"/>
      </c:catAx>
      <c:valAx>
        <c:axId val="1702173248"/>
        <c:scaling>
          <c:orientation val="minMax"/>
        </c:scaling>
        <c:delete val="1"/>
        <c:axPos val="l"/>
        <c:numFmt formatCode="0.0%" sourceLinked="1"/>
        <c:majorTickMark val="none"/>
        <c:minorTickMark val="none"/>
        <c:tickLblPos val="nextTo"/>
        <c:crossAx val="170217772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gradFill flip="none" rotWithShape="1">
      <a:gsLst>
        <a:gs pos="0">
          <a:schemeClr val="dk1">
            <a:lumMod val="65000"/>
            <a:lumOff val="35000"/>
          </a:schemeClr>
        </a:gs>
        <a:gs pos="100000">
          <a:schemeClr val="dk1">
            <a:lumMod val="85000"/>
            <a:lumOff val="15000"/>
          </a:schemeClr>
        </a:gs>
      </a:gsLst>
      <a:path path="circle">
        <a:fillToRect l="50000" t="50000" r="50000" b="50000"/>
      </a:path>
      <a:tileRect/>
    </a:gradFill>
    <a:ln>
      <a:noFill/>
    </a:ln>
    <a:effectLst/>
  </c:spPr>
  <c:txPr>
    <a:bodyPr/>
    <a:lstStyle/>
    <a:p>
      <a:pPr>
        <a:defRPr/>
      </a:pPr>
      <a:endParaRPr lang="hu-H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hu-H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128" b="1" i="0" u="none" strike="noStrike" kern="1200" spc="100" baseline="0">
                <a:solidFill>
                  <a:schemeClr val="lt1">
                    <a:lumMod val="95000"/>
                  </a:schemeClr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+mn-lt"/>
                <a:ea typeface="+mn-ea"/>
                <a:cs typeface="+mn-cs"/>
              </a:defRPr>
            </a:pPr>
            <a:r>
              <a:rPr lang="en-GB" b="0" i="0" dirty="0">
                <a:latin typeface="Arial" panose="020B0604020202020204" pitchFamily="34" charset="0"/>
              </a:rPr>
              <a:t>10 </a:t>
            </a:r>
            <a:r>
              <a:rPr lang="en-GB" b="0" i="0" dirty="0" err="1">
                <a:latin typeface="Arial" panose="020B0604020202020204" pitchFamily="34" charset="0"/>
              </a:rPr>
              <a:t>éves</a:t>
            </a:r>
            <a:r>
              <a:rPr lang="en-GB" b="0" i="0" dirty="0">
                <a:latin typeface="Arial" panose="020B0604020202020204" pitchFamily="34" charset="0"/>
              </a:rPr>
              <a:t> CV </a:t>
            </a:r>
            <a:r>
              <a:rPr lang="en-GB" b="0" i="0" dirty="0" err="1">
                <a:latin typeface="Arial" panose="020B0604020202020204" pitchFamily="34" charset="0"/>
              </a:rPr>
              <a:t>rizikó</a:t>
            </a:r>
            <a:r>
              <a:rPr lang="en-GB" b="0" i="0" baseline="0" dirty="0">
                <a:latin typeface="Arial" panose="020B0604020202020204" pitchFamily="34" charset="0"/>
              </a:rPr>
              <a:t> </a:t>
            </a:r>
            <a:r>
              <a:rPr lang="en-GB" b="0" i="0" dirty="0" err="1">
                <a:latin typeface="Arial" panose="020B0604020202020204" pitchFamily="34" charset="0"/>
              </a:rPr>
              <a:t>csökkentése</a:t>
            </a:r>
            <a:endParaRPr lang="en-GB" b="0" i="0" dirty="0">
              <a:latin typeface="Arial" panose="020B0604020202020204" pitchFamily="34" charset="0"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128" b="1" i="0" u="none" strike="noStrike" kern="1200" spc="100" baseline="0">
              <a:solidFill>
                <a:schemeClr val="lt1">
                  <a:lumMod val="95000"/>
                </a:schemeClr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  <a:latin typeface="+mn-lt"/>
              <a:ea typeface="+mn-ea"/>
              <a:cs typeface="+mn-cs"/>
            </a:defRPr>
          </a:pPr>
          <a:endParaRPr lang="en-GB"/>
        </a:p>
      </c:txPr>
    </c:title>
    <c:autoTitleDeleted val="0"/>
    <c:plotArea>
      <c:layout/>
      <c:barChart>
        <c:barDir val="col"/>
        <c:grouping val="clustered"/>
        <c:varyColors val="0"/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702177728"/>
        <c:axId val="1702173248"/>
      </c:barChart>
      <c:catAx>
        <c:axId val="1702177728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1702173248"/>
        <c:crosses val="autoZero"/>
        <c:auto val="1"/>
        <c:lblAlgn val="ctr"/>
        <c:lblOffset val="100"/>
        <c:noMultiLvlLbl val="0"/>
      </c:catAx>
      <c:valAx>
        <c:axId val="1702173248"/>
        <c:scaling>
          <c:orientation val="minMax"/>
        </c:scaling>
        <c:delete val="1"/>
        <c:axPos val="l"/>
        <c:numFmt formatCode="0.0%" sourceLinked="1"/>
        <c:majorTickMark val="none"/>
        <c:minorTickMark val="none"/>
        <c:tickLblPos val="nextTo"/>
        <c:crossAx val="170217772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gradFill flip="none" rotWithShape="1">
      <a:gsLst>
        <a:gs pos="0">
          <a:schemeClr val="dk1">
            <a:lumMod val="65000"/>
            <a:lumOff val="35000"/>
          </a:schemeClr>
        </a:gs>
        <a:gs pos="100000">
          <a:schemeClr val="dk1">
            <a:lumMod val="85000"/>
            <a:lumOff val="15000"/>
          </a:schemeClr>
        </a:gs>
      </a:gsLst>
      <a:path path="circle">
        <a:fillToRect l="50000" t="50000" r="50000" b="50000"/>
      </a:path>
      <a:tileRect/>
    </a:gradFill>
    <a:ln>
      <a:noFill/>
    </a:ln>
    <a:effectLst/>
  </c:spPr>
  <c:txPr>
    <a:bodyPr/>
    <a:lstStyle/>
    <a:p>
      <a:pPr>
        <a:defRPr/>
      </a:pPr>
      <a:endParaRPr lang="hu-H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304">
  <cs:axisTitle>
    <cs:lnRef idx="0"/>
    <cs:fillRef idx="0"/>
    <cs:effectRef idx="0"/>
    <cs:fontRef idx="minor">
      <a:schemeClr val="lt1">
        <a:lumMod val="85000"/>
      </a:schemeClr>
    </cs:fontRef>
    <cs:defRPr sz="1197" b="1" kern="1200" cap="all"/>
  </cs:axisTitle>
  <cs:categoryAxis>
    <cs:lnRef idx="0"/>
    <cs:fillRef idx="0"/>
    <cs:effectRef idx="0"/>
    <cs:fontRef idx="minor">
      <a:schemeClr val="lt1">
        <a:lumMod val="85000"/>
      </a:schemeClr>
    </cs:fontRef>
    <cs:spPr>
      <a:ln w="12700" cap="flat" cmpd="sng" algn="ctr">
        <a:solidFill>
          <a:schemeClr val="lt1">
            <a:lumMod val="95000"/>
            <a:alpha val="54000"/>
          </a:schemeClr>
        </a:solidFill>
        <a:round/>
      </a:ln>
    </cs:spPr>
    <cs:defRPr sz="1197" kern="1200"/>
  </cs:categoryAxis>
  <cs:chartArea>
    <cs:lnRef idx="0"/>
    <cs:fillRef idx="0"/>
    <cs:effectRef idx="0"/>
    <cs:fontRef idx="minor">
      <a:schemeClr val="dk1"/>
    </cs:fontRef>
    <cs:spPr>
      <a:gradFill flip="none" rotWithShape="1">
        <a:gsLst>
          <a:gs pos="0">
            <a:schemeClr val="dk1">
              <a:lumMod val="65000"/>
              <a:lumOff val="35000"/>
            </a:schemeClr>
          </a:gs>
          <a:gs pos="100000">
            <a:schemeClr val="dk1">
              <a:lumMod val="85000"/>
              <a:lumOff val="15000"/>
            </a:schemeClr>
          </a:gs>
        </a:gsLst>
        <a:path path="circle">
          <a:fillToRect l="50000" t="50000" r="50000" b="50000"/>
        </a:path>
        <a:tileRect/>
      </a:gradFill>
    </cs:spPr>
    <cs:defRPr sz="1330" kern="1200"/>
  </cs:chartArea>
  <cs:dataLabel>
    <cs:lnRef idx="0"/>
    <cs:fillRef idx="0"/>
    <cs:effectRef idx="0"/>
    <cs:fontRef idx="minor">
      <a:schemeClr val="lt1">
        <a:lumMod val="8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tx1"/>
    </cs:fontRef>
  </cs:dataPoint>
  <cs:dataPoint3D>
    <cs:lnRef idx="0"/>
    <cs:fillRef idx="3">
      <cs:styleClr val="auto"/>
    </cs:fillRef>
    <cs:effectRef idx="3"/>
    <cs:fontRef idx="minor">
      <a:schemeClr val="tx1"/>
    </cs:fontRef>
  </cs:dataPoint3D>
  <cs:dataPointLine>
    <cs:lnRef idx="0">
      <cs:styleClr val="auto"/>
    </cs:lnRef>
    <cs:fillRef idx="3"/>
    <cs:effectRef idx="3"/>
    <cs:fontRef idx="minor">
      <a:schemeClr val="tx1"/>
    </cs:fontRef>
    <cs:spPr>
      <a:ln w="349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tx1"/>
    </cs:fontRef>
    <cs:spPr>
      <a:ln w="9525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3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lt1">
        <a:lumMod val="85000"/>
      </a:schemeClr>
    </cs:fontRef>
    <cs:spPr>
      <a:ln w="9525">
        <a:solidFill>
          <a:schemeClr val="lt1">
            <a:lumMod val="95000"/>
            <a:alpha val="54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>
        <a:solidFill>
          <a:schemeClr val="lt1">
            <a:lumMod val="95000"/>
            <a:alpha val="54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>
        <a:solidFill>
          <a:schemeClr val="lt1">
            <a:lumMod val="95000"/>
            <a:alpha val="54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5000"/>
            <a:alpha val="10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>
        <a:solidFill>
          <a:schemeClr val="lt1">
            <a:lumMod val="95000"/>
            <a:alpha val="5000"/>
          </a:schemeClr>
        </a:solidFill>
      </a:ln>
    </cs:spPr>
  </cs:gridlineMinor>
  <cs:hiLoLine>
    <cs:lnRef idx="0"/>
    <cs:fillRef idx="0"/>
    <cs:effectRef idx="0"/>
    <cs:fontRef idx="minor">
      <a:schemeClr val="tx1"/>
    </cs:fontRef>
    <cs:spPr>
      <a:ln w="9525">
        <a:solidFill>
          <a:schemeClr val="lt1">
            <a:lumMod val="95000"/>
            <a:alpha val="54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tx1"/>
    </cs:fontRef>
    <cs:spPr>
      <a:ln w="9525">
        <a:solidFill>
          <a:schemeClr val="lt1">
            <a:lumMod val="95000"/>
            <a:alpha val="54000"/>
          </a:schemeClr>
        </a:solidFill>
      </a:ln>
    </cs:spPr>
  </cs:leaderLine>
  <cs:legend>
    <cs:lnRef idx="0"/>
    <cs:fillRef idx="0"/>
    <cs:effectRef idx="0"/>
    <cs:fontRef idx="minor">
      <a:schemeClr val="lt1">
        <a:lumMod val="85000"/>
      </a:schemeClr>
    </cs:fontRef>
    <cs:defRPr sz="1197" kern="1200"/>
  </cs:legend>
  <cs:plotArea>
    <cs:lnRef idx="0"/>
    <cs:fillRef idx="0"/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lt1">
        <a:lumMod val="85000"/>
      </a:schemeClr>
    </cs:fontRef>
    <cs:spPr>
      <a:ln w="12700" cap="flat" cmpd="sng" algn="ctr">
        <a:solidFill>
          <a:schemeClr val="lt1">
            <a:lumMod val="95000"/>
            <a:alpha val="54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lt1"/>
    </cs:fontRef>
    <cs:spPr>
      <a:ln w="9525" cap="flat" cmpd="sng" algn="ctr">
        <a:solidFill>
          <a:schemeClr val="lt1">
            <a:lumMod val="95000"/>
            <a:alpha val="54000"/>
          </a:schemeClr>
        </a:solidFill>
        <a:round/>
      </a:ln>
    </cs:spPr>
  </cs:seriesLine>
  <cs:title>
    <cs:lnRef idx="0"/>
    <cs:fillRef idx="0"/>
    <cs:effectRef idx="0"/>
    <cs:fontRef idx="minor">
      <a:schemeClr val="lt1">
        <a:lumMod val="95000"/>
      </a:schemeClr>
    </cs:fontRef>
    <cs:defRPr sz="2128" b="1" kern="1200" spc="100" baseline="0">
      <a:effectLst>
        <a:outerShdw blurRad="50800" dist="38100" dir="5400000" algn="t" rotWithShape="0">
          <a:prstClr val="black">
            <a:alpha val="40000"/>
          </a:prstClr>
        </a:outerShdw>
      </a:effectLst>
    </cs:defRPr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lt1">
        <a:lumMod val="8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>
        <a:solidFill>
          <a:schemeClr val="lt1">
            <a:lumMod val="95000"/>
            <a:alpha val="54000"/>
          </a:schemeClr>
        </a:solidFill>
      </a:ln>
    </cs:spPr>
  </cs:upBar>
  <cs:valueAxis>
    <cs:lnRef idx="0"/>
    <cs:fillRef idx="0"/>
    <cs:effectRef idx="0"/>
    <cs:fontRef idx="minor">
      <a:schemeClr val="lt1">
        <a:lumMod val="85000"/>
      </a:schemeClr>
    </cs:fontRef>
    <cs:defRPr sz="1197" kern="1200"/>
  </cs:valueAxis>
  <cs:wall>
    <cs:lnRef idx="0"/>
    <cs:fillRef idx="0"/>
    <cs:effectRef idx="0"/>
    <cs:fontRef idx="minor">
      <a:schemeClr val="tx1"/>
    </cs:fontRef>
  </cs:wall>
</cs:chartStyle>
</file>

<file path=ppt/charts/style2.xml><?xml version="1.0" encoding="utf-8"?>
<cs:chartStyle xmlns:cs="http://schemas.microsoft.com/office/drawing/2012/chartStyle" xmlns:a="http://schemas.openxmlformats.org/drawingml/2006/main" id="304">
  <cs:axisTitle>
    <cs:lnRef idx="0"/>
    <cs:fillRef idx="0"/>
    <cs:effectRef idx="0"/>
    <cs:fontRef idx="minor">
      <a:schemeClr val="lt1">
        <a:lumMod val="85000"/>
      </a:schemeClr>
    </cs:fontRef>
    <cs:defRPr sz="1197" b="1" kern="1200" cap="all"/>
  </cs:axisTitle>
  <cs:categoryAxis>
    <cs:lnRef idx="0"/>
    <cs:fillRef idx="0"/>
    <cs:effectRef idx="0"/>
    <cs:fontRef idx="minor">
      <a:schemeClr val="lt1">
        <a:lumMod val="85000"/>
      </a:schemeClr>
    </cs:fontRef>
    <cs:spPr>
      <a:ln w="12700" cap="flat" cmpd="sng" algn="ctr">
        <a:solidFill>
          <a:schemeClr val="lt1">
            <a:lumMod val="95000"/>
            <a:alpha val="54000"/>
          </a:schemeClr>
        </a:solidFill>
        <a:round/>
      </a:ln>
    </cs:spPr>
    <cs:defRPr sz="1197" kern="1200"/>
  </cs:categoryAxis>
  <cs:chartArea>
    <cs:lnRef idx="0"/>
    <cs:fillRef idx="0"/>
    <cs:effectRef idx="0"/>
    <cs:fontRef idx="minor">
      <a:schemeClr val="dk1"/>
    </cs:fontRef>
    <cs:spPr>
      <a:gradFill flip="none" rotWithShape="1">
        <a:gsLst>
          <a:gs pos="0">
            <a:schemeClr val="dk1">
              <a:lumMod val="65000"/>
              <a:lumOff val="35000"/>
            </a:schemeClr>
          </a:gs>
          <a:gs pos="100000">
            <a:schemeClr val="dk1">
              <a:lumMod val="85000"/>
              <a:lumOff val="15000"/>
            </a:schemeClr>
          </a:gs>
        </a:gsLst>
        <a:path path="circle">
          <a:fillToRect l="50000" t="50000" r="50000" b="50000"/>
        </a:path>
        <a:tileRect/>
      </a:gradFill>
    </cs:spPr>
    <cs:defRPr sz="1330" kern="1200"/>
  </cs:chartArea>
  <cs:dataLabel>
    <cs:lnRef idx="0"/>
    <cs:fillRef idx="0"/>
    <cs:effectRef idx="0"/>
    <cs:fontRef idx="minor">
      <a:schemeClr val="lt1">
        <a:lumMod val="8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tx1"/>
    </cs:fontRef>
  </cs:dataPoint>
  <cs:dataPoint3D>
    <cs:lnRef idx="0"/>
    <cs:fillRef idx="3">
      <cs:styleClr val="auto"/>
    </cs:fillRef>
    <cs:effectRef idx="3"/>
    <cs:fontRef idx="minor">
      <a:schemeClr val="tx1"/>
    </cs:fontRef>
  </cs:dataPoint3D>
  <cs:dataPointLine>
    <cs:lnRef idx="0">
      <cs:styleClr val="auto"/>
    </cs:lnRef>
    <cs:fillRef idx="3"/>
    <cs:effectRef idx="3"/>
    <cs:fontRef idx="minor">
      <a:schemeClr val="tx1"/>
    </cs:fontRef>
    <cs:spPr>
      <a:ln w="349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tx1"/>
    </cs:fontRef>
    <cs:spPr>
      <a:ln w="9525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3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lt1">
        <a:lumMod val="85000"/>
      </a:schemeClr>
    </cs:fontRef>
    <cs:spPr>
      <a:ln w="9525">
        <a:solidFill>
          <a:schemeClr val="lt1">
            <a:lumMod val="95000"/>
            <a:alpha val="54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>
        <a:solidFill>
          <a:schemeClr val="lt1">
            <a:lumMod val="95000"/>
            <a:alpha val="54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>
        <a:solidFill>
          <a:schemeClr val="lt1">
            <a:lumMod val="95000"/>
            <a:alpha val="54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5000"/>
            <a:alpha val="10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>
        <a:solidFill>
          <a:schemeClr val="lt1">
            <a:lumMod val="95000"/>
            <a:alpha val="5000"/>
          </a:schemeClr>
        </a:solidFill>
      </a:ln>
    </cs:spPr>
  </cs:gridlineMinor>
  <cs:hiLoLine>
    <cs:lnRef idx="0"/>
    <cs:fillRef idx="0"/>
    <cs:effectRef idx="0"/>
    <cs:fontRef idx="minor">
      <a:schemeClr val="tx1"/>
    </cs:fontRef>
    <cs:spPr>
      <a:ln w="9525">
        <a:solidFill>
          <a:schemeClr val="lt1">
            <a:lumMod val="95000"/>
            <a:alpha val="54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tx1"/>
    </cs:fontRef>
    <cs:spPr>
      <a:ln w="9525">
        <a:solidFill>
          <a:schemeClr val="lt1">
            <a:lumMod val="95000"/>
            <a:alpha val="54000"/>
          </a:schemeClr>
        </a:solidFill>
      </a:ln>
    </cs:spPr>
  </cs:leaderLine>
  <cs:legend>
    <cs:lnRef idx="0"/>
    <cs:fillRef idx="0"/>
    <cs:effectRef idx="0"/>
    <cs:fontRef idx="minor">
      <a:schemeClr val="lt1">
        <a:lumMod val="85000"/>
      </a:schemeClr>
    </cs:fontRef>
    <cs:defRPr sz="1197" kern="1200"/>
  </cs:legend>
  <cs:plotArea>
    <cs:lnRef idx="0"/>
    <cs:fillRef idx="0"/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lt1">
        <a:lumMod val="85000"/>
      </a:schemeClr>
    </cs:fontRef>
    <cs:spPr>
      <a:ln w="12700" cap="flat" cmpd="sng" algn="ctr">
        <a:solidFill>
          <a:schemeClr val="lt1">
            <a:lumMod val="95000"/>
            <a:alpha val="54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lt1"/>
    </cs:fontRef>
    <cs:spPr>
      <a:ln w="9525" cap="flat" cmpd="sng" algn="ctr">
        <a:solidFill>
          <a:schemeClr val="lt1">
            <a:lumMod val="95000"/>
            <a:alpha val="54000"/>
          </a:schemeClr>
        </a:solidFill>
        <a:round/>
      </a:ln>
    </cs:spPr>
  </cs:seriesLine>
  <cs:title>
    <cs:lnRef idx="0"/>
    <cs:fillRef idx="0"/>
    <cs:effectRef idx="0"/>
    <cs:fontRef idx="minor">
      <a:schemeClr val="lt1">
        <a:lumMod val="95000"/>
      </a:schemeClr>
    </cs:fontRef>
    <cs:defRPr sz="2128" b="1" kern="1200" spc="100" baseline="0">
      <a:effectLst>
        <a:outerShdw blurRad="50800" dist="38100" dir="5400000" algn="t" rotWithShape="0">
          <a:prstClr val="black">
            <a:alpha val="40000"/>
          </a:prstClr>
        </a:outerShdw>
      </a:effectLst>
    </cs:defRPr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lt1">
        <a:lumMod val="8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>
        <a:solidFill>
          <a:schemeClr val="lt1">
            <a:lumMod val="95000"/>
            <a:alpha val="54000"/>
          </a:schemeClr>
        </a:solidFill>
      </a:ln>
    </cs:spPr>
  </cs:upBar>
  <cs:valueAxis>
    <cs:lnRef idx="0"/>
    <cs:fillRef idx="0"/>
    <cs:effectRef idx="0"/>
    <cs:fontRef idx="minor">
      <a:schemeClr val="lt1">
        <a:lumMod val="85000"/>
      </a:schemeClr>
    </cs:fontRef>
    <cs:defRPr sz="1197" kern="1200"/>
  </cs:valueAxis>
  <cs:wall>
    <cs:lnRef idx="0"/>
    <cs:fillRef idx="0"/>
    <cs:effectRef idx="0"/>
    <cs:fontRef idx="minor">
      <a:schemeClr val="tx1"/>
    </cs:fontRef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Arial" panose="020B0604020202020204" pitchFamily="34" charset="0"/>
              </a:defRPr>
            </a:lvl1pPr>
          </a:lstStyle>
          <a:p>
            <a:endParaRPr lang="en-HU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Arial" panose="020B0604020202020204" pitchFamily="34" charset="0"/>
              </a:defRPr>
            </a:lvl1pPr>
          </a:lstStyle>
          <a:p>
            <a:fld id="{0796F9C8-BBD8-8342-8474-987E188FEFB2}" type="datetimeFigureOut">
              <a:rPr lang="en-HU" smtClean="0"/>
              <a:pPr/>
              <a:t>9/23/26</a:t>
            </a:fld>
            <a:endParaRPr lang="en-HU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HU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Arial" panose="020B0604020202020204" pitchFamily="34" charset="0"/>
              </a:defRPr>
            </a:lvl1pPr>
          </a:lstStyle>
          <a:p>
            <a:endParaRPr lang="en-H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Arial" panose="020B0604020202020204" pitchFamily="34" charset="0"/>
              </a:defRPr>
            </a:lvl1pPr>
          </a:lstStyle>
          <a:p>
            <a:fld id="{06677AFD-810C-2A43-920D-66B65E4B4F80}" type="slidenum">
              <a:rPr lang="en-HU" smtClean="0"/>
              <a:pPr/>
              <a:t>‹#›</a:t>
            </a:fld>
            <a:endParaRPr lang="en-HU" dirty="0"/>
          </a:p>
        </p:txBody>
      </p:sp>
    </p:spTree>
    <p:extLst>
      <p:ext uri="{BB962C8B-B14F-4D97-AF65-F5344CB8AC3E}">
        <p14:creationId xmlns:p14="http://schemas.microsoft.com/office/powerpoint/2010/main" val="15522388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b="0" i="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33754042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64DDE1-5B06-6E89-B4D1-E06313C184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803AFE-1A87-0BE6-2C6A-31A8B0C583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D39FC3-4BD9-234C-D488-50310AE7AB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42312386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677AFD-810C-2A43-920D-66B65E4B4F80}" type="slidenum">
              <a:rPr lang="en-HU" smtClean="0"/>
              <a:pPr/>
              <a:t>24</a:t>
            </a:fld>
            <a:endParaRPr lang="en-HU" dirty="0"/>
          </a:p>
        </p:txBody>
      </p:sp>
    </p:spTree>
    <p:extLst>
      <p:ext uri="{BB962C8B-B14F-4D97-AF65-F5344CB8AC3E}">
        <p14:creationId xmlns:p14="http://schemas.microsoft.com/office/powerpoint/2010/main" val="129748094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7D4001-747A-4E5A-766C-BEF35AA307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>
            <a:extLst>
              <a:ext uri="{FF2B5EF4-FFF2-40B4-BE49-F238E27FC236}">
                <a16:creationId xmlns:a16="http://schemas.microsoft.com/office/drawing/2014/main" id="{9D54D6C7-553A-DB13-4A7A-2157C7DE58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>
            <a:extLst>
              <a:ext uri="{FF2B5EF4-FFF2-40B4-BE49-F238E27FC236}">
                <a16:creationId xmlns:a16="http://schemas.microsoft.com/office/drawing/2014/main" id="{E0996D38-0F3C-1A02-F15F-B8500EE41A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8040B682-03CD-D74C-DC5F-6BC415CCC1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677AFD-810C-2A43-920D-66B65E4B4F80}" type="slidenum">
              <a:rPr lang="en-HU" smtClean="0"/>
              <a:pPr/>
              <a:t>25</a:t>
            </a:fld>
            <a:endParaRPr lang="en-HU" dirty="0"/>
          </a:p>
        </p:txBody>
      </p:sp>
    </p:spTree>
    <p:extLst>
      <p:ext uri="{BB962C8B-B14F-4D97-AF65-F5344CB8AC3E}">
        <p14:creationId xmlns:p14="http://schemas.microsoft.com/office/powerpoint/2010/main" val="351412324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9C4EEF-FF1B-F416-DD12-5EC9760B6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>
            <a:extLst>
              <a:ext uri="{FF2B5EF4-FFF2-40B4-BE49-F238E27FC236}">
                <a16:creationId xmlns:a16="http://schemas.microsoft.com/office/drawing/2014/main" id="{1BCBFB0C-B2C6-1DB3-2AE7-736792AC11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>
            <a:extLst>
              <a:ext uri="{FF2B5EF4-FFF2-40B4-BE49-F238E27FC236}">
                <a16:creationId xmlns:a16="http://schemas.microsoft.com/office/drawing/2014/main" id="{628B5550-1A55-2A91-CD95-2A04113727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128E0247-4FC4-B4D5-392A-0C095CB9A4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677AFD-810C-2A43-920D-66B65E4B4F80}" type="slidenum">
              <a:rPr lang="en-HU" smtClean="0"/>
              <a:pPr/>
              <a:t>26</a:t>
            </a:fld>
            <a:endParaRPr lang="en-HU" dirty="0"/>
          </a:p>
        </p:txBody>
      </p:sp>
    </p:spTree>
    <p:extLst>
      <p:ext uri="{BB962C8B-B14F-4D97-AF65-F5344CB8AC3E}">
        <p14:creationId xmlns:p14="http://schemas.microsoft.com/office/powerpoint/2010/main" val="408330416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20EE6A-F242-A406-3681-68F624B0B1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>
            <a:extLst>
              <a:ext uri="{FF2B5EF4-FFF2-40B4-BE49-F238E27FC236}">
                <a16:creationId xmlns:a16="http://schemas.microsoft.com/office/drawing/2014/main" id="{C561B37D-01BA-10A2-2AD8-DBE01D241C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>
            <a:extLst>
              <a:ext uri="{FF2B5EF4-FFF2-40B4-BE49-F238E27FC236}">
                <a16:creationId xmlns:a16="http://schemas.microsoft.com/office/drawing/2014/main" id="{8B06A6CD-6215-CA57-77B9-3767A23627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826F7138-AC9F-1BE3-B343-772BCBBF7E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677AFD-810C-2A43-920D-66B65E4B4F80}" type="slidenum">
              <a:rPr lang="en-HU" smtClean="0"/>
              <a:pPr/>
              <a:t>27</a:t>
            </a:fld>
            <a:endParaRPr lang="en-HU" dirty="0"/>
          </a:p>
        </p:txBody>
      </p:sp>
    </p:spTree>
    <p:extLst>
      <p:ext uri="{BB962C8B-B14F-4D97-AF65-F5344CB8AC3E}">
        <p14:creationId xmlns:p14="http://schemas.microsoft.com/office/powerpoint/2010/main" val="14641181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26A0CC-9287-5A21-F7CE-3A94FFA6E9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BC73468-85AA-2E6C-BEF7-3777D60424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H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FB2F02-863D-F114-CF10-4404006BA7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6FDC9-B09F-C347-BBB0-E5614BC97474}" type="datetimeFigureOut">
              <a:t>2026. 09. 23.</a:t>
            </a:fld>
            <a:endParaRPr lang="en-H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87EB99-C86A-6E7A-88E0-01F5ADA18B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46C683-313F-9B63-AD7F-DCA4102FD6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CEF26D-9819-7B49-80A7-6271FE50AAF6}" type="slidenum"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386293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3EA7BC-1CCF-F4BE-79D6-BB8AEC2461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F2E0AC-EAA7-A59E-28BB-F9C11F182B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44167F-749C-60EE-5039-2749B4CC08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6FDC9-B09F-C347-BBB0-E5614BC97474}" type="datetimeFigureOut">
              <a:t>2026. 09. 23.</a:t>
            </a:fld>
            <a:endParaRPr lang="en-H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333F7E-7F59-C0BC-88FD-C377C8D556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A7D91C-37A7-2614-F245-4B2949973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CEF26D-9819-7B49-80A7-6271FE50AAF6}" type="slidenum"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14283946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1D66B4-E495-90D0-5587-29730EBD80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20D965-F7AE-A1FD-013B-5055A726A8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AEADF4-07B7-02DC-18F0-3BCE8D2AAC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6FDC9-B09F-C347-BBB0-E5614BC97474}" type="datetimeFigureOut">
              <a:t>2026. 09. 23.</a:t>
            </a:fld>
            <a:endParaRPr lang="en-H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C29BA1-3CF6-7C97-FC7A-090E949DCF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B6417A-2454-FEC5-E56A-3A6C5FB62D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CEF26D-9819-7B49-80A7-6271FE50AAF6}" type="slidenum"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9867407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1DACB2-F785-1AAA-F2DA-33DF48ECB3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0BBC34-D34C-DC2D-A2DB-8AF0D9EBC1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D6B260-3A7E-EA1E-4D7D-B8F8FC84C7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47881B-FBF5-4464-3E5E-54EAFF89BA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6FDC9-B09F-C347-BBB0-E5614BC97474}" type="datetimeFigureOut">
              <a:t>2026. 09. 23.</a:t>
            </a:fld>
            <a:endParaRPr lang="en-H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B64E23-5B69-53D2-E125-025D1E8052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5DCC186-BC4A-1AFE-6CC7-389C865248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CEF26D-9819-7B49-80A7-6271FE50AAF6}" type="slidenum"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41374172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037B3C-4D2C-8F0F-4409-F0C4D1CF1B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70F43C-F805-820C-37F9-CD5EA53182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933DC28-5AAB-FD2D-4F70-D6FEDC4EC2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267225B-C434-DAF9-2023-9E31A69D9C6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43BBBF4-4D60-DDAF-A128-F7ED65EFFA0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6255A57-430B-A01D-151A-94A613B76F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6FDC9-B09F-C347-BBB0-E5614BC97474}" type="datetimeFigureOut">
              <a:t>2026. 09. 23.</a:t>
            </a:fld>
            <a:endParaRPr lang="en-H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52F9EB8-EA31-43AE-BD2D-FC562E38F5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F6ED0D6-B9AF-45C9-BF1C-44E4F701FB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CEF26D-9819-7B49-80A7-6271FE50AAF6}" type="slidenum"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6050733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4F1A72-4A41-466D-837A-8852F09D9E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DA0FD61-641A-AC8F-D533-12CE2A2F13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6FDC9-B09F-C347-BBB0-E5614BC97474}" type="datetimeFigureOut">
              <a:t>2026. 09. 23.</a:t>
            </a:fld>
            <a:endParaRPr lang="en-H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BE0B19B-093F-7281-5029-3929D9CDB5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D01EF57-0185-2CC5-A18A-14DA05CC35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CEF26D-9819-7B49-80A7-6271FE50AAF6}" type="slidenum"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27670240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F02729-A986-A677-9817-F6A9001F2B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6FDC9-B09F-C347-BBB0-E5614BC97474}" type="datetimeFigureOut">
              <a:t>2026. 09. 23.</a:t>
            </a:fld>
            <a:endParaRPr lang="en-H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4F5EB4B-290A-6B05-7E2E-0A34F1653B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A76437-4632-B33F-E00A-B647A6B946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CEF26D-9819-7B49-80A7-6271FE50AAF6}" type="slidenum"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12653903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74C09E-11F9-B158-1437-62367F6089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E963B2-D346-82E2-F152-B57D688E0C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A6E7DB-F833-CC4E-B10F-012F8B9D849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9A7C6F1-8ED8-CF2A-F656-6E91A93FD3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6FDC9-B09F-C347-BBB0-E5614BC97474}" type="datetimeFigureOut">
              <a:t>2026. 09. 23.</a:t>
            </a:fld>
            <a:endParaRPr lang="en-H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DEDB14-3855-61E0-FB42-0221DF5A2F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EA29B6-C6FA-0E76-5C51-2B1035725E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CEF26D-9819-7B49-80A7-6271FE50AAF6}" type="slidenum"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40941356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8F0905-9DC1-4718-E905-A61027CCD0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CD768DB-56AF-B853-4A73-09318E52887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H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085BD43-529D-C758-F233-6D74E1FE8A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6A5DA5E-EED7-89A0-B829-5641844EB8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6FDC9-B09F-C347-BBB0-E5614BC97474}" type="datetimeFigureOut">
              <a:t>2026. 09. 23.</a:t>
            </a:fld>
            <a:endParaRPr lang="en-H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660D35-1C75-6231-BAAD-CF9653025F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1BF46F-807B-A6F7-26DB-C5B16A828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CEF26D-9819-7B49-80A7-6271FE50AAF6}" type="slidenum"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23668478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2B1EFC-10A5-F04A-1985-B85B13C15A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1C945C8-42B9-21B8-7ED7-5D35A38CB9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3E67F5-3DBF-4B78-EBF1-A34067A9BE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6FDC9-B09F-C347-BBB0-E5614BC97474}" type="datetimeFigureOut">
              <a:t>2026. 09. 23.</a:t>
            </a:fld>
            <a:endParaRPr lang="en-H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9096E9-8E8A-8132-E659-EDE1FA2DDD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B9DE57-69EB-C7D3-BF6E-D9BC98427F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CEF26D-9819-7B49-80A7-6271FE50AAF6}" type="slidenum"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14350898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65E9458-BA11-4D0A-3C9E-0718791BE29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H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B30E488-FF60-2694-DCF9-11AED84667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H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CD4666-7FA4-EE63-DA08-6EFD26E088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6FDC9-B09F-C347-BBB0-E5614BC97474}" type="datetimeFigureOut">
              <a:t>2026. 09. 23.</a:t>
            </a:fld>
            <a:endParaRPr lang="en-H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A51E87-50BB-E366-6B4F-D9E5F11A75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0CA437-A185-EE36-A3D6-76F65B973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CEF26D-9819-7B49-80A7-6271FE50AAF6}" type="slidenum">
              <a:t>‹#›</a:t>
            </a:fld>
            <a:endParaRPr lang="en-HU"/>
          </a:p>
        </p:txBody>
      </p:sp>
    </p:spTree>
    <p:extLst>
      <p:ext uri="{BB962C8B-B14F-4D97-AF65-F5344CB8AC3E}">
        <p14:creationId xmlns:p14="http://schemas.microsoft.com/office/powerpoint/2010/main" val="12406497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83A1D37-B238-A3D7-F472-5A4CBB0B7A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/>
              <a:t>Click to edit Master title style</a:t>
            </a:r>
            <a:endParaRPr lang="en-H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E98E75-1645-B9FB-76E3-10FDE6D23F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HU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96D2A-9B37-B446-A365-DA8243BAF5F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0" i="0">
                <a:solidFill>
                  <a:schemeClr val="tx1">
                    <a:tint val="82000"/>
                  </a:schemeClr>
                </a:solidFill>
                <a:latin typeface="Arial" panose="020B0604020202020204" pitchFamily="34" charset="0"/>
              </a:defRPr>
            </a:lvl1pPr>
          </a:lstStyle>
          <a:p>
            <a:fld id="{EA86FDC9-B09F-C347-BBB0-E5614BC97474}" type="datetimeFigureOut">
              <a:rPr lang="en-HU" smtClean="0"/>
              <a:pPr/>
              <a:t>9/23/26</a:t>
            </a:fld>
            <a:endParaRPr lang="en-H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80A3A1-77EA-9B43-10AA-D5E5DB0C1D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0" i="0">
                <a:solidFill>
                  <a:schemeClr val="tx1">
                    <a:tint val="82000"/>
                  </a:schemeClr>
                </a:solidFill>
                <a:latin typeface="Arial" panose="020B0604020202020204" pitchFamily="34" charset="0"/>
              </a:defRPr>
            </a:lvl1pPr>
          </a:lstStyle>
          <a:p>
            <a:endParaRPr lang="en-H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78210A-7FD7-DC82-AA4B-4FF0A7501DD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0" i="0">
                <a:solidFill>
                  <a:schemeClr val="tx1">
                    <a:tint val="82000"/>
                  </a:schemeClr>
                </a:solidFill>
                <a:latin typeface="Arial" panose="020B0604020202020204" pitchFamily="34" charset="0"/>
              </a:defRPr>
            </a:lvl1pPr>
          </a:lstStyle>
          <a:p>
            <a:fld id="{F4CEF26D-9819-7B49-80A7-6271FE50AAF6}" type="slidenum">
              <a:rPr lang="en-HU" smtClean="0"/>
              <a:pPr/>
              <a:t>‹#›</a:t>
            </a:fld>
            <a:endParaRPr lang="en-HU" dirty="0"/>
          </a:p>
        </p:txBody>
      </p:sp>
    </p:spTree>
    <p:extLst>
      <p:ext uri="{BB962C8B-B14F-4D97-AF65-F5344CB8AC3E}">
        <p14:creationId xmlns:p14="http://schemas.microsoft.com/office/powerpoint/2010/main" val="15167403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>
          <a:solidFill>
            <a:schemeClr val="tx1"/>
          </a:solidFill>
          <a:latin typeface="Arial" panose="020B060402020202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b="0" i="0" kern="120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Arial" panose="020B0604020202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4" Type="http://schemas.openxmlformats.org/officeDocument/2006/relationships/chart" Target="../charts/char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4" Type="http://schemas.openxmlformats.org/officeDocument/2006/relationships/chart" Target="../charts/char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EF3109-197C-8433-0BA4-FC2C2DE85C0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hu-HU" dirty="0"/>
              <a:t>Koleszterincsökkentés és s</a:t>
            </a:r>
            <a:r>
              <a:rPr lang="en-HU" dirty="0"/>
              <a:t>ztatinok helye a megelőzésben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5FDE7BE9-425F-DA82-5CF3-88ECC9DC54E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endParaRPr lang="hu-HU" dirty="0"/>
          </a:p>
          <a:p>
            <a:endParaRPr lang="hu-HU" dirty="0"/>
          </a:p>
          <a:p>
            <a:r>
              <a:rPr lang="hu-HU" dirty="0"/>
              <a:t>Dr. Iglói Gábor</a:t>
            </a:r>
            <a:br>
              <a:rPr lang="hu-HU" dirty="0"/>
            </a:br>
            <a:r>
              <a:rPr lang="hu-HU" dirty="0"/>
              <a:t>SZTE </a:t>
            </a:r>
            <a:r>
              <a:rPr lang="hu-HU" dirty="0" err="1"/>
              <a:t>Kardiometabolikus</a:t>
            </a:r>
            <a:r>
              <a:rPr lang="hu-HU" dirty="0"/>
              <a:t> Rehabilitációs Osztály</a:t>
            </a:r>
          </a:p>
        </p:txBody>
      </p:sp>
    </p:spTree>
    <p:extLst>
      <p:ext uri="{BB962C8B-B14F-4D97-AF65-F5344CB8AC3E}">
        <p14:creationId xmlns:p14="http://schemas.microsoft.com/office/powerpoint/2010/main" val="476796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EB16EBA-9932-8744-798C-B9ED20FC27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U" dirty="0"/>
              <a:t>Mik az orvostudomány által bizonyított hatások?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501414F-878F-9AB4-E14A-0CD39C6B14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HU" dirty="0"/>
              <a:t>az LDL-koleszterin az érelmeszesedés egyik </a:t>
            </a:r>
            <a:r>
              <a:rPr lang="en-HU" b="1" dirty="0"/>
              <a:t>oki tényezője</a:t>
            </a:r>
          </a:p>
          <a:p>
            <a:endParaRPr lang="en-HU" dirty="0"/>
          </a:p>
          <a:p>
            <a:r>
              <a:rPr lang="en-HU" dirty="0"/>
              <a:t>a sztatinok </a:t>
            </a:r>
            <a:r>
              <a:rPr lang="en-HU" b="1" dirty="0"/>
              <a:t>hatékony LDL-koleszterin csökkentők</a:t>
            </a:r>
          </a:p>
          <a:p>
            <a:endParaRPr lang="en-HU" dirty="0"/>
          </a:p>
          <a:p>
            <a:r>
              <a:rPr lang="hu-HU" dirty="0"/>
              <a:t>a </a:t>
            </a:r>
            <a:r>
              <a:rPr lang="hu-HU" dirty="0" err="1"/>
              <a:t>sztatinoknak</a:t>
            </a:r>
            <a:r>
              <a:rPr lang="hu-HU" dirty="0"/>
              <a:t> </a:t>
            </a:r>
            <a:r>
              <a:rPr lang="en-HU" b="1" dirty="0"/>
              <a:t>plakkstabilizáló hatás</a:t>
            </a:r>
            <a:r>
              <a:rPr lang="hu-HU" b="1" dirty="0"/>
              <a:t>a van</a:t>
            </a:r>
            <a:r>
              <a:rPr lang="en-HU" b="1" dirty="0"/>
              <a:t> </a:t>
            </a:r>
            <a:r>
              <a:rPr lang="en-HU" dirty="0"/>
              <a:t>- kevesebb a szívinfarktus, stroke és a kardiovaszkuláris halálozás</a:t>
            </a:r>
          </a:p>
          <a:p>
            <a:endParaRPr lang="en-HU" dirty="0"/>
          </a:p>
          <a:p>
            <a:r>
              <a:rPr lang="en-HU" dirty="0"/>
              <a:t>a sztatin terápiák </a:t>
            </a:r>
            <a:r>
              <a:rPr lang="en-HU" b="1" dirty="0"/>
              <a:t>előnyei sokszorosan meghaladják a kockázatot</a:t>
            </a:r>
            <a:r>
              <a:rPr lang="en-HU" dirty="0"/>
              <a:t>, a mellékhatások ritkák és </a:t>
            </a:r>
            <a:r>
              <a:rPr lang="hu-HU" dirty="0"/>
              <a:t>a legtöbb esetben </a:t>
            </a:r>
            <a:r>
              <a:rPr lang="en-HU" dirty="0"/>
              <a:t>nem visszafordíthatatlanok</a:t>
            </a:r>
          </a:p>
          <a:p>
            <a:endParaRPr lang="en-HU" dirty="0"/>
          </a:p>
          <a:p>
            <a:r>
              <a:rPr lang="en-HU" dirty="0"/>
              <a:t>a </a:t>
            </a:r>
            <a:r>
              <a:rPr lang="hu-HU" dirty="0"/>
              <a:t>betegek 50%-a elhagyja a </a:t>
            </a:r>
            <a:r>
              <a:rPr lang="hu-HU" dirty="0" err="1"/>
              <a:t>sztatinkezelést</a:t>
            </a:r>
            <a:r>
              <a:rPr lang="hu-HU" dirty="0"/>
              <a:t> 1 éven belül - </a:t>
            </a:r>
            <a:r>
              <a:rPr lang="en-HU" b="1" dirty="0"/>
              <a:t>az egyik legveszélyesebb betegmagatartás</a:t>
            </a:r>
          </a:p>
        </p:txBody>
      </p:sp>
    </p:spTree>
    <p:extLst>
      <p:ext uri="{BB962C8B-B14F-4D97-AF65-F5344CB8AC3E}">
        <p14:creationId xmlns:p14="http://schemas.microsoft.com/office/powerpoint/2010/main" val="8391181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1802EA-6F10-71B0-6ABB-469CEFE2B3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HU" dirty="0"/>
              <a:t>Mióta nem kérdés 2026-ban,</a:t>
            </a:r>
            <a:br>
              <a:rPr lang="en-HU" dirty="0"/>
            </a:br>
            <a:r>
              <a:rPr lang="en-HU" dirty="0"/>
              <a:t>hogy KELL a sztatin terápia?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AF8302-4F44-6BF2-42C4-9866E4C527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48719"/>
            <a:ext cx="10515600" cy="4444156"/>
          </a:xfrm>
        </p:spPr>
        <p:txBody>
          <a:bodyPr>
            <a:normAutofit fontScale="92500"/>
          </a:bodyPr>
          <a:lstStyle/>
          <a:p>
            <a:r>
              <a:rPr lang="en-HU" b="1" dirty="0"/>
              <a:t>szív-érrendszeri betegek</a:t>
            </a:r>
            <a:br>
              <a:rPr lang="hu-HU" b="1" dirty="0"/>
            </a:br>
            <a:r>
              <a:rPr lang="en-HU" dirty="0"/>
              <a:t>szívinfarktus</a:t>
            </a:r>
            <a:r>
              <a:rPr lang="hu-HU" dirty="0"/>
              <a:t>, </a:t>
            </a:r>
            <a:r>
              <a:rPr lang="en-HU" dirty="0"/>
              <a:t>stroke, </a:t>
            </a:r>
            <a:r>
              <a:rPr lang="hu-HU" dirty="0"/>
              <a:t>sebészi </a:t>
            </a:r>
            <a:r>
              <a:rPr lang="en-HU" dirty="0"/>
              <a:t>vagy katéteres érműtétek után	</a:t>
            </a:r>
            <a:r>
              <a:rPr lang="en-HU" b="1" dirty="0"/>
              <a:t>30 éve</a:t>
            </a:r>
            <a:endParaRPr lang="en-HU" dirty="0"/>
          </a:p>
          <a:p>
            <a:r>
              <a:rPr lang="en-GB" b="1" dirty="0"/>
              <a:t>d</a:t>
            </a:r>
            <a:r>
              <a:rPr lang="en-HU" b="1" dirty="0"/>
              <a:t>iabeteses betegek							23 éve</a:t>
            </a:r>
          </a:p>
          <a:p>
            <a:r>
              <a:rPr lang="en-HU" b="1" dirty="0"/>
              <a:t>veseelégtelen betegek </a:t>
            </a:r>
            <a:r>
              <a:rPr lang="en-HU" dirty="0"/>
              <a:t>– 3. stádiumtól			</a:t>
            </a:r>
            <a:r>
              <a:rPr lang="hu-HU" dirty="0"/>
              <a:t>	</a:t>
            </a:r>
            <a:r>
              <a:rPr lang="en-HU" b="1" dirty="0"/>
              <a:t>13 éve</a:t>
            </a:r>
          </a:p>
          <a:p>
            <a:endParaRPr lang="en-HU" dirty="0"/>
          </a:p>
          <a:p>
            <a:r>
              <a:rPr lang="en-HU" dirty="0"/>
              <a:t>magas vagy igen </a:t>
            </a:r>
            <a:r>
              <a:rPr lang="en-HU" b="1" dirty="0"/>
              <a:t>magas 10 éves szív- és érrendszeri betegségkockázat</a:t>
            </a:r>
            <a:r>
              <a:rPr lang="en-HU" dirty="0"/>
              <a:t> esetén						</a:t>
            </a:r>
            <a:r>
              <a:rPr lang="en-HU" b="1" dirty="0"/>
              <a:t>20 éve</a:t>
            </a:r>
          </a:p>
          <a:p>
            <a:endParaRPr lang="en-HU" dirty="0"/>
          </a:p>
          <a:p>
            <a:r>
              <a:rPr lang="en-HU" b="1" dirty="0"/>
              <a:t>igen magas LDL-koleszterin szint</a:t>
            </a:r>
            <a:r>
              <a:rPr lang="en-HU" dirty="0"/>
              <a:t> esetén rizikófaktorok nélkül is (&gt;4.9 mmol/L)							</a:t>
            </a:r>
            <a:r>
              <a:rPr lang="hu-HU" dirty="0"/>
              <a:t>	</a:t>
            </a:r>
            <a:r>
              <a:rPr lang="en-HU" b="1" dirty="0"/>
              <a:t>25 éve</a:t>
            </a:r>
          </a:p>
        </p:txBody>
      </p:sp>
    </p:spTree>
    <p:extLst>
      <p:ext uri="{BB962C8B-B14F-4D97-AF65-F5344CB8AC3E}">
        <p14:creationId xmlns:p14="http://schemas.microsoft.com/office/powerpoint/2010/main" val="31304318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7F5D790-A4D4-628A-1F32-C09EA17891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Mennyi lenne az optimális</a:t>
            </a:r>
            <a:br>
              <a:rPr lang="hu-HU" dirty="0"/>
            </a:br>
            <a:r>
              <a:rPr lang="hu-HU" dirty="0"/>
              <a:t>LDL-koleszterin szint?</a:t>
            </a:r>
          </a:p>
        </p:txBody>
      </p:sp>
      <p:graphicFrame>
        <p:nvGraphicFramePr>
          <p:cNvPr id="4" name="Tartalom helye 3">
            <a:extLst>
              <a:ext uri="{FF2B5EF4-FFF2-40B4-BE49-F238E27FC236}">
                <a16:creationId xmlns:a16="http://schemas.microsoft.com/office/drawing/2014/main" id="{F7FACB52-E304-E64C-46AD-17C52EAA643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49191424"/>
              </p:ext>
            </p:extLst>
          </p:nvPr>
        </p:nvGraphicFramePr>
        <p:xfrm>
          <a:off x="838200" y="1825625"/>
          <a:ext cx="10515600" cy="4328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375153293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632304714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368106513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41220211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hu-HU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O’Keefe</a:t>
                      </a:r>
                      <a:r>
                        <a:rPr lang="hu-H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és </a:t>
                      </a:r>
                      <a:r>
                        <a:rPr lang="hu-HU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mtsai</a:t>
                      </a:r>
                      <a:r>
                        <a:rPr lang="hu-H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(JACC, 2004)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hu-H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Kaplan és </a:t>
                      </a:r>
                      <a:r>
                        <a:rPr lang="hu-HU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mtsai</a:t>
                      </a:r>
                      <a:r>
                        <a:rPr lang="hu-H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(</a:t>
                      </a:r>
                      <a:r>
                        <a:rPr lang="hu-HU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Lancet</a:t>
                      </a:r>
                      <a:r>
                        <a:rPr lang="hu-H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 2017)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hu-HU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Eaton</a:t>
                      </a:r>
                      <a:r>
                        <a:rPr lang="hu-H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és </a:t>
                      </a:r>
                      <a:r>
                        <a:rPr lang="hu-HU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mtsai</a:t>
                      </a:r>
                      <a:br>
                        <a:rPr lang="hu-H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hu-H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(EJCN, 1997)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hu-H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Cohen és </a:t>
                      </a:r>
                      <a:r>
                        <a:rPr lang="hu-HU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mtsai</a:t>
                      </a:r>
                      <a:br>
                        <a:rPr lang="hu-H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hu-H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(NEJM, 2006)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77871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285750" indent="-285750">
                        <a:buFontTx/>
                        <a:buChar char="-"/>
                      </a:pPr>
                      <a:r>
                        <a:rPr lang="hu-HU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Újszülöttek </a:t>
                      </a:r>
                      <a:r>
                        <a:rPr lang="hu-HU" sz="1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1.3-1.8 </a:t>
                      </a:r>
                      <a:r>
                        <a:rPr lang="hu-HU" sz="1600" b="1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mmol</a:t>
                      </a:r>
                      <a:r>
                        <a:rPr lang="hu-HU" sz="1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/L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hu-HU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Főemlősök </a:t>
                      </a:r>
                      <a:r>
                        <a:rPr lang="hu-HU" sz="1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1-1.8 </a:t>
                      </a:r>
                      <a:r>
                        <a:rPr lang="hu-HU" sz="1600" b="1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mmol</a:t>
                      </a:r>
                      <a:r>
                        <a:rPr lang="hu-HU" sz="1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hu-HU" sz="16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Tsimane</a:t>
                      </a:r>
                      <a:r>
                        <a:rPr lang="hu-HU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törzs (Bolívia)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hu-HU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Átl.</a:t>
                      </a:r>
                      <a:r>
                        <a:rPr lang="hu-HU" sz="1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1.9 </a:t>
                      </a:r>
                      <a:r>
                        <a:rPr lang="hu-HU" sz="1600" b="1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mmol</a:t>
                      </a:r>
                      <a:r>
                        <a:rPr lang="hu-HU" sz="1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/L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hu-HU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Fiataloknál </a:t>
                      </a:r>
                      <a:r>
                        <a:rPr lang="hu-HU" sz="1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1.3 </a:t>
                      </a:r>
                      <a:r>
                        <a:rPr lang="hu-HU" sz="1600" b="1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mmol</a:t>
                      </a:r>
                      <a:r>
                        <a:rPr lang="hu-HU" sz="1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/L</a:t>
                      </a:r>
                      <a:r>
                        <a:rPr lang="hu-HU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alatt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hu-HU" sz="16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Hadza</a:t>
                      </a:r>
                      <a:r>
                        <a:rPr lang="hu-HU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törzs (Tanzánia)</a:t>
                      </a:r>
                      <a:br>
                        <a:rPr lang="hu-HU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hu-HU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San nép (Afrika)</a:t>
                      </a:r>
                    </a:p>
                    <a:p>
                      <a:r>
                        <a:rPr lang="hu-HU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 </a:t>
                      </a:r>
                      <a:r>
                        <a:rPr lang="hu-HU" sz="1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1.3 – 1.5 </a:t>
                      </a:r>
                      <a:r>
                        <a:rPr lang="hu-HU" sz="1600" b="1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mmol</a:t>
                      </a:r>
                      <a:r>
                        <a:rPr lang="hu-HU" sz="1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hu-HU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PCSK9 mutációval élő emberek vizsgálata</a:t>
                      </a:r>
                      <a:br>
                        <a:rPr lang="hu-HU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hu-HU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(máj LDL-receptorokat megsemmisítő fehérje)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38686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hu-HU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Az újszülöttek LDL-koleszterin szintje genetikailag kódolt, független az anya koleszterinszintjétől vagy etnikumától.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Tx/>
                        <a:buChar char="-"/>
                      </a:pPr>
                      <a:r>
                        <a:rPr lang="hu-HU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Vadászat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hu-HU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Halászat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hu-HU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Gyűjtögetés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hu-HU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Extrém magas fizikai aktivitás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hu-HU" sz="16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Tx/>
                        <a:buChar char="-"/>
                      </a:pPr>
                      <a:r>
                        <a:rPr lang="hu-HU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Rendkívül alacsony PCSK9 fehérjeszint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hu-HU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Májsejteken sok LDL-receptor marad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hu-HU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Az LDL koleszterin </a:t>
                      </a:r>
                      <a:r>
                        <a:rPr lang="hu-HU" sz="1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0.5-1 </a:t>
                      </a:r>
                      <a:r>
                        <a:rPr lang="hu-HU" sz="1600" b="1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mmol</a:t>
                      </a:r>
                      <a:r>
                        <a:rPr lang="hu-HU" sz="1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857755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hu-HU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 főemlősöknél az érelmeszesedés ismeretlen kórkép.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hu-HU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 világon a legalacsonyabb CV rizikójú populáció.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hu-HU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Szívinfarktus gyakorlatilag nem létezik náluk.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hu-HU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Egészségesek, nincs kognitív vagy hormonális probléma és a CV rizikó 88%-</a:t>
                      </a:r>
                      <a:r>
                        <a:rPr lang="hu-HU" sz="16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</a:t>
                      </a:r>
                      <a:r>
                        <a:rPr lang="hu-HU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alacsonyabb.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15937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3914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250C73-DF30-4B63-EFB4-39EB284DBC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DE46C8-791C-084E-2E99-AAD58B2D00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HU" dirty="0"/>
              <a:t>Milyen LDL-koleszterin</a:t>
            </a:r>
            <a:br>
              <a:rPr lang="en-HU" dirty="0"/>
            </a:br>
            <a:r>
              <a:rPr lang="en-HU" dirty="0"/>
              <a:t>célértéket (mmol/L) érjünk el?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A4AB09-5AC3-ECB1-D4A4-B69CF19C2C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48719"/>
            <a:ext cx="10515600" cy="4444156"/>
          </a:xfrm>
        </p:spPr>
        <p:txBody>
          <a:bodyPr>
            <a:normAutofit/>
          </a:bodyPr>
          <a:lstStyle/>
          <a:p>
            <a:r>
              <a:rPr lang="en-HU" b="1" dirty="0"/>
              <a:t>szív-érrendszeri betegek</a:t>
            </a:r>
            <a:r>
              <a:rPr lang="en-HU" dirty="0"/>
              <a:t>				</a:t>
            </a:r>
            <a:r>
              <a:rPr lang="en-HU" b="1" dirty="0"/>
              <a:t>1.4 alatt</a:t>
            </a:r>
            <a:br>
              <a:rPr lang="en-HU" dirty="0"/>
            </a:br>
            <a:r>
              <a:rPr lang="en-HU" dirty="0"/>
              <a:t>stroke-on átesettek					1.8 alatt</a:t>
            </a:r>
            <a:br>
              <a:rPr lang="en-HU" dirty="0"/>
            </a:br>
            <a:r>
              <a:rPr lang="en-HU" dirty="0"/>
              <a:t>ismétlődő koszorúér események			1 alatt</a:t>
            </a:r>
          </a:p>
          <a:p>
            <a:r>
              <a:rPr lang="en-GB" b="1" dirty="0"/>
              <a:t>d</a:t>
            </a:r>
            <a:r>
              <a:rPr lang="en-HU" b="1" dirty="0"/>
              <a:t>iabeteses betegek				</a:t>
            </a:r>
            <a:r>
              <a:rPr lang="en-HU" dirty="0"/>
              <a:t>első lépésben 2.6,</a:t>
            </a:r>
            <a:br>
              <a:rPr lang="en-HU" dirty="0"/>
            </a:br>
            <a:r>
              <a:rPr lang="en-HU" b="1" dirty="0"/>
              <a:t>								majd 1.8 alatt</a:t>
            </a:r>
          </a:p>
          <a:p>
            <a:r>
              <a:rPr lang="en-HU" b="1" dirty="0"/>
              <a:t>veseelégtelen betegek				1.8</a:t>
            </a:r>
            <a:r>
              <a:rPr lang="en-HU" dirty="0"/>
              <a:t>-1.4 alatt</a:t>
            </a:r>
          </a:p>
          <a:p>
            <a:r>
              <a:rPr lang="en-HU" dirty="0"/>
              <a:t>magas vagy igen </a:t>
            </a:r>
            <a:r>
              <a:rPr lang="en-HU" b="1" dirty="0"/>
              <a:t>magas 10 éves szív- és érrendszeri betegségkockázat</a:t>
            </a:r>
            <a:r>
              <a:rPr lang="en-HU" dirty="0"/>
              <a:t> esetén				</a:t>
            </a:r>
            <a:r>
              <a:rPr lang="en-HU" b="1" dirty="0"/>
              <a:t>legalább 1.8 alatt</a:t>
            </a:r>
          </a:p>
          <a:p>
            <a:r>
              <a:rPr lang="en-HU" b="1" dirty="0"/>
              <a:t>igen magas LDL-koleszterin szint</a:t>
            </a:r>
            <a:r>
              <a:rPr lang="en-HU" dirty="0"/>
              <a:t> esetén rizikófaktorok nélkül is (&gt;4.9 mmol/L)					</a:t>
            </a:r>
            <a:r>
              <a:rPr lang="en-HU" b="1" dirty="0"/>
              <a:t>legalább 2.6 alatt</a:t>
            </a:r>
          </a:p>
        </p:txBody>
      </p:sp>
    </p:spTree>
    <p:extLst>
      <p:ext uri="{BB962C8B-B14F-4D97-AF65-F5344CB8AC3E}">
        <p14:creationId xmlns:p14="http://schemas.microsoft.com/office/powerpoint/2010/main" val="33293034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45037D-AAF6-7DE4-19A7-B0A5BC3326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U"/>
              <a:t>Tanácsok sztatinok biztonságos alkalmazásához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9D86E4-34E5-711B-062A-35BC8FD7AA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HU" dirty="0"/>
              <a:t>A sztatinok általában biztonságosak, a terápia nagyban csökkenti a szívinfarktus és stroke kockázatát.</a:t>
            </a:r>
          </a:p>
          <a:p>
            <a:pPr marL="0" indent="0">
              <a:buNone/>
            </a:pPr>
            <a:r>
              <a:rPr lang="en-HU" dirty="0"/>
              <a:t>Alkoholt csak mérsékelten fogyasszon, kerülje a rendszeres nagy mennyiségeket.</a:t>
            </a:r>
          </a:p>
          <a:p>
            <a:pPr marL="0" indent="0">
              <a:buNone/>
            </a:pPr>
            <a:r>
              <a:rPr lang="en-HU" dirty="0"/>
              <a:t>Ha izomfájdalom, izomgyengeség, sötét színű vizelet, vagy szokatlan fáradékonyság jelentkezik, jelezze kezelőorvosának. </a:t>
            </a:r>
          </a:p>
          <a:p>
            <a:pPr marL="0" indent="0">
              <a:buNone/>
            </a:pPr>
            <a:r>
              <a:rPr lang="en-HU" dirty="0"/>
              <a:t>Májbetegségre utaló tünetek (hasi fájdalom, sárgaság</a:t>
            </a:r>
            <a:r>
              <a:rPr lang="hu-HU" dirty="0"/>
              <a:t>, szokatlan fáradékonyság</a:t>
            </a:r>
            <a:r>
              <a:rPr lang="en-HU" dirty="0"/>
              <a:t>) esetén </a:t>
            </a:r>
            <a:r>
              <a:rPr lang="hu-HU" dirty="0"/>
              <a:t>szintén</a:t>
            </a:r>
            <a:r>
              <a:rPr lang="en-HU" dirty="0"/>
              <a:t> keresse fel orvosát.</a:t>
            </a:r>
          </a:p>
          <a:p>
            <a:pPr marL="0" indent="0">
              <a:buNone/>
            </a:pPr>
            <a:r>
              <a:rPr lang="en-HU" dirty="0"/>
              <a:t>Grapefruitlé fogyasztása nagyobb mennyiségben kerülendő bizonyos statinok mellett (atorvastatin, simvastatin).</a:t>
            </a:r>
          </a:p>
        </p:txBody>
      </p:sp>
    </p:spTree>
    <p:extLst>
      <p:ext uri="{BB962C8B-B14F-4D97-AF65-F5344CB8AC3E}">
        <p14:creationId xmlns:p14="http://schemas.microsoft.com/office/powerpoint/2010/main" val="24123947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4F16266-AFF5-D6C3-2B2C-9B91162CD7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25" y="-1"/>
            <a:ext cx="12049246" cy="685386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0AFE8DF-B93B-D4DE-4F8C-7402427D6848}"/>
              </a:ext>
            </a:extLst>
          </p:cNvPr>
          <p:cNvSpPr txBox="1"/>
          <p:nvPr/>
        </p:nvSpPr>
        <p:spPr>
          <a:xfrm>
            <a:off x="555584" y="2458362"/>
            <a:ext cx="3356657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HU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Klinikai döntéstámogató platform kardiovaszkuláris rizikóbecsléshez</a:t>
            </a:r>
          </a:p>
          <a:p>
            <a:endParaRPr lang="en-HU" sz="20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H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CE tanúsított orvostechnikai szoftver</a:t>
            </a:r>
          </a:p>
          <a:p>
            <a:endParaRPr lang="en-HU" sz="20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H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University Medical Center,</a:t>
            </a:r>
          </a:p>
          <a:p>
            <a:r>
              <a:rPr lang="en-H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Utrecth</a:t>
            </a:r>
          </a:p>
        </p:txBody>
      </p:sp>
    </p:spTree>
    <p:extLst>
      <p:ext uri="{BB962C8B-B14F-4D97-AF65-F5344CB8AC3E}">
        <p14:creationId xmlns:p14="http://schemas.microsoft.com/office/powerpoint/2010/main" val="21119909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B6A8BC-2A83-8978-C5A3-DF2474A3B2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207778E-C1CD-BD02-A03F-C8CC5F39AC89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365125"/>
            <a:ext cx="10515600" cy="1325563"/>
          </a:xfrm>
        </p:spPr>
        <p:txBody>
          <a:bodyPr/>
          <a:lstStyle/>
          <a:p>
            <a:r>
              <a:rPr lang="en-HU" dirty="0"/>
              <a:t>	Score2-Diabetes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4C77019-787E-E966-B839-5C32A8D333DF}"/>
              </a:ext>
            </a:extLst>
          </p:cNvPr>
          <p:cNvSpPr>
            <a:spLocks noGrp="1"/>
          </p:cNvSpPr>
          <p:nvPr>
            <p:ph sz="half" idx="4294967295"/>
          </p:nvPr>
        </p:nvSpPr>
        <p:spPr>
          <a:xfrm>
            <a:off x="416347" y="1867189"/>
            <a:ext cx="5181600" cy="4351338"/>
          </a:xfrm>
        </p:spPr>
        <p:txBody>
          <a:bodyPr>
            <a:normAutofit fontScale="92500" lnSpcReduction="20000"/>
          </a:bodyPr>
          <a:lstStyle/>
          <a:p>
            <a:r>
              <a:rPr lang="en-HU" dirty="0"/>
              <a:t>pl. 55 éves magyar férfi</a:t>
            </a:r>
          </a:p>
          <a:p>
            <a:r>
              <a:rPr lang="en-HU" dirty="0"/>
              <a:t>életmód nem optimális</a:t>
            </a:r>
          </a:p>
          <a:p>
            <a:r>
              <a:rPr lang="en-HU" dirty="0"/>
              <a:t>dohányos</a:t>
            </a:r>
          </a:p>
          <a:p>
            <a:r>
              <a:rPr lang="en-HU" dirty="0"/>
              <a:t>5 éve cukorbeteg</a:t>
            </a:r>
          </a:p>
          <a:p>
            <a:r>
              <a:rPr lang="en-HU" dirty="0"/>
              <a:t>nem optimális vérnyomás (RR ~150 Hgmm)</a:t>
            </a:r>
          </a:p>
          <a:p>
            <a:r>
              <a:rPr lang="en-HU" dirty="0"/>
              <a:t>mérsékelten vesebeteg (GFR 67)</a:t>
            </a:r>
          </a:p>
          <a:p>
            <a:r>
              <a:rPr lang="en-HU" dirty="0"/>
              <a:t>részben kontrollált cukorbeteg (HbA1c 7.3%)</a:t>
            </a:r>
          </a:p>
          <a:p>
            <a:r>
              <a:rPr lang="en-HU" dirty="0"/>
              <a:t>vérzsírok célérték felett (koleszterin 5.9, LDL 3.7)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C1492AB-AB36-62AE-43C9-DB139D3A99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11" y="0"/>
            <a:ext cx="6138443" cy="68580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4EA16C1D-BFFE-D078-6CB3-75D4C13CA5C2}"/>
              </a:ext>
            </a:extLst>
          </p:cNvPr>
          <p:cNvSpPr/>
          <p:nvPr/>
        </p:nvSpPr>
        <p:spPr>
          <a:xfrm>
            <a:off x="6783185" y="2194675"/>
            <a:ext cx="1673631" cy="1019580"/>
          </a:xfrm>
          <a:prstGeom prst="rect">
            <a:avLst/>
          </a:prstGeom>
          <a:noFill/>
          <a:ln w="57150">
            <a:solidFill>
              <a:srgbClr val="E63022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HU" sz="2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868034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76EEE99F-043A-866F-55EB-3813631483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2839" y="0"/>
            <a:ext cx="10146323" cy="685800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37771758-2F63-BD07-8C53-4E8D8AFFE027}"/>
              </a:ext>
            </a:extLst>
          </p:cNvPr>
          <p:cNvSpPr/>
          <p:nvPr/>
        </p:nvSpPr>
        <p:spPr>
          <a:xfrm>
            <a:off x="2892828" y="2249486"/>
            <a:ext cx="2128059" cy="842849"/>
          </a:xfrm>
          <a:prstGeom prst="rect">
            <a:avLst/>
          </a:prstGeom>
          <a:noFill/>
          <a:ln w="57150">
            <a:solidFill>
              <a:srgbClr val="E63022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HU" sz="2400" dirty="0">
              <a:latin typeface="Arial" panose="020B0604020202020204" pitchFamily="34" charset="0"/>
            </a:endParaRPr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73EF430D-F0FD-0C77-26C1-C7BB5B9938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82350" y="-19049"/>
            <a:ext cx="971551" cy="1029867"/>
          </a:xfrm>
          <a:prstGeom prst="rect">
            <a:avLst/>
          </a:prstGeom>
          <a:noFill/>
          <a:ln>
            <a:noFill/>
          </a:ln>
          <a:effectLst>
            <a:outerShdw blurRad="50800" dist="50800" dir="5400000" algn="ctr" rotWithShape="0">
              <a:schemeClr val="tx1"/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452024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1C5968-1036-AFFF-C867-A1755BB60B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5A12CE1B-3D13-B33D-4FF5-4D554A9FE4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2839" y="0"/>
            <a:ext cx="10146323" cy="6858000"/>
          </a:xfrm>
          <a:prstGeom prst="rect">
            <a:avLst/>
          </a:prstGeom>
        </p:spPr>
      </p:pic>
      <p:graphicFrame>
        <p:nvGraphicFramePr>
          <p:cNvPr id="3" name="Content Placeholder 2">
            <a:extLst>
              <a:ext uri="{FF2B5EF4-FFF2-40B4-BE49-F238E27FC236}">
                <a16:creationId xmlns:a16="http://schemas.microsoft.com/office/drawing/2014/main" id="{0E3A253D-220E-C31E-08E9-AA5FA735BF54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82371385"/>
              </p:ext>
            </p:extLst>
          </p:nvPr>
        </p:nvGraphicFramePr>
        <p:xfrm>
          <a:off x="1370056" y="0"/>
          <a:ext cx="9448709" cy="6858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9001371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F717E3-9EB2-ED71-594A-08B2F3B9FD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B16F079E-61E0-09BE-D479-07E14E791D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2839" y="0"/>
            <a:ext cx="10146323" cy="6858000"/>
          </a:xfrm>
          <a:prstGeom prst="rect">
            <a:avLst/>
          </a:prstGeom>
        </p:spPr>
      </p:pic>
      <p:graphicFrame>
        <p:nvGraphicFramePr>
          <p:cNvPr id="3" name="Content Placeholder 2">
            <a:extLst>
              <a:ext uri="{FF2B5EF4-FFF2-40B4-BE49-F238E27FC236}">
                <a16:creationId xmlns:a16="http://schemas.microsoft.com/office/drawing/2014/main" id="{24AD71DE-6A92-7AEE-4404-255185782D74}"/>
              </a:ext>
            </a:extLst>
          </p:cNvPr>
          <p:cNvGraphicFramePr>
            <a:graphicFrameLocks noGrp="1"/>
          </p:cNvGraphicFramePr>
          <p:nvPr>
            <p:ph sz="half" idx="1"/>
          </p:nvPr>
        </p:nvGraphicFramePr>
        <p:xfrm>
          <a:off x="1370056" y="0"/>
          <a:ext cx="9448709" cy="6858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" name="Content Placeholder 6">
            <a:extLst>
              <a:ext uri="{FF2B5EF4-FFF2-40B4-BE49-F238E27FC236}">
                <a16:creationId xmlns:a16="http://schemas.microsoft.com/office/drawing/2014/main" id="{50FABEA9-114C-9210-B8E8-470AA6434072}"/>
              </a:ext>
            </a:extLst>
          </p:cNvPr>
          <p:cNvSpPr txBox="1">
            <a:spLocks/>
          </p:cNvSpPr>
          <p:nvPr/>
        </p:nvSpPr>
        <p:spPr>
          <a:xfrm>
            <a:off x="1620982" y="426028"/>
            <a:ext cx="8967354" cy="601633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20000"/>
              </a:lnSpc>
              <a:buNone/>
            </a:pPr>
            <a:r>
              <a:rPr lang="en-GB" dirty="0">
                <a:solidFill>
                  <a:schemeClr val="bg1"/>
                </a:solidFill>
              </a:rPr>
              <a:t>10 ÉVES </a:t>
            </a:r>
            <a:r>
              <a:rPr lang="hu-HU" dirty="0">
                <a:solidFill>
                  <a:schemeClr val="bg1"/>
                </a:solidFill>
              </a:rPr>
              <a:t>ÖSSZESÍTETT </a:t>
            </a:r>
            <a:r>
              <a:rPr lang="en-GB" dirty="0">
                <a:solidFill>
                  <a:schemeClr val="bg1"/>
                </a:solidFill>
              </a:rPr>
              <a:t>KARDIOVASZKULÁRIS RIZIKÓCSÖKKENTÉS PÉLDABETEGÜNKNÉL</a:t>
            </a:r>
          </a:p>
          <a:p>
            <a:pPr marL="0" indent="0">
              <a:lnSpc>
                <a:spcPct val="120000"/>
              </a:lnSpc>
              <a:buNone/>
            </a:pPr>
            <a:endParaRPr lang="en-GB" dirty="0">
              <a:solidFill>
                <a:schemeClr val="bg1"/>
              </a:solidFill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en-GB" dirty="0">
                <a:solidFill>
                  <a:schemeClr val="bg1"/>
                </a:solidFill>
              </a:rPr>
              <a:t>D</a:t>
            </a:r>
            <a:r>
              <a:rPr lang="en-HU" dirty="0">
                <a:solidFill>
                  <a:schemeClr val="bg1"/>
                </a:solidFill>
              </a:rPr>
              <a:t>ohányzás elhagyása					-8.9 %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HU" dirty="0">
                <a:solidFill>
                  <a:schemeClr val="bg1"/>
                </a:solidFill>
              </a:rPr>
              <a:t>+ Vérnyomás optimalizálása</a:t>
            </a:r>
            <a:br>
              <a:rPr lang="en-HU" dirty="0">
                <a:solidFill>
                  <a:schemeClr val="bg1"/>
                </a:solidFill>
              </a:rPr>
            </a:br>
            <a:r>
              <a:rPr lang="en-HU" dirty="0">
                <a:solidFill>
                  <a:schemeClr val="bg1"/>
                </a:solidFill>
              </a:rPr>
              <a:t>						140/ alá	-2.9 %</a:t>
            </a:r>
            <a:br>
              <a:rPr lang="en-HU" dirty="0">
                <a:solidFill>
                  <a:schemeClr val="bg1"/>
                </a:solidFill>
              </a:rPr>
            </a:br>
            <a:r>
              <a:rPr lang="en-HU" dirty="0">
                <a:solidFill>
                  <a:schemeClr val="bg1"/>
                </a:solidFill>
              </a:rPr>
              <a:t>						(130/ alá	-5.3 %)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HU" dirty="0">
                <a:solidFill>
                  <a:schemeClr val="bg1"/>
                </a:solidFill>
              </a:rPr>
              <a:t>+ Alacsony dózisú sztatin				-3.9 %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HU" dirty="0">
                <a:solidFill>
                  <a:schemeClr val="bg1"/>
                </a:solidFill>
              </a:rPr>
              <a:t>+ GLP1 agonista és SGLT2 gátló együtt		-1.9 %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HU" dirty="0">
                <a:solidFill>
                  <a:schemeClr val="bg1"/>
                </a:solidFill>
              </a:rPr>
              <a:t>+ Életmód							-1.7 %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HU" dirty="0">
                <a:solidFill>
                  <a:schemeClr val="bg1"/>
                </a:solidFill>
              </a:rPr>
              <a:t>+ Cukorbetegség további optimalizálása		</a:t>
            </a:r>
            <a:r>
              <a:rPr lang="en-HU" u="sng" dirty="0">
                <a:solidFill>
                  <a:schemeClr val="bg1"/>
                </a:solidFill>
              </a:rPr>
              <a:t>-0.2 %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HU" dirty="0">
                <a:solidFill>
                  <a:schemeClr val="bg1"/>
                </a:solidFill>
              </a:rPr>
              <a:t>								-19.5 %</a:t>
            </a:r>
          </a:p>
        </p:txBody>
      </p:sp>
    </p:spTree>
    <p:extLst>
      <p:ext uri="{BB962C8B-B14F-4D97-AF65-F5344CB8AC3E}">
        <p14:creationId xmlns:p14="http://schemas.microsoft.com/office/powerpoint/2010/main" val="7706484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CCCB44-BFCF-7120-7EB3-F5640F8474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5DE9C5DF-853E-E957-8D0C-D39DE3E32825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365125"/>
            <a:ext cx="10515600" cy="1325563"/>
          </a:xfrm>
        </p:spPr>
        <p:txBody>
          <a:bodyPr/>
          <a:lstStyle/>
          <a:p>
            <a:r>
              <a:rPr lang="en-HU" dirty="0"/>
              <a:t>	Score2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94612A8-68E0-EC15-BC9F-790FB6C69ABA}"/>
              </a:ext>
            </a:extLst>
          </p:cNvPr>
          <p:cNvSpPr>
            <a:spLocks noGrp="1"/>
          </p:cNvSpPr>
          <p:nvPr>
            <p:ph sz="half" idx="4294967295"/>
          </p:nvPr>
        </p:nvSpPr>
        <p:spPr>
          <a:xfrm>
            <a:off x="416347" y="1867189"/>
            <a:ext cx="5181600" cy="4351338"/>
          </a:xfrm>
        </p:spPr>
        <p:txBody>
          <a:bodyPr>
            <a:normAutofit/>
          </a:bodyPr>
          <a:lstStyle/>
          <a:p>
            <a:r>
              <a:rPr lang="en-HU" dirty="0"/>
              <a:t>pl. 40 éves magyar nő</a:t>
            </a:r>
          </a:p>
          <a:p>
            <a:pPr marL="0" indent="0">
              <a:buNone/>
            </a:pPr>
            <a:r>
              <a:rPr lang="en-HU" dirty="0"/>
              <a:t>- </a:t>
            </a:r>
            <a:r>
              <a:rPr lang="en-GB" dirty="0"/>
              <a:t>n</a:t>
            </a:r>
            <a:r>
              <a:rPr lang="en-HU" dirty="0"/>
              <a:t>em dohányos</a:t>
            </a:r>
          </a:p>
          <a:p>
            <a:r>
              <a:rPr lang="en-HU" dirty="0"/>
              <a:t>nem cukorbeteg</a:t>
            </a:r>
          </a:p>
          <a:p>
            <a:r>
              <a:rPr lang="en-HU" dirty="0"/>
              <a:t>optimális vérnyomás (RR ~120 Hgmm)</a:t>
            </a:r>
          </a:p>
          <a:p>
            <a:r>
              <a:rPr lang="en-HU" dirty="0"/>
              <a:t>vérzsírok célérték felett (koleszterin 5.5, LDL 3.4)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57CAC88-62B0-2FAD-E050-38AFF28710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2080" y="0"/>
            <a:ext cx="6159920" cy="3165389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6D8C3DA6-2CF2-BE9A-9339-43A43D2F0953}"/>
              </a:ext>
            </a:extLst>
          </p:cNvPr>
          <p:cNvSpPr/>
          <p:nvPr/>
        </p:nvSpPr>
        <p:spPr>
          <a:xfrm>
            <a:off x="6783186" y="2194675"/>
            <a:ext cx="1469564" cy="1019580"/>
          </a:xfrm>
          <a:prstGeom prst="rect">
            <a:avLst/>
          </a:prstGeom>
          <a:noFill/>
          <a:ln w="57150">
            <a:solidFill>
              <a:srgbClr val="E63022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HU" sz="2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006561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5B42CF-966F-691A-0C56-305CE4C725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6A66C734-B559-1D39-7791-9E6EDC478D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82350" y="-19049"/>
            <a:ext cx="971551" cy="1029867"/>
          </a:xfrm>
          <a:prstGeom prst="rect">
            <a:avLst/>
          </a:prstGeom>
          <a:noFill/>
          <a:ln>
            <a:noFill/>
          </a:ln>
          <a:effectLst>
            <a:outerShdw blurRad="50800" dist="50800" dir="5400000" algn="ctr" rotWithShape="0">
              <a:schemeClr val="tx1"/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A3F7E47-38C0-B6CF-16E6-B7E855A8E6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802" y="737886"/>
            <a:ext cx="11010395" cy="5382228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B0C68AAE-3D61-C0FD-42B6-3D7AA92AFBF1}"/>
              </a:ext>
            </a:extLst>
          </p:cNvPr>
          <p:cNvSpPr/>
          <p:nvPr/>
        </p:nvSpPr>
        <p:spPr>
          <a:xfrm>
            <a:off x="2708476" y="3194612"/>
            <a:ext cx="2199189" cy="1076445"/>
          </a:xfrm>
          <a:prstGeom prst="rect">
            <a:avLst/>
          </a:prstGeom>
          <a:noFill/>
          <a:ln w="57150">
            <a:solidFill>
              <a:srgbClr val="E63022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HU" sz="2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53429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ép 6">
            <a:extLst>
              <a:ext uri="{FF2B5EF4-FFF2-40B4-BE49-F238E27FC236}">
                <a16:creationId xmlns:a16="http://schemas.microsoft.com/office/drawing/2014/main" id="{3D9342F7-D8B9-39CD-5CBF-16AA0EF351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1459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C1515C8-95FE-0561-574E-F3319866CF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U" dirty="0"/>
              <a:t>Előnyök				Mellékhatások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A62A261-B87B-4A27-1F2C-365BE4F2D2D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/>
          </a:bodyPr>
          <a:lstStyle/>
          <a:p>
            <a:r>
              <a:rPr lang="en-GB" dirty="0"/>
              <a:t>S</a:t>
            </a:r>
            <a:r>
              <a:rPr lang="en-HU" dirty="0"/>
              <a:t>úlyos éresemények</a:t>
            </a:r>
            <a:r>
              <a:rPr lang="hu-HU" dirty="0"/>
              <a:t>	</a:t>
            </a:r>
            <a:r>
              <a:rPr lang="hu-HU" b="1" dirty="0"/>
              <a:t>21-25%</a:t>
            </a:r>
          </a:p>
          <a:p>
            <a:pPr lvl="1"/>
            <a:r>
              <a:rPr lang="hu-HU" dirty="0"/>
              <a:t>Szívinfarktus</a:t>
            </a:r>
          </a:p>
          <a:p>
            <a:pPr lvl="1"/>
            <a:r>
              <a:rPr lang="hu-HU" dirty="0"/>
              <a:t>Agyi infarktus</a:t>
            </a:r>
          </a:p>
          <a:p>
            <a:pPr lvl="1"/>
            <a:r>
              <a:rPr lang="hu-HU" dirty="0"/>
              <a:t>Ér</a:t>
            </a:r>
            <a:r>
              <a:rPr lang="en-HU" dirty="0"/>
              <a:t>stentelés vagy </a:t>
            </a:r>
            <a:r>
              <a:rPr lang="hu-HU" dirty="0"/>
              <a:t>ér</a:t>
            </a:r>
            <a:r>
              <a:rPr lang="en-HU" dirty="0"/>
              <a:t>műtét	</a:t>
            </a:r>
            <a:endParaRPr lang="hu-HU" dirty="0"/>
          </a:p>
          <a:p>
            <a:pPr lvl="1"/>
            <a:endParaRPr lang="hu-HU" dirty="0"/>
          </a:p>
          <a:p>
            <a:r>
              <a:rPr lang="en-HU" dirty="0"/>
              <a:t>Összhalálozás		</a:t>
            </a:r>
            <a:r>
              <a:rPr lang="en-HU" b="1" dirty="0"/>
              <a:t>-10%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65DD8F4-F7B2-9F2A-BC3C-1F8A98B4961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/>
          </a:bodyPr>
          <a:lstStyle/>
          <a:p>
            <a:r>
              <a:rPr lang="en-GB" dirty="0"/>
              <a:t>I</a:t>
            </a:r>
            <a:r>
              <a:rPr lang="en-HU" dirty="0"/>
              <a:t>zomfájdalom		</a:t>
            </a:r>
            <a:r>
              <a:rPr lang="en-HU" b="1" dirty="0"/>
              <a:t>1-2%</a:t>
            </a:r>
          </a:p>
          <a:p>
            <a:r>
              <a:rPr lang="en-HU" dirty="0"/>
              <a:t>Izomfájdalom </a:t>
            </a:r>
            <a:r>
              <a:rPr lang="hu-HU" dirty="0"/>
              <a:t>+ </a:t>
            </a:r>
            <a:r>
              <a:rPr lang="en-HU" dirty="0"/>
              <a:t>CK 	0.01%</a:t>
            </a:r>
          </a:p>
          <a:p>
            <a:r>
              <a:rPr lang="en-HU" dirty="0"/>
              <a:t>Izomkárosodás</a:t>
            </a:r>
            <a:r>
              <a:rPr lang="hu-HU" dirty="0"/>
              <a:t>	</a:t>
            </a:r>
            <a:r>
              <a:rPr lang="en-HU" dirty="0"/>
              <a:t>0.000025%</a:t>
            </a:r>
          </a:p>
          <a:p>
            <a:endParaRPr lang="en-HU" dirty="0"/>
          </a:p>
          <a:p>
            <a:r>
              <a:rPr lang="en-HU" dirty="0"/>
              <a:t>Enyhe májfunkció	</a:t>
            </a:r>
            <a:r>
              <a:rPr lang="en-HU" b="1" dirty="0"/>
              <a:t>0.5-2%</a:t>
            </a:r>
          </a:p>
          <a:p>
            <a:r>
              <a:rPr lang="en-HU" dirty="0"/>
              <a:t>Súlyos májfunkció	0.1%</a:t>
            </a:r>
          </a:p>
          <a:p>
            <a:r>
              <a:rPr lang="en-HU" dirty="0"/>
              <a:t>DILI			0.000001%</a:t>
            </a:r>
          </a:p>
          <a:p>
            <a:endParaRPr lang="en-HU" dirty="0"/>
          </a:p>
          <a:p>
            <a:r>
              <a:rPr lang="en-HU" dirty="0"/>
              <a:t>Diabetes</a:t>
            </a:r>
            <a:r>
              <a:rPr lang="hu-HU" dirty="0"/>
              <a:t>	</a:t>
            </a:r>
            <a:r>
              <a:rPr lang="en-HU" dirty="0"/>
              <a:t>1 eset/1000 betegév</a:t>
            </a:r>
          </a:p>
        </p:txBody>
      </p:sp>
    </p:spTree>
    <p:extLst>
      <p:ext uri="{BB962C8B-B14F-4D97-AF65-F5344CB8AC3E}">
        <p14:creationId xmlns:p14="http://schemas.microsoft.com/office/powerpoint/2010/main" val="199263344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B1EE9B-01F6-2A96-15D1-89C531EC29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U" dirty="0"/>
              <a:t>Nocebo effektus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22E5F1-5A7C-D0F1-5A88-2ABAFB47AA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endParaRPr lang="en-HU" dirty="0"/>
          </a:p>
          <a:p>
            <a:r>
              <a:rPr lang="hu-HU" dirty="0"/>
              <a:t>Placebo – „Tetszeni fogok”		</a:t>
            </a:r>
            <a:r>
              <a:rPr lang="hu-HU" dirty="0" err="1"/>
              <a:t>Nocebo</a:t>
            </a:r>
            <a:r>
              <a:rPr lang="hu-HU" dirty="0"/>
              <a:t> – „Ártani fogok”</a:t>
            </a:r>
          </a:p>
          <a:p>
            <a:endParaRPr lang="hu-HU" dirty="0"/>
          </a:p>
          <a:p>
            <a:r>
              <a:rPr lang="en-HU" dirty="0"/>
              <a:t>Amikor valaki elkezd egy gyógyszert, előre hall róla mellékhatásokat</a:t>
            </a:r>
          </a:p>
          <a:p>
            <a:r>
              <a:rPr lang="en-HU" dirty="0"/>
              <a:t>Emiatt jobban figyeli a testét</a:t>
            </a:r>
          </a:p>
          <a:p>
            <a:r>
              <a:rPr lang="en-HU" dirty="0"/>
              <a:t>Ha jelentkezik egy panasz (pl. izomfájdalom), azt automatikusan a gyógyszernek tulajdonítja</a:t>
            </a:r>
          </a:p>
          <a:p>
            <a:endParaRPr lang="en-HU" dirty="0"/>
          </a:p>
          <a:p>
            <a:pPr marL="0" indent="0">
              <a:buNone/>
            </a:pPr>
            <a:r>
              <a:rPr lang="en-HU" b="1" dirty="0"/>
              <a:t>A panasz valós, de nem (vagy nem főként) a gyógyszer okozza.</a:t>
            </a:r>
            <a:endParaRPr lang="en-HU" dirty="0"/>
          </a:p>
          <a:p>
            <a:endParaRPr lang="en-HU" dirty="0"/>
          </a:p>
        </p:txBody>
      </p:sp>
    </p:spTree>
    <p:extLst>
      <p:ext uri="{BB962C8B-B14F-4D97-AF65-F5344CB8AC3E}">
        <p14:creationId xmlns:p14="http://schemas.microsoft.com/office/powerpoint/2010/main" val="35083182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9E7285-FC4C-B9F1-37CC-62AAB982ED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G</a:t>
            </a:r>
            <a:r>
              <a:rPr lang="en-HU" dirty="0"/>
              <a:t>yakori nocebo gyógyszerek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79D8F2-3D78-9BC2-56D4-A750C95C88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hu-HU" dirty="0"/>
              <a:t>- </a:t>
            </a:r>
            <a:r>
              <a:rPr lang="hu-HU" dirty="0" err="1"/>
              <a:t>Sztatin</a:t>
            </a:r>
            <a:r>
              <a:rPr lang="hu-HU" dirty="0"/>
              <a:t> koleszterincsökkentők</a:t>
            </a:r>
          </a:p>
          <a:p>
            <a:pPr>
              <a:buFontTx/>
              <a:buChar char="-"/>
            </a:pPr>
            <a:endParaRPr lang="en-HU" dirty="0"/>
          </a:p>
          <a:p>
            <a:pPr>
              <a:buFontTx/>
              <a:buChar char="-"/>
            </a:pPr>
            <a:r>
              <a:rPr lang="en-HU" dirty="0"/>
              <a:t>ACE-gátló / ARB</a:t>
            </a:r>
            <a:r>
              <a:rPr lang="hu-HU" dirty="0"/>
              <a:t> vérnyomáscsökkentők</a:t>
            </a:r>
            <a:endParaRPr lang="en-HU" dirty="0"/>
          </a:p>
          <a:p>
            <a:pPr>
              <a:buFontTx/>
              <a:buChar char="-"/>
            </a:pPr>
            <a:r>
              <a:rPr lang="en-GB" dirty="0"/>
              <a:t>A</a:t>
            </a:r>
            <a:r>
              <a:rPr lang="en-HU" dirty="0"/>
              <a:t>ntidepresszánsok</a:t>
            </a:r>
          </a:p>
          <a:p>
            <a:pPr>
              <a:buFontTx/>
              <a:buChar char="-"/>
            </a:pPr>
            <a:r>
              <a:rPr lang="en-HU" dirty="0"/>
              <a:t>Fájdalomcsillapító nem-szteroid gyulladáscsökkentők</a:t>
            </a:r>
          </a:p>
          <a:p>
            <a:pPr>
              <a:buFontTx/>
              <a:buChar char="-"/>
            </a:pPr>
            <a:r>
              <a:rPr lang="en-HU" dirty="0"/>
              <a:t>Aszthma inhalációs gyógyszerek</a:t>
            </a:r>
          </a:p>
          <a:p>
            <a:pPr>
              <a:buFontTx/>
              <a:buChar char="-"/>
            </a:pPr>
            <a:r>
              <a:rPr lang="hu-HU" dirty="0"/>
              <a:t>Rákellenes </a:t>
            </a:r>
            <a:r>
              <a:rPr lang="en-HU" dirty="0"/>
              <a:t>terápiák</a:t>
            </a:r>
            <a:endParaRPr lang="hu-HU" dirty="0"/>
          </a:p>
          <a:p>
            <a:pPr>
              <a:buFontTx/>
              <a:buChar char="-"/>
            </a:pPr>
            <a:r>
              <a:rPr lang="hu-HU" dirty="0"/>
              <a:t>B</a:t>
            </a:r>
            <a:r>
              <a:rPr lang="en-HU" dirty="0"/>
              <a:t>iológiai terápiá</a:t>
            </a:r>
            <a:r>
              <a:rPr lang="hu-HU" dirty="0"/>
              <a:t>k</a:t>
            </a:r>
          </a:p>
          <a:p>
            <a:pPr>
              <a:buFontTx/>
              <a:buChar char="-"/>
            </a:pPr>
            <a:r>
              <a:rPr lang="en-HU" dirty="0"/>
              <a:t>Védőoltások</a:t>
            </a:r>
          </a:p>
        </p:txBody>
      </p:sp>
    </p:spTree>
    <p:extLst>
      <p:ext uri="{BB962C8B-B14F-4D97-AF65-F5344CB8AC3E}">
        <p14:creationId xmlns:p14="http://schemas.microsoft.com/office/powerpoint/2010/main" val="25164096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B6E2B3-5B6F-A086-FF8A-823BDFD860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HU" dirty="0"/>
              <a:t>Sztatin </a:t>
            </a:r>
            <a:r>
              <a:rPr lang="hu-HU" dirty="0"/>
              <a:t>„</a:t>
            </a:r>
            <a:r>
              <a:rPr lang="en-HU" dirty="0"/>
              <a:t>nocebo</a:t>
            </a:r>
            <a:r>
              <a:rPr lang="hu-HU" dirty="0"/>
              <a:t>”</a:t>
            </a:r>
            <a:r>
              <a:rPr lang="en-HU" dirty="0"/>
              <a:t> vizsgálatok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C0C160-1EB4-D176-6BB8-89525AA07E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dirty="0"/>
          </a:p>
          <a:p>
            <a:r>
              <a:rPr lang="en-GB" dirty="0"/>
              <a:t>S</a:t>
            </a:r>
            <a:r>
              <a:rPr lang="en-HU" dirty="0"/>
              <a:t>ztatin intoleráns betegeknél </a:t>
            </a:r>
            <a:r>
              <a:rPr lang="en-HU" b="1" dirty="0"/>
              <a:t>1-2 hónapig sztatin </a:t>
            </a:r>
            <a:r>
              <a:rPr lang="en-HU" dirty="0"/>
              <a:t>tablettát, majd </a:t>
            </a:r>
            <a:r>
              <a:rPr lang="en-HU" b="1" dirty="0"/>
              <a:t>1-2 hónapig placebo </a:t>
            </a:r>
            <a:r>
              <a:rPr lang="en-HU" dirty="0"/>
              <a:t>tablettát adtak, egyes vizsgálatokban még </a:t>
            </a:r>
            <a:r>
              <a:rPr lang="en-HU" b="1" dirty="0"/>
              <a:t>tablettamentes hónapokat </a:t>
            </a:r>
            <a:r>
              <a:rPr lang="en-HU" dirty="0"/>
              <a:t>is beiktattak</a:t>
            </a:r>
          </a:p>
          <a:p>
            <a:r>
              <a:rPr lang="en-HU" dirty="0"/>
              <a:t>A betegek és a vizsgálók sem tudták közben, hogy mikor kapnak sztatint vagy placebot – “kettős vak vizsgálat”</a:t>
            </a:r>
          </a:p>
          <a:p>
            <a:r>
              <a:rPr lang="en-HU" dirty="0"/>
              <a:t>A betegek rendszeresen pontrendszer segítségével értékelték aktuális panaszaikat</a:t>
            </a:r>
          </a:p>
        </p:txBody>
      </p:sp>
    </p:spTree>
    <p:extLst>
      <p:ext uri="{BB962C8B-B14F-4D97-AF65-F5344CB8AC3E}">
        <p14:creationId xmlns:p14="http://schemas.microsoft.com/office/powerpoint/2010/main" val="257145608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3359B-3F41-2A64-DC4D-DE77953ADC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HU" dirty="0"/>
              <a:t>Izom- és ízületi fájdalommal kapcsolatos vizsgálatok</a:t>
            </a:r>
            <a:br>
              <a:rPr lang="en-HU" dirty="0"/>
            </a:br>
            <a:endParaRPr lang="en-HU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6467B0BF-9043-CCDD-6EC4-46DAB0F78F3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83031145"/>
              </p:ext>
            </p:extLst>
          </p:nvPr>
        </p:nvGraphicFramePr>
        <p:xfrm>
          <a:off x="838200" y="1441158"/>
          <a:ext cx="10515600" cy="4866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1576478232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277709151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619484270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69491830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HU" b="0" i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HU" b="0" i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SAMSON trial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HU" b="0" i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StatinWISE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HU" b="0" i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CTT metaanalízis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893127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HU" b="0" i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HU" b="0" i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HU" b="0" i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HU" b="0" i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93907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hu-HU" b="0" i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Betegszám</a:t>
                      </a:r>
                      <a:endParaRPr lang="en-HU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b="0" i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</a:t>
                      </a:r>
                      <a:r>
                        <a:rPr lang="en-H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= 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HU" b="0" i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 = 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HU" b="0" i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 = </a:t>
                      </a:r>
                      <a:r>
                        <a:rPr lang="en-H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124.000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527793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HU" b="0" i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Protokoll</a:t>
                      </a:r>
                      <a:endParaRPr lang="en-HU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HU" b="0" i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 évig</a:t>
                      </a:r>
                      <a:br>
                        <a:rPr lang="en-HU" b="0" i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HU" b="0" i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4x1 hónap statin</a:t>
                      </a:r>
                    </a:p>
                    <a:p>
                      <a:r>
                        <a:rPr lang="en-H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4x1 hónap placebo</a:t>
                      </a:r>
                    </a:p>
                    <a:p>
                      <a:r>
                        <a:rPr lang="en-H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4x1 hónap “no tablet”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HU" b="0" i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 évig</a:t>
                      </a:r>
                    </a:p>
                    <a:p>
                      <a:r>
                        <a:rPr lang="en-H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3x2 hó statin</a:t>
                      </a:r>
                    </a:p>
                    <a:p>
                      <a:r>
                        <a:rPr lang="en-H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3x2 hó placebo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HU" b="0" i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 placebo-kontrollált RCT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130488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b="0" i="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Sz</a:t>
                      </a:r>
                      <a:r>
                        <a:rPr lang="en-H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tatin mellett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HU" b="1" i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b="1" i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</a:t>
                      </a:r>
                      <a:r>
                        <a:rPr lang="en-HU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anasz 2.2 a 10-es skálán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HU" b="1" i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27.1%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13302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HU" b="0" i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Placebo mellett</a:t>
                      </a:r>
                      <a:endParaRPr lang="en-HU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HU" b="1" i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HU" b="1" i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Panasz 2.3 a 10-es skálán</a:t>
                      </a:r>
                      <a:endParaRPr lang="en-HU" b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HU" b="1" i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26.6%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57309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HU" b="0" i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Tabletta nélkül</a:t>
                      </a:r>
                      <a:endParaRPr lang="en-HU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HU" b="1" i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HU" b="0" i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HU" b="0" i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38483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HU" b="0" i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HU" b="0" i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50% elfogadta a statint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HU" b="0" i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b="1" i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Csak</a:t>
                      </a:r>
                      <a:r>
                        <a:rPr lang="en-GB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m</a:t>
                      </a:r>
                      <a:r>
                        <a:rPr lang="en-HU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inden 15. tünet tulajdonítható ténylegesen statinnak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512568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7092329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5DEA98-1222-A823-E611-99AB9890FA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0BFD05-FF45-5CF0-903E-5220C809DE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HU" dirty="0"/>
              <a:t>Májfunkciót vizsgáló tanulmányok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199E899-8EE2-1135-3888-4612E63B49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endParaRPr lang="hu-HU" b="1" dirty="0"/>
          </a:p>
          <a:p>
            <a:pPr marL="0" indent="0">
              <a:buNone/>
            </a:pPr>
            <a:endParaRPr lang="hu-HU" b="1" dirty="0"/>
          </a:p>
          <a:p>
            <a:pPr marL="0" indent="0">
              <a:buNone/>
            </a:pPr>
            <a:endParaRPr lang="hu-HU" b="1" dirty="0"/>
          </a:p>
          <a:p>
            <a:pPr marL="0" indent="0">
              <a:buNone/>
            </a:pPr>
            <a:endParaRPr lang="hu-HU" b="1" dirty="0"/>
          </a:p>
          <a:p>
            <a:pPr marL="0" indent="0">
              <a:buNone/>
            </a:pPr>
            <a:endParaRPr lang="hu-HU" b="1" dirty="0"/>
          </a:p>
          <a:p>
            <a:pPr marL="0" indent="0">
              <a:buNone/>
            </a:pPr>
            <a:endParaRPr lang="en-HU" b="1" dirty="0"/>
          </a:p>
          <a:p>
            <a:pPr marL="0" indent="0">
              <a:buNone/>
            </a:pPr>
            <a:r>
              <a:rPr lang="en-HU" b="1" dirty="0"/>
              <a:t>Következtetés</a:t>
            </a:r>
            <a:r>
              <a:rPr lang="hu-HU" b="1" dirty="0" err="1"/>
              <a:t>ek</a:t>
            </a:r>
            <a:r>
              <a:rPr lang="en-HU" b="1" dirty="0"/>
              <a:t>:</a:t>
            </a:r>
          </a:p>
          <a:p>
            <a:pPr>
              <a:buFontTx/>
              <a:buChar char="-"/>
            </a:pPr>
            <a:r>
              <a:rPr lang="en-HU" sz="2600" b="1" dirty="0"/>
              <a:t>3X májfunkciós emelkedés alatt nem indokolt elhagyni a sztatint</a:t>
            </a:r>
          </a:p>
          <a:p>
            <a:pPr>
              <a:buFontTx/>
              <a:buChar char="-"/>
            </a:pPr>
            <a:r>
              <a:rPr lang="en-HU" sz="2600" dirty="0"/>
              <a:t>1000 kezelt betegből évente &lt;1-nél jelenik meg plusz májenzim emelkedés sztatinkezelés miatt</a:t>
            </a:r>
            <a:endParaRPr lang="hu-HU" sz="2600" dirty="0"/>
          </a:p>
          <a:p>
            <a:pPr>
              <a:buFontTx/>
              <a:buChar char="-"/>
            </a:pPr>
            <a:r>
              <a:rPr lang="en-GB" sz="2600" dirty="0"/>
              <a:t>S</a:t>
            </a:r>
            <a:r>
              <a:rPr lang="en-HU" sz="2600" dirty="0"/>
              <a:t>úlyos májkárosodás esélye 1 eset 1.</a:t>
            </a:r>
            <a:r>
              <a:rPr lang="hu-HU" sz="2600" dirty="0"/>
              <a:t>0</a:t>
            </a:r>
            <a:r>
              <a:rPr lang="en-HU" sz="2600" dirty="0"/>
              <a:t>00.000 betegév alatt</a:t>
            </a:r>
          </a:p>
        </p:txBody>
      </p:sp>
      <p:graphicFrame>
        <p:nvGraphicFramePr>
          <p:cNvPr id="3" name="Táblázat 2">
            <a:extLst>
              <a:ext uri="{FF2B5EF4-FFF2-40B4-BE49-F238E27FC236}">
                <a16:creationId xmlns:a16="http://schemas.microsoft.com/office/drawing/2014/main" id="{2799AAE9-43DD-B459-EFDA-63176E67093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6039414"/>
              </p:ext>
            </p:extLst>
          </p:nvPr>
        </p:nvGraphicFramePr>
        <p:xfrm>
          <a:off x="2032000" y="1825625"/>
          <a:ext cx="8128000" cy="1925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806364406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12041812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H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Mayo Clinic metaanalízis </a:t>
                      </a:r>
                      <a:r>
                        <a:rPr lang="hu-H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(2019)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H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CTT metaanalízis </a:t>
                      </a:r>
                      <a:r>
                        <a:rPr lang="hu-H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(2022)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11795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H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 = 123.000 beteg</a:t>
                      </a:r>
                      <a:br>
                        <a:rPr lang="hu-H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H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73 RCT vizsgálat alapján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</a:t>
                      </a:r>
                      <a:r>
                        <a:rPr lang="en-H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= 124.000 beteg</a:t>
                      </a:r>
                      <a:br>
                        <a:rPr lang="hu-H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H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19 RCT vizsgálat alapján</a:t>
                      </a:r>
                      <a:endParaRPr lang="hu-HU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14530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hu-H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Májenzim emelkedés</a:t>
                      </a:r>
                      <a:br>
                        <a:rPr lang="hu-H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hu-H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 </a:t>
                      </a:r>
                      <a:r>
                        <a:rPr lang="hu-HU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Statin</a:t>
                      </a:r>
                      <a:r>
                        <a:rPr lang="hu-H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hu-HU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0.3-0.4% / év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hu-H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 Placebo </a:t>
                      </a:r>
                      <a:r>
                        <a:rPr lang="hu-HU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0.2-0.3% / év</a:t>
                      </a:r>
                      <a:endParaRPr lang="en-HU" b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hu-H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Májenzim emelkedés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hu-HU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Statin</a:t>
                      </a:r>
                      <a:r>
                        <a:rPr lang="hu-H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hu-HU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0.3% / év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hu-H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Placebo </a:t>
                      </a:r>
                      <a:r>
                        <a:rPr lang="hu-HU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0.22% / év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49568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0241489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E483CE6F-9132-EFF6-1584-BFADA37DCD7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2488" b="3258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879530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2C61293E-6EBE-43EF-A52C-9BEBFD7679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D230D81D-BB14-3DC3-0DF2-1D16303362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97762" y="329184"/>
            <a:ext cx="6251110" cy="1783080"/>
          </a:xfrm>
        </p:spPr>
        <p:txBody>
          <a:bodyPr anchor="b">
            <a:normAutofit/>
          </a:bodyPr>
          <a:lstStyle/>
          <a:p>
            <a:r>
              <a:rPr lang="hu-HU" sz="5400" dirty="0"/>
              <a:t>Mi történik,</a:t>
            </a:r>
            <a:br>
              <a:rPr lang="hu-HU" sz="5400" dirty="0"/>
            </a:br>
            <a:r>
              <a:rPr lang="hu-HU" sz="5400" dirty="0"/>
              <a:t>ha ártalmas?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9E6F5BE2-204D-C83D-0B0C-9CCA1E8C177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776" r="12403"/>
          <a:stretch>
            <a:fillRect/>
          </a:stretch>
        </p:blipFill>
        <p:spPr>
          <a:xfrm>
            <a:off x="1" y="10"/>
            <a:ext cx="4657344" cy="6857990"/>
          </a:xfrm>
          <a:custGeom>
            <a:avLst/>
            <a:gdLst/>
            <a:ahLst/>
            <a:cxnLst/>
            <a:rect l="l" t="t" r="r" b="b"/>
            <a:pathLst>
              <a:path w="4657344" h="6858000">
                <a:moveTo>
                  <a:pt x="0" y="0"/>
                </a:moveTo>
                <a:lnTo>
                  <a:pt x="3429755" y="0"/>
                </a:lnTo>
                <a:lnTo>
                  <a:pt x="3526016" y="148742"/>
                </a:lnTo>
                <a:cubicBezTo>
                  <a:pt x="3657740" y="365513"/>
                  <a:pt x="3777402" y="589569"/>
                  <a:pt x="3886489" y="819975"/>
                </a:cubicBezTo>
                <a:cubicBezTo>
                  <a:pt x="3891856" y="833492"/>
                  <a:pt x="3900663" y="845393"/>
                  <a:pt x="3912049" y="854514"/>
                </a:cubicBezTo>
                <a:cubicBezTo>
                  <a:pt x="3897352" y="819849"/>
                  <a:pt x="3883037" y="784928"/>
                  <a:pt x="3868083" y="750263"/>
                </a:cubicBezTo>
                <a:cubicBezTo>
                  <a:pt x="3806989" y="608712"/>
                  <a:pt x="3742478" y="469145"/>
                  <a:pt x="3674155" y="331786"/>
                </a:cubicBezTo>
                <a:lnTo>
                  <a:pt x="3496656" y="0"/>
                </a:lnTo>
                <a:lnTo>
                  <a:pt x="3554371" y="0"/>
                </a:lnTo>
                <a:lnTo>
                  <a:pt x="3661621" y="196614"/>
                </a:lnTo>
                <a:cubicBezTo>
                  <a:pt x="3856899" y="573253"/>
                  <a:pt x="4021071" y="966066"/>
                  <a:pt x="4161279" y="1371196"/>
                </a:cubicBezTo>
                <a:cubicBezTo>
                  <a:pt x="4379525" y="2007265"/>
                  <a:pt x="4530141" y="2664286"/>
                  <a:pt x="4610660" y="3331516"/>
                </a:cubicBezTo>
                <a:cubicBezTo>
                  <a:pt x="4652837" y="3672965"/>
                  <a:pt x="4671625" y="4013908"/>
                  <a:pt x="4645040" y="4357388"/>
                </a:cubicBezTo>
                <a:cubicBezTo>
                  <a:pt x="4613599" y="4758899"/>
                  <a:pt x="4566181" y="5157998"/>
                  <a:pt x="4485789" y="5552906"/>
                </a:cubicBezTo>
                <a:cubicBezTo>
                  <a:pt x="4397121" y="5988893"/>
                  <a:pt x="4276748" y="6414594"/>
                  <a:pt x="4117769" y="6828295"/>
                </a:cubicBezTo>
                <a:lnTo>
                  <a:pt x="4105288" y="6858000"/>
                </a:lnTo>
                <a:lnTo>
                  <a:pt x="4052520" y="6858000"/>
                </a:lnTo>
                <a:lnTo>
                  <a:pt x="4059369" y="6841549"/>
                </a:lnTo>
                <a:cubicBezTo>
                  <a:pt x="4147276" y="6614016"/>
                  <a:pt x="4224193" y="6380817"/>
                  <a:pt x="4291518" y="6142729"/>
                </a:cubicBezTo>
                <a:cubicBezTo>
                  <a:pt x="4350055" y="5935370"/>
                  <a:pt x="4393256" y="5723695"/>
                  <a:pt x="4443357" y="5513923"/>
                </a:cubicBezTo>
                <a:cubicBezTo>
                  <a:pt x="4444541" y="5502788"/>
                  <a:pt x="4445137" y="5491601"/>
                  <a:pt x="4445146" y="5480401"/>
                </a:cubicBezTo>
                <a:cubicBezTo>
                  <a:pt x="4408465" y="5607635"/>
                  <a:pt x="4379196" y="5719759"/>
                  <a:pt x="4344559" y="5830359"/>
                </a:cubicBezTo>
                <a:cubicBezTo>
                  <a:pt x="4254261" y="6118381"/>
                  <a:pt x="4150112" y="6398531"/>
                  <a:pt x="4031702" y="6670527"/>
                </a:cubicBezTo>
                <a:lnTo>
                  <a:pt x="3943824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13" name="sketchy line">
            <a:extLst>
              <a:ext uri="{FF2B5EF4-FFF2-40B4-BE49-F238E27FC236}">
                <a16:creationId xmlns:a16="http://schemas.microsoft.com/office/drawing/2014/main" id="{21540236-BFD5-4A9D-8840-4703E7F768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297762" y="2374947"/>
            <a:ext cx="4243589" cy="18288"/>
          </a:xfrm>
          <a:custGeom>
            <a:avLst/>
            <a:gdLst>
              <a:gd name="csX0" fmla="*/ 0 w 4243589"/>
              <a:gd name="csY0" fmla="*/ 0 h 18288"/>
              <a:gd name="csX1" fmla="*/ 478919 w 4243589"/>
              <a:gd name="csY1" fmla="*/ 0 h 18288"/>
              <a:gd name="csX2" fmla="*/ 957839 w 4243589"/>
              <a:gd name="csY2" fmla="*/ 0 h 18288"/>
              <a:gd name="csX3" fmla="*/ 1521630 w 4243589"/>
              <a:gd name="csY3" fmla="*/ 0 h 18288"/>
              <a:gd name="csX4" fmla="*/ 2212729 w 4243589"/>
              <a:gd name="csY4" fmla="*/ 0 h 18288"/>
              <a:gd name="csX5" fmla="*/ 2734084 w 4243589"/>
              <a:gd name="csY5" fmla="*/ 0 h 18288"/>
              <a:gd name="csX6" fmla="*/ 3255439 w 4243589"/>
              <a:gd name="csY6" fmla="*/ 0 h 18288"/>
              <a:gd name="csX7" fmla="*/ 4243589 w 4243589"/>
              <a:gd name="csY7" fmla="*/ 0 h 18288"/>
              <a:gd name="csX8" fmla="*/ 4243589 w 4243589"/>
              <a:gd name="csY8" fmla="*/ 18288 h 18288"/>
              <a:gd name="csX9" fmla="*/ 3594926 w 4243589"/>
              <a:gd name="csY9" fmla="*/ 18288 h 18288"/>
              <a:gd name="csX10" fmla="*/ 3073571 w 4243589"/>
              <a:gd name="csY10" fmla="*/ 18288 h 18288"/>
              <a:gd name="csX11" fmla="*/ 2552216 w 4243589"/>
              <a:gd name="csY11" fmla="*/ 18288 h 18288"/>
              <a:gd name="csX12" fmla="*/ 1903553 w 4243589"/>
              <a:gd name="csY12" fmla="*/ 18288 h 18288"/>
              <a:gd name="csX13" fmla="*/ 1212454 w 4243589"/>
              <a:gd name="csY13" fmla="*/ 18288 h 18288"/>
              <a:gd name="csX14" fmla="*/ 733535 w 4243589"/>
              <a:gd name="csY14" fmla="*/ 18288 h 18288"/>
              <a:gd name="csX15" fmla="*/ 0 w 4243589"/>
              <a:gd name="csY15" fmla="*/ 18288 h 18288"/>
              <a:gd name="csX16" fmla="*/ 0 w 4243589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213395" y="-21006"/>
                  <a:pt x="307421" y="-18116"/>
                  <a:pt x="478919" y="0"/>
                </a:cubicBezTo>
                <a:cubicBezTo>
                  <a:pt x="650417" y="18116"/>
                  <a:pt x="831092" y="-21237"/>
                  <a:pt x="957839" y="0"/>
                </a:cubicBezTo>
                <a:cubicBezTo>
                  <a:pt x="1084586" y="21237"/>
                  <a:pt x="1301682" y="25124"/>
                  <a:pt x="1521630" y="0"/>
                </a:cubicBezTo>
                <a:cubicBezTo>
                  <a:pt x="1741578" y="-25124"/>
                  <a:pt x="1970269" y="-29139"/>
                  <a:pt x="2212729" y="0"/>
                </a:cubicBezTo>
                <a:cubicBezTo>
                  <a:pt x="2455189" y="29139"/>
                  <a:pt x="2558847" y="-4796"/>
                  <a:pt x="2734084" y="0"/>
                </a:cubicBezTo>
                <a:cubicBezTo>
                  <a:pt x="2909321" y="4796"/>
                  <a:pt x="3097217" y="-13409"/>
                  <a:pt x="3255439" y="0"/>
                </a:cubicBezTo>
                <a:cubicBezTo>
                  <a:pt x="3413662" y="13409"/>
                  <a:pt x="3979999" y="-10121"/>
                  <a:pt x="4243589" y="0"/>
                </a:cubicBezTo>
                <a:cubicBezTo>
                  <a:pt x="4244484" y="8974"/>
                  <a:pt x="4243043" y="9359"/>
                  <a:pt x="4243589" y="18288"/>
                </a:cubicBezTo>
                <a:cubicBezTo>
                  <a:pt x="4058777" y="31246"/>
                  <a:pt x="3910348" y="3158"/>
                  <a:pt x="3594926" y="18288"/>
                </a:cubicBezTo>
                <a:cubicBezTo>
                  <a:pt x="3279504" y="33418"/>
                  <a:pt x="3319955" y="-3977"/>
                  <a:pt x="3073571" y="18288"/>
                </a:cubicBezTo>
                <a:cubicBezTo>
                  <a:pt x="2827187" y="40553"/>
                  <a:pt x="2767387" y="1863"/>
                  <a:pt x="2552216" y="18288"/>
                </a:cubicBezTo>
                <a:cubicBezTo>
                  <a:pt x="2337046" y="34713"/>
                  <a:pt x="2181871" y="19527"/>
                  <a:pt x="1903553" y="18288"/>
                </a:cubicBezTo>
                <a:cubicBezTo>
                  <a:pt x="1625235" y="17049"/>
                  <a:pt x="1557672" y="24174"/>
                  <a:pt x="1212454" y="18288"/>
                </a:cubicBezTo>
                <a:cubicBezTo>
                  <a:pt x="867236" y="12402"/>
                  <a:pt x="874382" y="15627"/>
                  <a:pt x="733535" y="18288"/>
                </a:cubicBezTo>
                <a:cubicBezTo>
                  <a:pt x="592688" y="20949"/>
                  <a:pt x="183477" y="14753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43690" y="16630"/>
                  <a:pt x="266667" y="14847"/>
                  <a:pt x="521355" y="0"/>
                </a:cubicBezTo>
                <a:cubicBezTo>
                  <a:pt x="776043" y="-14847"/>
                  <a:pt x="814491" y="-17363"/>
                  <a:pt x="1000275" y="0"/>
                </a:cubicBezTo>
                <a:cubicBezTo>
                  <a:pt x="1186059" y="17363"/>
                  <a:pt x="1352504" y="-23507"/>
                  <a:pt x="1521630" y="0"/>
                </a:cubicBezTo>
                <a:cubicBezTo>
                  <a:pt x="1690756" y="23507"/>
                  <a:pt x="1889525" y="5871"/>
                  <a:pt x="2127857" y="0"/>
                </a:cubicBezTo>
                <a:cubicBezTo>
                  <a:pt x="2366189" y="-5871"/>
                  <a:pt x="2620628" y="-27997"/>
                  <a:pt x="2776520" y="0"/>
                </a:cubicBezTo>
                <a:cubicBezTo>
                  <a:pt x="2932412" y="27997"/>
                  <a:pt x="3131683" y="-25073"/>
                  <a:pt x="3467618" y="0"/>
                </a:cubicBezTo>
                <a:cubicBezTo>
                  <a:pt x="3803553" y="25073"/>
                  <a:pt x="4017371" y="3071"/>
                  <a:pt x="4243589" y="0"/>
                </a:cubicBezTo>
                <a:cubicBezTo>
                  <a:pt x="4243134" y="6162"/>
                  <a:pt x="4243492" y="11775"/>
                  <a:pt x="4243589" y="18288"/>
                </a:cubicBezTo>
                <a:cubicBezTo>
                  <a:pt x="4017834" y="-5779"/>
                  <a:pt x="3834586" y="13376"/>
                  <a:pt x="3594926" y="18288"/>
                </a:cubicBezTo>
                <a:cubicBezTo>
                  <a:pt x="3355266" y="23200"/>
                  <a:pt x="3204179" y="2869"/>
                  <a:pt x="2903827" y="18288"/>
                </a:cubicBezTo>
                <a:cubicBezTo>
                  <a:pt x="2603475" y="33707"/>
                  <a:pt x="2526187" y="46187"/>
                  <a:pt x="2212729" y="18288"/>
                </a:cubicBezTo>
                <a:cubicBezTo>
                  <a:pt x="1899271" y="-9611"/>
                  <a:pt x="1966289" y="29692"/>
                  <a:pt x="1733809" y="18288"/>
                </a:cubicBezTo>
                <a:cubicBezTo>
                  <a:pt x="1501329" y="6884"/>
                  <a:pt x="1343612" y="12492"/>
                  <a:pt x="1085146" y="18288"/>
                </a:cubicBezTo>
                <a:cubicBezTo>
                  <a:pt x="826680" y="24084"/>
                  <a:pt x="778184" y="35607"/>
                  <a:pt x="521355" y="18288"/>
                </a:cubicBezTo>
                <a:cubicBezTo>
                  <a:pt x="264526" y="969"/>
                  <a:pt x="120277" y="4268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7650CED-6E0B-9F96-73E4-B7F35ABF3A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54220" y="2701786"/>
            <a:ext cx="6251110" cy="3483864"/>
          </a:xfrm>
        </p:spPr>
        <p:txBody>
          <a:bodyPr>
            <a:normAutofit fontScale="55000" lnSpcReduction="20000"/>
          </a:bodyPr>
          <a:lstStyle/>
          <a:p>
            <a:r>
              <a:rPr lang="hu-HU" b="1" dirty="0"/>
              <a:t>1999. </a:t>
            </a:r>
            <a:r>
              <a:rPr lang="hu-HU" b="1" dirty="0" err="1"/>
              <a:t>Avandia</a:t>
            </a:r>
            <a:r>
              <a:rPr lang="hu-HU" b="1" dirty="0"/>
              <a:t> (</a:t>
            </a:r>
            <a:r>
              <a:rPr lang="hu-HU" b="1" dirty="0" err="1"/>
              <a:t>roziglitazon</a:t>
            </a:r>
            <a:r>
              <a:rPr lang="hu-HU" b="1" dirty="0"/>
              <a:t>)</a:t>
            </a:r>
          </a:p>
          <a:p>
            <a:pPr lvl="1"/>
            <a:r>
              <a:rPr lang="hu-HU" dirty="0"/>
              <a:t>Inzulin érzékenyítő, jelentős HbA1c csökkentés 1-1.5%</a:t>
            </a:r>
          </a:p>
          <a:p>
            <a:pPr lvl="1"/>
            <a:r>
              <a:rPr lang="hu-HU" dirty="0"/>
              <a:t>a GSK második </a:t>
            </a:r>
            <a:r>
              <a:rPr lang="hu-HU" dirty="0" err="1"/>
              <a:t>legprofitábilisabb</a:t>
            </a:r>
            <a:r>
              <a:rPr lang="hu-HU" dirty="0"/>
              <a:t> gyógyszere (1999-2006)</a:t>
            </a:r>
          </a:p>
          <a:p>
            <a:r>
              <a:rPr lang="hu-HU" b="1" dirty="0"/>
              <a:t>2007. Dr. Steven </a:t>
            </a:r>
            <a:r>
              <a:rPr lang="hu-HU" b="1" dirty="0" err="1"/>
              <a:t>Nissen</a:t>
            </a:r>
            <a:r>
              <a:rPr lang="hu-HU" b="1" dirty="0"/>
              <a:t> és </a:t>
            </a:r>
            <a:r>
              <a:rPr lang="hu-HU" b="1" dirty="0" err="1"/>
              <a:t>mtsai</a:t>
            </a:r>
            <a:r>
              <a:rPr lang="hu-HU" b="1" dirty="0"/>
              <a:t> </a:t>
            </a:r>
            <a:r>
              <a:rPr lang="hu-HU" dirty="0"/>
              <a:t>retrospektív </a:t>
            </a:r>
            <a:r>
              <a:rPr lang="hu-HU" dirty="0" err="1"/>
              <a:t>metaanalízise</a:t>
            </a:r>
            <a:endParaRPr lang="hu-HU" dirty="0"/>
          </a:p>
          <a:p>
            <a:pPr lvl="1"/>
            <a:r>
              <a:rPr lang="hu-HU" b="1" dirty="0"/>
              <a:t>43%-kal nőtt a szívinfarktus kockázata</a:t>
            </a:r>
          </a:p>
          <a:p>
            <a:pPr lvl="1"/>
            <a:r>
              <a:rPr lang="hu-HU" dirty="0"/>
              <a:t>a CV halálozás veszélye emelkedett</a:t>
            </a:r>
          </a:p>
          <a:p>
            <a:r>
              <a:rPr lang="hu-HU" b="1" dirty="0"/>
              <a:t>2010. az EMA teljesen kivonta, az FDA szigorúan korlátozta</a:t>
            </a:r>
          </a:p>
          <a:p>
            <a:r>
              <a:rPr lang="hu-HU" dirty="0"/>
              <a:t>2013. FDA-DCRI felülvizsgálat</a:t>
            </a:r>
          </a:p>
          <a:p>
            <a:pPr lvl="1"/>
            <a:r>
              <a:rPr lang="hu-HU" dirty="0"/>
              <a:t>Kevésbé drasztikus a szívinfarktus kockázat, mint amit </a:t>
            </a:r>
            <a:r>
              <a:rPr lang="hu-HU" dirty="0" err="1"/>
              <a:t>Nissenék</a:t>
            </a:r>
            <a:r>
              <a:rPr lang="hu-HU" dirty="0"/>
              <a:t> mértek</a:t>
            </a:r>
          </a:p>
          <a:p>
            <a:pPr lvl="1"/>
            <a:r>
              <a:rPr lang="hu-HU" b="1" dirty="0"/>
              <a:t>De fokozott a szívelégtelenség kockázata</a:t>
            </a:r>
          </a:p>
          <a:p>
            <a:pPr marL="0" indent="0">
              <a:buNone/>
            </a:pPr>
            <a:endParaRPr lang="hu-HU" dirty="0"/>
          </a:p>
          <a:p>
            <a:pPr marL="0" indent="0">
              <a:buNone/>
            </a:pPr>
            <a:r>
              <a:rPr lang="hu-HU" b="1" dirty="0"/>
              <a:t>FDA, EMA: </a:t>
            </a:r>
            <a:r>
              <a:rPr lang="hu-HU" b="1" dirty="0" err="1"/>
              <a:t>antidiabetikumoknál</a:t>
            </a:r>
            <a:r>
              <a:rPr lang="hu-HU" b="1" dirty="0"/>
              <a:t> CV biztonságossági vizsgálat kell!</a:t>
            </a:r>
          </a:p>
          <a:p>
            <a:r>
              <a:rPr lang="hu-HU" dirty="0"/>
              <a:t>Az SGLT2 gátlók és GLP1 agonisták korszaka ennek köszönhető</a:t>
            </a:r>
          </a:p>
        </p:txBody>
      </p:sp>
      <p:sp>
        <p:nvSpPr>
          <p:cNvPr id="7" name="Szövegdoboz 6">
            <a:extLst>
              <a:ext uri="{FF2B5EF4-FFF2-40B4-BE49-F238E27FC236}">
                <a16:creationId xmlns:a16="http://schemas.microsoft.com/office/drawing/2014/main" id="{ACB27C2D-0074-E83D-2758-558F1684BA14}"/>
              </a:ext>
            </a:extLst>
          </p:cNvPr>
          <p:cNvSpPr txBox="1"/>
          <p:nvPr/>
        </p:nvSpPr>
        <p:spPr>
          <a:xfrm>
            <a:off x="77411" y="5903893"/>
            <a:ext cx="316895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Dr. Steven Nissen,</a:t>
            </a:r>
            <a:br>
              <a:rPr lang="en-US" sz="2400" b="1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400" b="1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Cleveland Clinic</a:t>
            </a:r>
            <a:endParaRPr lang="hu-HU" sz="2400" b="1" dirty="0">
              <a:solidFill>
                <a:schemeClr val="bg1"/>
              </a:solidFill>
              <a:effectLst>
                <a:outerShdw blurRad="50800" dist="38100" dir="2700000" algn="tl" rotWithShape="0">
                  <a:prstClr val="black"/>
                </a:outerShdw>
              </a:effectLs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7783431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D1D34770-47A8-402C-AF23-2B653F2D88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48AF93B0-FFAB-DE79-22C6-9056236ECB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6679" y="376568"/>
            <a:ext cx="6002110" cy="750483"/>
          </a:xfrm>
        </p:spPr>
        <p:txBody>
          <a:bodyPr>
            <a:normAutofit fontScale="90000"/>
          </a:bodyPr>
          <a:lstStyle/>
          <a:p>
            <a:r>
              <a:rPr lang="hu-HU" sz="4000" b="1" dirty="0"/>
              <a:t>A </a:t>
            </a:r>
            <a:r>
              <a:rPr lang="hu-HU" sz="4000" b="1" dirty="0" err="1"/>
              <a:t>sztatin</a:t>
            </a:r>
            <a:r>
              <a:rPr lang="hu-HU" sz="4000" b="1" dirty="0"/>
              <a:t> vita (2013-2014)</a:t>
            </a:r>
            <a:endParaRPr lang="hu-HU" sz="4000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17933B7-F163-5AEB-228D-6549C1673A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6680" y="1233378"/>
            <a:ext cx="6002110" cy="51603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hu-HU" sz="1800" b="1" dirty="0" err="1"/>
              <a:t>Abramson</a:t>
            </a:r>
            <a:r>
              <a:rPr lang="hu-HU" sz="1800" b="1" dirty="0"/>
              <a:t> és </a:t>
            </a:r>
            <a:r>
              <a:rPr lang="hu-HU" sz="1800" b="1" dirty="0" err="1"/>
              <a:t>mtsai</a:t>
            </a:r>
            <a:br>
              <a:rPr lang="hu-HU" sz="1800" b="1" dirty="0"/>
            </a:br>
            <a:r>
              <a:rPr lang="hu-HU" sz="1800" dirty="0"/>
              <a:t>Kell-e </a:t>
            </a:r>
            <a:r>
              <a:rPr lang="hu-HU" sz="1800" dirty="0" err="1"/>
              <a:t>sztatint</a:t>
            </a:r>
            <a:r>
              <a:rPr lang="hu-HU" sz="1800" dirty="0"/>
              <a:t> szedniük az alacsony kardiovaszkuláris kockázatú embereknek? (BMJ, 2013.10)</a:t>
            </a:r>
          </a:p>
          <a:p>
            <a:pPr marL="0" indent="0">
              <a:buNone/>
            </a:pPr>
            <a:endParaRPr lang="hu-HU" sz="2000" b="1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3868BCA9-D7B5-2CDF-C1D4-7CE64914E0D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67" r="1967"/>
          <a:stretch>
            <a:fillRect/>
          </a:stretch>
        </p:blipFill>
        <p:spPr>
          <a:xfrm>
            <a:off x="7199440" y="10"/>
            <a:ext cx="4992560" cy="6857990"/>
          </a:xfrm>
          <a:prstGeom prst="rect">
            <a:avLst/>
          </a:prstGeom>
          <a:effectLst/>
        </p:spPr>
      </p:pic>
      <p:sp>
        <p:nvSpPr>
          <p:cNvPr id="6" name="Szövegdoboz 5">
            <a:extLst>
              <a:ext uri="{FF2B5EF4-FFF2-40B4-BE49-F238E27FC236}">
                <a16:creationId xmlns:a16="http://schemas.microsoft.com/office/drawing/2014/main" id="{AA39635C-6672-5528-BB03-627EA6A92541}"/>
              </a:ext>
            </a:extLst>
          </p:cNvPr>
          <p:cNvSpPr txBox="1"/>
          <p:nvPr/>
        </p:nvSpPr>
        <p:spPr>
          <a:xfrm>
            <a:off x="9019999" y="5836160"/>
            <a:ext cx="31689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Dr. </a:t>
            </a:r>
            <a:r>
              <a:rPr lang="hu-HU" sz="2000" b="1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John </a:t>
            </a:r>
            <a:r>
              <a:rPr lang="hu-HU" sz="2000" b="1" dirty="0" err="1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Abramson</a:t>
            </a:r>
            <a:r>
              <a:rPr lang="en-US" sz="2000" b="1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,</a:t>
            </a:r>
            <a:br>
              <a:rPr lang="en-US" sz="2000" b="1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hu-HU" sz="2000" b="1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Harvard </a:t>
            </a:r>
            <a:r>
              <a:rPr lang="hu-HU" sz="2000" b="1" dirty="0" err="1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Med</a:t>
            </a:r>
            <a:r>
              <a:rPr lang="hu-HU" sz="2000" b="1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hu-HU" sz="2000" b="1" dirty="0" err="1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School</a:t>
            </a:r>
            <a:endParaRPr lang="hu-HU" sz="2000" b="1" dirty="0">
              <a:solidFill>
                <a:schemeClr val="bg1"/>
              </a:solidFill>
              <a:effectLst>
                <a:outerShdw blurRad="50800" dist="38100" dir="2700000" algn="tl" rotWithShape="0">
                  <a:prstClr val="black"/>
                </a:outerShdw>
              </a:effectLs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7" name="Táblázat 6">
            <a:extLst>
              <a:ext uri="{FF2B5EF4-FFF2-40B4-BE49-F238E27FC236}">
                <a16:creationId xmlns:a16="http://schemas.microsoft.com/office/drawing/2014/main" id="{99AC470C-6C09-32CA-B450-0A7BD24A68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871535"/>
              </p:ext>
            </p:extLst>
          </p:nvPr>
        </p:nvGraphicFramePr>
        <p:xfrm>
          <a:off x="833631" y="2165244"/>
          <a:ext cx="6002110" cy="42284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01055">
                  <a:extLst>
                    <a:ext uri="{9D8B030D-6E8A-4147-A177-3AD203B41FA5}">
                      <a16:colId xmlns:a16="http://schemas.microsoft.com/office/drawing/2014/main" val="3762352695"/>
                    </a:ext>
                  </a:extLst>
                </a:gridCol>
                <a:gridCol w="3001055">
                  <a:extLst>
                    <a:ext uri="{9D8B030D-6E8A-4147-A177-3AD203B41FA5}">
                      <a16:colId xmlns:a16="http://schemas.microsoft.com/office/drawing/2014/main" val="1041517371"/>
                    </a:ext>
                  </a:extLst>
                </a:gridCol>
              </a:tblGrid>
              <a:tr h="393346">
                <a:tc>
                  <a:txBody>
                    <a:bodyPr/>
                    <a:lstStyle/>
                    <a:p>
                      <a:pPr algn="ctr"/>
                      <a:r>
                        <a:rPr lang="hu-HU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Abramson</a:t>
                      </a:r>
                      <a:r>
                        <a:rPr lang="hu-H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2013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7977016"/>
                  </a:ext>
                </a:extLst>
              </a:tr>
              <a:tr h="1278374">
                <a:tc>
                  <a:txBody>
                    <a:bodyPr/>
                    <a:lstStyle/>
                    <a:p>
                      <a:r>
                        <a:rPr lang="hu-HU" sz="1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Alacsony</a:t>
                      </a:r>
                      <a:r>
                        <a:rPr lang="hu-HU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szív-érrendszeri </a:t>
                      </a:r>
                      <a:r>
                        <a:rPr lang="hu-HU" sz="1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kockázatnál</a:t>
                      </a:r>
                      <a:r>
                        <a:rPr lang="hu-HU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hu-HU" sz="1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nem csökken </a:t>
                      </a:r>
                      <a:r>
                        <a:rPr lang="hu-HU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szignifikánsan </a:t>
                      </a:r>
                      <a:r>
                        <a:rPr lang="hu-HU" sz="1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az </a:t>
                      </a:r>
                      <a:r>
                        <a:rPr lang="hu-HU" sz="1600" b="1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összhalálozás</a:t>
                      </a:r>
                      <a:r>
                        <a:rPr lang="hu-HU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(5 év alatt)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hu-HU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Hosszú távon mindenkinél van </a:t>
                      </a:r>
                      <a:r>
                        <a:rPr lang="hu-HU" sz="1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eseménycsökkenés</a:t>
                      </a:r>
                      <a:r>
                        <a:rPr lang="hu-HU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– kérdés ennek </a:t>
                      </a:r>
                      <a:r>
                        <a:rPr lang="hu-HU" sz="1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mértéke </a:t>
                      </a:r>
                      <a:r>
                        <a:rPr lang="hu-HU" sz="1600" b="1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vs</a:t>
                      </a:r>
                      <a:r>
                        <a:rPr lang="hu-HU" sz="1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tartós gyógyszerszedés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8876416"/>
                  </a:ext>
                </a:extLst>
              </a:tr>
              <a:tr h="1868392">
                <a:tc>
                  <a:txBody>
                    <a:bodyPr/>
                    <a:lstStyle/>
                    <a:p>
                      <a:r>
                        <a:rPr lang="hu-HU" sz="1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Gyakori mellékhatások</a:t>
                      </a:r>
                      <a:br>
                        <a:rPr lang="hu-HU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hu-HU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- 2013. </a:t>
                      </a:r>
                      <a:r>
                        <a:rPr lang="hu-HU" sz="1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18-20%</a:t>
                      </a:r>
                    </a:p>
                    <a:p>
                      <a:r>
                        <a:rPr lang="hu-HU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 </a:t>
                      </a:r>
                      <a:r>
                        <a:rPr lang="hu-HU" sz="1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2014-ben visszavonta, mert hibásan értékelte </a:t>
                      </a:r>
                      <a:r>
                        <a:rPr lang="hu-HU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 </a:t>
                      </a:r>
                      <a:r>
                        <a:rPr lang="hu-HU" sz="1600" b="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Zhang</a:t>
                      </a:r>
                      <a:r>
                        <a:rPr lang="hu-HU" sz="1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hu-HU" sz="1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vizsgálat</a:t>
                      </a:r>
                      <a:r>
                        <a:rPr lang="hu-HU" sz="1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hu-HU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adatait (a betegek 92.2%-a másik </a:t>
                      </a:r>
                      <a:r>
                        <a:rPr lang="hu-HU" sz="16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sztatinnal</a:t>
                      </a:r>
                      <a:r>
                        <a:rPr lang="hu-HU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jól kezelhető volt)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hu-HU" sz="1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Ritka mellékhatások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hu-HU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Dózistól függően </a:t>
                      </a:r>
                      <a:r>
                        <a:rPr lang="hu-HU" sz="1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0.5-10%</a:t>
                      </a:r>
                      <a:r>
                        <a:rPr lang="hu-HU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-ban fordulnak elő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hu-HU" sz="1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&gt;90%-ban </a:t>
                      </a:r>
                      <a:r>
                        <a:rPr lang="hu-HU" sz="1600" b="1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nocebo</a:t>
                      </a:r>
                      <a:r>
                        <a:rPr lang="hu-HU" sz="1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hatás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hu-HU" sz="1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Súlyos mellékhatások rendkívül ritkák</a:t>
                      </a:r>
                      <a:br>
                        <a:rPr lang="hu-HU" sz="1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hu-HU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(1:10.000 – 1:100.000)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2072911"/>
                  </a:ext>
                </a:extLst>
              </a:tr>
              <a:tr h="688355">
                <a:tc>
                  <a:txBody>
                    <a:bodyPr/>
                    <a:lstStyle/>
                    <a:p>
                      <a:r>
                        <a:rPr lang="hu-HU" sz="1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Iparági elfogultság, titkos vizsgálati adatok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hu-HU" sz="1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Trend a nyers adatok nyilvánosságának igényére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3183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6239821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D575996-C986-8A88-DDDC-65F2129FD6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CC659A79-6A36-FB83-CEA7-C4C0DD56D2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F7B8FE6A-F2A5-F608-F460-9BCEB325AA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6679" y="376568"/>
            <a:ext cx="6002110" cy="750483"/>
          </a:xfrm>
        </p:spPr>
        <p:txBody>
          <a:bodyPr>
            <a:normAutofit fontScale="90000"/>
          </a:bodyPr>
          <a:lstStyle/>
          <a:p>
            <a:r>
              <a:rPr lang="hu-HU" sz="4000" b="1" dirty="0"/>
              <a:t>A </a:t>
            </a:r>
            <a:r>
              <a:rPr lang="hu-HU" sz="4000" b="1" dirty="0" err="1"/>
              <a:t>sztatin</a:t>
            </a:r>
            <a:r>
              <a:rPr lang="hu-HU" sz="4000" b="1" dirty="0"/>
              <a:t> vita (2013-2014)</a:t>
            </a:r>
            <a:endParaRPr lang="hu-HU" sz="4000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F117C46-5D76-6816-0623-3CAFEAF7AB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6680" y="1233378"/>
            <a:ext cx="6002110" cy="51603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hu-HU" sz="1800" b="1" dirty="0" err="1"/>
              <a:t>Malhotra</a:t>
            </a:r>
            <a:r>
              <a:rPr lang="hu-HU" sz="1800" b="1" dirty="0"/>
              <a:t> véleménycikk</a:t>
            </a:r>
            <a:br>
              <a:rPr lang="hu-HU" sz="1800" b="1" dirty="0"/>
            </a:br>
            <a:r>
              <a:rPr lang="hu-HU" sz="1800" dirty="0"/>
              <a:t>Nem a telített zsír a fő probléma (BMJ, 2013.10)</a:t>
            </a:r>
          </a:p>
          <a:p>
            <a:pPr marL="0" indent="0">
              <a:buNone/>
            </a:pPr>
            <a:endParaRPr lang="hu-HU" sz="2000" b="1" dirty="0"/>
          </a:p>
        </p:txBody>
      </p:sp>
      <p:graphicFrame>
        <p:nvGraphicFramePr>
          <p:cNvPr id="7" name="Táblázat 6">
            <a:extLst>
              <a:ext uri="{FF2B5EF4-FFF2-40B4-BE49-F238E27FC236}">
                <a16:creationId xmlns:a16="http://schemas.microsoft.com/office/drawing/2014/main" id="{D5BC74FD-17C3-58AE-D756-6C3826F1C1D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8710560"/>
              </p:ext>
            </p:extLst>
          </p:nvPr>
        </p:nvGraphicFramePr>
        <p:xfrm>
          <a:off x="833631" y="2165244"/>
          <a:ext cx="6002110" cy="414238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01055">
                  <a:extLst>
                    <a:ext uri="{9D8B030D-6E8A-4147-A177-3AD203B41FA5}">
                      <a16:colId xmlns:a16="http://schemas.microsoft.com/office/drawing/2014/main" val="3762352695"/>
                    </a:ext>
                  </a:extLst>
                </a:gridCol>
                <a:gridCol w="3001055">
                  <a:extLst>
                    <a:ext uri="{9D8B030D-6E8A-4147-A177-3AD203B41FA5}">
                      <a16:colId xmlns:a16="http://schemas.microsoft.com/office/drawing/2014/main" val="1041517371"/>
                    </a:ext>
                  </a:extLst>
                </a:gridCol>
              </a:tblGrid>
              <a:tr h="393346">
                <a:tc>
                  <a:txBody>
                    <a:bodyPr/>
                    <a:lstStyle/>
                    <a:p>
                      <a:pPr algn="ctr"/>
                      <a:r>
                        <a:rPr lang="hu-HU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Malhotra</a:t>
                      </a:r>
                      <a:r>
                        <a:rPr lang="hu-H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2013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7977016"/>
                  </a:ext>
                </a:extLst>
              </a:tr>
              <a:tr h="1278374">
                <a:tc>
                  <a:txBody>
                    <a:bodyPr/>
                    <a:lstStyle/>
                    <a:p>
                      <a:r>
                        <a:rPr lang="hu-H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 </a:t>
                      </a:r>
                      <a:r>
                        <a:rPr lang="hu-HU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cukor és finomított szénhidrátok</a:t>
                      </a:r>
                      <a:r>
                        <a:rPr lang="hu-H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metabolikus szindróma járványhoz vezettek – </a:t>
                      </a:r>
                      <a:r>
                        <a:rPr lang="hu-HU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érelmeszesedés</a:t>
                      </a:r>
                      <a:r>
                        <a:rPr lang="hu-H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!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hu-H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Igaz. Alapvető </a:t>
                      </a:r>
                      <a:r>
                        <a:rPr lang="hu-HU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 hozzáadott cukrok csökkentése</a:t>
                      </a:r>
                      <a:r>
                        <a:rPr lang="hu-H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a </a:t>
                      </a:r>
                      <a:r>
                        <a:rPr lang="hu-HU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kardio</a:t>
                      </a:r>
                      <a:r>
                        <a:rPr lang="hu-H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  <a:r>
                        <a:rPr lang="hu-HU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renális</a:t>
                      </a:r>
                      <a:r>
                        <a:rPr lang="hu-H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-metabolikus szindróma kezelésében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8876416"/>
                  </a:ext>
                </a:extLst>
              </a:tr>
              <a:tr h="1868392">
                <a:tc>
                  <a:txBody>
                    <a:bodyPr/>
                    <a:lstStyle/>
                    <a:p>
                      <a:r>
                        <a:rPr lang="hu-H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 telített zsírok fogyasztása és a szívbetegségek közötti kapcsolat mítosz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hu-H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 telített zsír-savak korlátozása és telítetlen zsírsavakra váltása (halak, dió, lenmag, olíva / napraforgóolaj, avokádó) csökkenti az LDL-t, mely </a:t>
                      </a:r>
                      <a:r>
                        <a:rPr lang="hu-HU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az érelmeszesedés egyik fontos oki tényezője</a:t>
                      </a:r>
                      <a:r>
                        <a:rPr lang="hu-H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2072911"/>
                  </a:ext>
                </a:extLst>
              </a:tr>
            </a:tbl>
          </a:graphicData>
        </a:graphic>
      </p:graphicFrame>
      <p:pic>
        <p:nvPicPr>
          <p:cNvPr id="11" name="Kép 10">
            <a:extLst>
              <a:ext uri="{FF2B5EF4-FFF2-40B4-BE49-F238E27FC236}">
                <a16:creationId xmlns:a16="http://schemas.microsoft.com/office/drawing/2014/main" id="{0B3DE82F-9323-6BD5-CB81-E104B17651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34590" y="-12697"/>
            <a:ext cx="5154361" cy="6879951"/>
          </a:xfrm>
          <a:prstGeom prst="rect">
            <a:avLst/>
          </a:prstGeom>
        </p:spPr>
      </p:pic>
      <p:sp>
        <p:nvSpPr>
          <p:cNvPr id="12" name="Szövegdoboz 11">
            <a:extLst>
              <a:ext uri="{FF2B5EF4-FFF2-40B4-BE49-F238E27FC236}">
                <a16:creationId xmlns:a16="http://schemas.microsoft.com/office/drawing/2014/main" id="{7F087D6B-7B53-8041-A090-393A44B057BB}"/>
              </a:ext>
            </a:extLst>
          </p:cNvPr>
          <p:cNvSpPr txBox="1"/>
          <p:nvPr/>
        </p:nvSpPr>
        <p:spPr>
          <a:xfrm>
            <a:off x="9172399" y="5988560"/>
            <a:ext cx="31689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ln w="19050"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Dr. </a:t>
            </a:r>
            <a:r>
              <a:rPr lang="hu-HU" sz="2000" b="1" dirty="0" err="1">
                <a:ln w="19050"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Aseem</a:t>
            </a:r>
            <a:r>
              <a:rPr lang="hu-HU" sz="2000" b="1" dirty="0">
                <a:ln w="19050"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u-HU" sz="2000" b="1" dirty="0" err="1">
                <a:ln w="19050"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Malhotra</a:t>
            </a:r>
            <a:r>
              <a:rPr lang="en-US" sz="2000" b="1" dirty="0">
                <a:ln w="19050"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,</a:t>
            </a:r>
            <a:br>
              <a:rPr lang="en-US" sz="2000" b="1" dirty="0">
                <a:ln w="19050"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hu-HU" sz="2000" b="1" dirty="0">
                <a:ln w="19050"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Croydon </a:t>
            </a:r>
            <a:r>
              <a:rPr lang="hu-HU" sz="2000" b="1" dirty="0" err="1">
                <a:ln w="19050"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Univ</a:t>
            </a:r>
            <a:r>
              <a:rPr lang="hu-HU" sz="2000" b="1" dirty="0">
                <a:ln w="19050"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hu-HU" sz="2000" b="1" dirty="0" err="1">
                <a:ln w="19050"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Hosp</a:t>
            </a:r>
            <a:r>
              <a:rPr lang="hu-HU" sz="2000" b="1" dirty="0">
                <a:ln w="19050"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766472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FDDC8EA-0133-9CCE-D351-7E83518BE4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DEABE4D7-6E78-55D7-EF17-DF525BCFEC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2936560A-21B9-2602-AC6C-28CE1C17A2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6679" y="376568"/>
            <a:ext cx="6002110" cy="750483"/>
          </a:xfrm>
        </p:spPr>
        <p:txBody>
          <a:bodyPr>
            <a:normAutofit fontScale="90000"/>
          </a:bodyPr>
          <a:lstStyle/>
          <a:p>
            <a:r>
              <a:rPr lang="hu-HU" sz="4000" b="1" dirty="0"/>
              <a:t>A </a:t>
            </a:r>
            <a:r>
              <a:rPr lang="hu-HU" sz="4000" b="1" dirty="0" err="1"/>
              <a:t>sztatin</a:t>
            </a:r>
            <a:r>
              <a:rPr lang="hu-HU" sz="4000" b="1" dirty="0"/>
              <a:t> vita (2013-2014)</a:t>
            </a:r>
            <a:endParaRPr lang="hu-HU" sz="4000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2C210488-AA74-FBD3-71F6-5F1119B2DF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6680" y="1233378"/>
            <a:ext cx="6002110" cy="51603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hu-HU" sz="1800" b="1" dirty="0" err="1"/>
              <a:t>Malhotra</a:t>
            </a:r>
            <a:r>
              <a:rPr lang="hu-HU" sz="1800" b="1" dirty="0"/>
              <a:t> véleménycikk</a:t>
            </a:r>
            <a:br>
              <a:rPr lang="hu-HU" sz="1800" b="1" dirty="0"/>
            </a:br>
            <a:r>
              <a:rPr lang="hu-HU" sz="1800" dirty="0"/>
              <a:t>Nem a telített zsír a fő probléma (BMJ, 2013.10)</a:t>
            </a:r>
          </a:p>
          <a:p>
            <a:pPr marL="0" indent="0">
              <a:buNone/>
            </a:pPr>
            <a:endParaRPr lang="hu-HU" sz="2000" b="1" dirty="0"/>
          </a:p>
        </p:txBody>
      </p:sp>
      <p:graphicFrame>
        <p:nvGraphicFramePr>
          <p:cNvPr id="7" name="Táblázat 6">
            <a:extLst>
              <a:ext uri="{FF2B5EF4-FFF2-40B4-BE49-F238E27FC236}">
                <a16:creationId xmlns:a16="http://schemas.microsoft.com/office/drawing/2014/main" id="{27E22B3A-48F0-D61B-80F9-1DDE398543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20575969"/>
              </p:ext>
            </p:extLst>
          </p:nvPr>
        </p:nvGraphicFramePr>
        <p:xfrm>
          <a:off x="836679" y="1953778"/>
          <a:ext cx="6002110" cy="44666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01055">
                  <a:extLst>
                    <a:ext uri="{9D8B030D-6E8A-4147-A177-3AD203B41FA5}">
                      <a16:colId xmlns:a16="http://schemas.microsoft.com/office/drawing/2014/main" val="3762352695"/>
                    </a:ext>
                  </a:extLst>
                </a:gridCol>
                <a:gridCol w="3001055">
                  <a:extLst>
                    <a:ext uri="{9D8B030D-6E8A-4147-A177-3AD203B41FA5}">
                      <a16:colId xmlns:a16="http://schemas.microsoft.com/office/drawing/2014/main" val="1041517371"/>
                    </a:ext>
                  </a:extLst>
                </a:gridCol>
              </a:tblGrid>
              <a:tr h="343719">
                <a:tc>
                  <a:txBody>
                    <a:bodyPr/>
                    <a:lstStyle/>
                    <a:p>
                      <a:pPr algn="ctr"/>
                      <a:r>
                        <a:rPr lang="hu-HU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Malhotra</a:t>
                      </a:r>
                      <a:r>
                        <a:rPr lang="hu-H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2013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7977016"/>
                  </a:ext>
                </a:extLst>
              </a:tr>
              <a:tr h="2663821">
                <a:tc>
                  <a:txBody>
                    <a:bodyPr/>
                    <a:lstStyle/>
                    <a:p>
                      <a:r>
                        <a:rPr lang="hu-HU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 szívinfarktussal kórházba kerülő betegek 75%-</a:t>
                      </a:r>
                      <a:r>
                        <a:rPr lang="hu-HU" sz="16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nak</a:t>
                      </a:r>
                      <a:r>
                        <a:rPr lang="hu-HU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teljesen normális a koleszterinszintje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hu-HU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 </a:t>
                      </a:r>
                      <a:r>
                        <a:rPr lang="hu-HU" sz="1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2009-es UCLA tanulmány </a:t>
                      </a:r>
                      <a:r>
                        <a:rPr lang="hu-HU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idején még lényegesen magasabbak voltak az optimálisnak tartott célértékek. </a:t>
                      </a:r>
                      <a:r>
                        <a:rPr lang="hu-HU" sz="1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 szerzők a látottak alapján az akkori LDL célértékek szigorítását javasolták. Optimális LDL+HDL</a:t>
                      </a:r>
                      <a:r>
                        <a:rPr lang="hu-HU" sz="1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csak </a:t>
                      </a:r>
                      <a:r>
                        <a:rPr lang="hu-HU" sz="1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 betegek 1.4%-</a:t>
                      </a:r>
                      <a:r>
                        <a:rPr lang="hu-HU" sz="1600" b="1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ánál</a:t>
                      </a:r>
                      <a:r>
                        <a:rPr lang="hu-HU" sz="1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volt</a:t>
                      </a:r>
                      <a:r>
                        <a:rPr lang="hu-HU" sz="1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jelen. Továbbá léteznek LDL-</a:t>
                      </a:r>
                      <a:r>
                        <a:rPr lang="hu-HU" sz="1600" b="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től</a:t>
                      </a:r>
                      <a:r>
                        <a:rPr lang="hu-HU" sz="16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független, ritkább faktorok is.</a:t>
                      </a:r>
                      <a:endParaRPr lang="hu-HU" sz="1600" b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8876416"/>
                  </a:ext>
                </a:extLst>
              </a:tr>
              <a:tr h="13272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hu-HU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 </a:t>
                      </a:r>
                      <a:r>
                        <a:rPr lang="hu-HU" sz="16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sztatinoknak</a:t>
                      </a:r>
                      <a:r>
                        <a:rPr lang="hu-HU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20%-os mellékhatás aránya van (szintén a </a:t>
                      </a:r>
                      <a:r>
                        <a:rPr lang="hu-HU" sz="1600" b="1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Zhang</a:t>
                      </a:r>
                      <a:r>
                        <a:rPr lang="hu-HU" sz="1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tanulmányra</a:t>
                      </a:r>
                      <a:r>
                        <a:rPr lang="hu-HU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hivatkozva)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hu-HU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2014-ben </a:t>
                      </a:r>
                      <a:r>
                        <a:rPr lang="hu-HU" sz="1600" b="1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Malhotra</a:t>
                      </a:r>
                      <a:r>
                        <a:rPr lang="hu-HU" sz="1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hivatalosan helyesbített</a:t>
                      </a:r>
                      <a:r>
                        <a:rPr lang="hu-HU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ugyanúgy, mint </a:t>
                      </a:r>
                      <a:r>
                        <a:rPr lang="hu-HU" sz="16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Abramsonék</a:t>
                      </a:r>
                      <a:endParaRPr lang="hu-HU" sz="16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2072911"/>
                  </a:ext>
                </a:extLst>
              </a:tr>
            </a:tbl>
          </a:graphicData>
        </a:graphic>
      </p:graphicFrame>
      <p:pic>
        <p:nvPicPr>
          <p:cNvPr id="11" name="Kép 10">
            <a:extLst>
              <a:ext uri="{FF2B5EF4-FFF2-40B4-BE49-F238E27FC236}">
                <a16:creationId xmlns:a16="http://schemas.microsoft.com/office/drawing/2014/main" id="{EE7852F4-4F78-DEFB-8762-32DFA3C83E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34590" y="-12697"/>
            <a:ext cx="5154361" cy="6879951"/>
          </a:xfrm>
          <a:prstGeom prst="rect">
            <a:avLst/>
          </a:prstGeom>
        </p:spPr>
      </p:pic>
      <p:sp>
        <p:nvSpPr>
          <p:cNvPr id="9" name="Szövegdoboz 8">
            <a:extLst>
              <a:ext uri="{FF2B5EF4-FFF2-40B4-BE49-F238E27FC236}">
                <a16:creationId xmlns:a16="http://schemas.microsoft.com/office/drawing/2014/main" id="{7F087D6B-7B53-8041-A090-393A44B057BB}"/>
              </a:ext>
            </a:extLst>
          </p:cNvPr>
          <p:cNvSpPr txBox="1"/>
          <p:nvPr/>
        </p:nvSpPr>
        <p:spPr>
          <a:xfrm>
            <a:off x="9172399" y="5988560"/>
            <a:ext cx="31689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ln w="19050"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Dr. </a:t>
            </a:r>
            <a:r>
              <a:rPr lang="hu-HU" sz="2000" b="1" dirty="0" err="1">
                <a:ln w="19050"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Aseem</a:t>
            </a:r>
            <a:r>
              <a:rPr lang="hu-HU" sz="2000" b="1" dirty="0">
                <a:ln w="19050"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u-HU" sz="2000" b="1" dirty="0" err="1">
                <a:ln w="19050"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Malhotra</a:t>
            </a:r>
            <a:r>
              <a:rPr lang="en-US" sz="2000" b="1" dirty="0">
                <a:ln w="19050"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,</a:t>
            </a:r>
            <a:br>
              <a:rPr lang="en-US" sz="2000" b="1" dirty="0">
                <a:ln w="19050"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hu-HU" sz="2000" b="1" dirty="0">
                <a:ln w="19050"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Croydon </a:t>
            </a:r>
            <a:r>
              <a:rPr lang="hu-HU" sz="2000" b="1" dirty="0" err="1">
                <a:ln w="19050"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Univ</a:t>
            </a:r>
            <a:r>
              <a:rPr lang="hu-HU" sz="2000" b="1" dirty="0">
                <a:ln w="19050"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hu-HU" sz="2000" b="1" dirty="0" err="1">
                <a:ln w="19050"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Hosp</a:t>
            </a:r>
            <a:r>
              <a:rPr lang="hu-HU" sz="2000" b="1" dirty="0">
                <a:ln w="19050"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6657880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43C50AF-CDC8-1654-A12D-E79084471F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8CC2162C-3740-9B3F-AFF6-B3BA99CA12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B7FB3827-4657-349D-1D52-282BE6F854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6679" y="376568"/>
            <a:ext cx="6002110" cy="750483"/>
          </a:xfrm>
        </p:spPr>
        <p:txBody>
          <a:bodyPr>
            <a:normAutofit fontScale="90000"/>
          </a:bodyPr>
          <a:lstStyle/>
          <a:p>
            <a:r>
              <a:rPr lang="hu-HU" sz="4000" b="1" dirty="0"/>
              <a:t>A </a:t>
            </a:r>
            <a:r>
              <a:rPr lang="hu-HU" sz="4000" b="1" dirty="0" err="1"/>
              <a:t>sztatin</a:t>
            </a:r>
            <a:r>
              <a:rPr lang="hu-HU" sz="4000" b="1" dirty="0"/>
              <a:t> vita (2013-2014)</a:t>
            </a:r>
            <a:endParaRPr lang="hu-HU" sz="4000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7E695B8-A724-4D0A-E2EB-96D18A70AA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6680" y="1233378"/>
            <a:ext cx="6002110" cy="51603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hu-HU" sz="1800" b="1" dirty="0" err="1"/>
              <a:t>Malhotra</a:t>
            </a:r>
            <a:r>
              <a:rPr lang="hu-HU" sz="1800" b="1" dirty="0"/>
              <a:t> véleménycikk</a:t>
            </a:r>
            <a:br>
              <a:rPr lang="hu-HU" sz="1800" b="1" dirty="0"/>
            </a:br>
            <a:r>
              <a:rPr lang="hu-HU" sz="1800" dirty="0"/>
              <a:t>Nem a telített zsír a fő probléma (BMJ, 2013.10)</a:t>
            </a:r>
          </a:p>
          <a:p>
            <a:pPr marL="0" indent="0">
              <a:buNone/>
            </a:pPr>
            <a:endParaRPr lang="hu-HU" sz="2000" b="1" dirty="0"/>
          </a:p>
        </p:txBody>
      </p:sp>
      <p:graphicFrame>
        <p:nvGraphicFramePr>
          <p:cNvPr id="7" name="Táblázat 6">
            <a:extLst>
              <a:ext uri="{FF2B5EF4-FFF2-40B4-BE49-F238E27FC236}">
                <a16:creationId xmlns:a16="http://schemas.microsoft.com/office/drawing/2014/main" id="{A4331895-CADF-ADFE-50BB-F1AEF98B56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10813962"/>
              </p:ext>
            </p:extLst>
          </p:nvPr>
        </p:nvGraphicFramePr>
        <p:xfrm>
          <a:off x="833631" y="2165245"/>
          <a:ext cx="6002110" cy="42790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01055">
                  <a:extLst>
                    <a:ext uri="{9D8B030D-6E8A-4147-A177-3AD203B41FA5}">
                      <a16:colId xmlns:a16="http://schemas.microsoft.com/office/drawing/2014/main" val="3762352695"/>
                    </a:ext>
                  </a:extLst>
                </a:gridCol>
                <a:gridCol w="3001055">
                  <a:extLst>
                    <a:ext uri="{9D8B030D-6E8A-4147-A177-3AD203B41FA5}">
                      <a16:colId xmlns:a16="http://schemas.microsoft.com/office/drawing/2014/main" val="1041517371"/>
                    </a:ext>
                  </a:extLst>
                </a:gridCol>
              </a:tblGrid>
              <a:tr h="450431">
                <a:tc>
                  <a:txBody>
                    <a:bodyPr/>
                    <a:lstStyle/>
                    <a:p>
                      <a:pPr algn="ctr"/>
                      <a:r>
                        <a:rPr lang="hu-HU" sz="16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Malhotra</a:t>
                      </a:r>
                      <a:r>
                        <a:rPr lang="hu-HU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2013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hu-HU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7977016"/>
                  </a:ext>
                </a:extLst>
              </a:tr>
              <a:tr h="3828667">
                <a:tc>
                  <a:txBody>
                    <a:bodyPr/>
                    <a:lstStyle/>
                    <a:p>
                      <a:r>
                        <a:rPr lang="hu-HU" sz="16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Szívinfarktus után a mediterrán étrend bevezetése majdnem háromszor hatékonyabb a halálozás csökkentésében, mint a </a:t>
                      </a:r>
                      <a:r>
                        <a:rPr lang="hu-HU" sz="1600" b="0" i="0" kern="1200" dirty="0" err="1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sztatinszedés</a:t>
                      </a:r>
                      <a:r>
                        <a:rPr lang="hu-HU" sz="16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.</a:t>
                      </a:r>
                    </a:p>
                    <a:p>
                      <a:endParaRPr lang="hu-HU" sz="1600" b="0" i="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  <a:p>
                      <a:r>
                        <a:rPr lang="hu-HU" sz="1600" b="1" i="0" kern="1200" dirty="0" err="1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Sztatin</a:t>
                      </a:r>
                      <a:r>
                        <a:rPr lang="hu-HU" sz="1600" b="1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kritika: „Inkább az életmód, mint a gyógyszer…”</a:t>
                      </a:r>
                      <a:endParaRPr lang="hu-HU" sz="1600" b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hu-HU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 </a:t>
                      </a:r>
                      <a:r>
                        <a:rPr lang="hu-HU" sz="1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mediterrán étrend hatása erősen bizonyított </a:t>
                      </a:r>
                      <a:r>
                        <a:rPr lang="hu-HU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(PREDIMED, CORDIOPREV) </a:t>
                      </a:r>
                    </a:p>
                    <a:p>
                      <a:endParaRPr lang="hu-HU" sz="16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r>
                        <a:rPr lang="hu-HU" sz="1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 hatás mértéke beteg-profil függő</a:t>
                      </a:r>
                      <a:r>
                        <a:rPr lang="hu-HU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 a „3X erő” provokatív egyszerűsítés</a:t>
                      </a:r>
                    </a:p>
                    <a:p>
                      <a:endParaRPr lang="hu-HU" sz="16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r>
                        <a:rPr lang="hu-HU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 legtöbb beteg </a:t>
                      </a:r>
                      <a:r>
                        <a:rPr lang="hu-HU" sz="1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csak életmódváltással az LDL-célértéket nem képes elérni</a:t>
                      </a:r>
                      <a:br>
                        <a:rPr lang="hu-HU" sz="16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endParaRPr lang="hu-HU" sz="16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r>
                        <a:rPr lang="hu-HU" sz="16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Életmód ÉS gyógyszer!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8876416"/>
                  </a:ext>
                </a:extLst>
              </a:tr>
            </a:tbl>
          </a:graphicData>
        </a:graphic>
      </p:graphicFrame>
      <p:pic>
        <p:nvPicPr>
          <p:cNvPr id="11" name="Kép 10">
            <a:extLst>
              <a:ext uri="{FF2B5EF4-FFF2-40B4-BE49-F238E27FC236}">
                <a16:creationId xmlns:a16="http://schemas.microsoft.com/office/drawing/2014/main" id="{8FC30216-63E1-7C59-C74C-1F54FE9E01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34590" y="-12697"/>
            <a:ext cx="5154361" cy="6879951"/>
          </a:xfrm>
          <a:prstGeom prst="rect">
            <a:avLst/>
          </a:prstGeom>
        </p:spPr>
      </p:pic>
      <p:sp>
        <p:nvSpPr>
          <p:cNvPr id="9" name="Szövegdoboz 8">
            <a:extLst>
              <a:ext uri="{FF2B5EF4-FFF2-40B4-BE49-F238E27FC236}">
                <a16:creationId xmlns:a16="http://schemas.microsoft.com/office/drawing/2014/main" id="{7F087D6B-7B53-8041-A090-393A44B057BB}"/>
              </a:ext>
            </a:extLst>
          </p:cNvPr>
          <p:cNvSpPr txBox="1"/>
          <p:nvPr/>
        </p:nvSpPr>
        <p:spPr>
          <a:xfrm>
            <a:off x="9172399" y="5988560"/>
            <a:ext cx="31689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ln w="19050"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Dr. </a:t>
            </a:r>
            <a:r>
              <a:rPr lang="hu-HU" sz="2000" b="1" dirty="0" err="1">
                <a:ln w="19050"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Aseem</a:t>
            </a:r>
            <a:r>
              <a:rPr lang="hu-HU" sz="2000" b="1" dirty="0">
                <a:ln w="19050"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u-HU" sz="2000" b="1" dirty="0" err="1">
                <a:ln w="19050"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Malhotra</a:t>
            </a:r>
            <a:r>
              <a:rPr lang="en-US" sz="2000" b="1" dirty="0">
                <a:ln w="19050"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,</a:t>
            </a:r>
            <a:br>
              <a:rPr lang="en-US" sz="2000" b="1" dirty="0">
                <a:ln w="19050"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hu-HU" sz="2000" b="1" dirty="0">
                <a:ln w="19050"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Croydon </a:t>
            </a:r>
            <a:r>
              <a:rPr lang="hu-HU" sz="2000" b="1" dirty="0" err="1">
                <a:ln w="19050"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Univ</a:t>
            </a:r>
            <a:r>
              <a:rPr lang="hu-HU" sz="2000" b="1" dirty="0">
                <a:ln w="19050"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hu-HU" sz="2000" b="1" dirty="0" err="1">
                <a:ln w="19050"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Hosp</a:t>
            </a:r>
            <a:r>
              <a:rPr lang="hu-HU" sz="2000" b="1" dirty="0">
                <a:ln w="19050"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9715956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510A847-A57D-B457-340A-5299E609AE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4159B7D0-5DD8-1E1A-6235-5A127E8083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F5A87591-3FAD-5D8F-1E3C-E8EAD7D46B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6679" y="376568"/>
            <a:ext cx="6002110" cy="750483"/>
          </a:xfrm>
        </p:spPr>
        <p:txBody>
          <a:bodyPr>
            <a:normAutofit fontScale="90000"/>
          </a:bodyPr>
          <a:lstStyle/>
          <a:p>
            <a:r>
              <a:rPr lang="hu-HU" sz="4000" b="1" dirty="0"/>
              <a:t>A </a:t>
            </a:r>
            <a:r>
              <a:rPr lang="hu-HU" sz="4000" b="1" dirty="0" err="1"/>
              <a:t>sztatin</a:t>
            </a:r>
            <a:r>
              <a:rPr lang="hu-HU" sz="4000" b="1" dirty="0"/>
              <a:t> vita (2013-2014)</a:t>
            </a:r>
            <a:endParaRPr lang="hu-HU" sz="4000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45FCBAB-9038-FB52-3389-8D381D0396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6680" y="1233378"/>
            <a:ext cx="6002110" cy="51603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hu-HU" sz="1800" b="1" dirty="0" err="1"/>
              <a:t>Zhang</a:t>
            </a:r>
            <a:r>
              <a:rPr lang="hu-HU" sz="1800" b="1" dirty="0"/>
              <a:t> és </a:t>
            </a:r>
            <a:r>
              <a:rPr lang="hu-HU" sz="1800" b="1" dirty="0" err="1"/>
              <a:t>mtsai</a:t>
            </a:r>
            <a:br>
              <a:rPr lang="hu-HU" sz="1800" b="1" dirty="0"/>
            </a:br>
            <a:r>
              <a:rPr lang="hu-HU" sz="1800" dirty="0" err="1"/>
              <a:t>Sztatinterápia</a:t>
            </a:r>
            <a:r>
              <a:rPr lang="hu-HU" sz="1800" dirty="0"/>
              <a:t> megszakítása a mindennapi ellátásban (AIM, 2013.04)</a:t>
            </a:r>
          </a:p>
          <a:p>
            <a:pPr marL="0" indent="0">
              <a:buNone/>
            </a:pPr>
            <a:r>
              <a:rPr lang="hu-HU" sz="2000" b="1" dirty="0"/>
              <a:t>Hivatalosan elhatárolódtak </a:t>
            </a:r>
            <a:r>
              <a:rPr lang="hu-HU" sz="2000" b="1" dirty="0" err="1"/>
              <a:t>Abramson</a:t>
            </a:r>
            <a:r>
              <a:rPr lang="hu-HU" sz="2000" b="1" dirty="0"/>
              <a:t> és </a:t>
            </a:r>
            <a:r>
              <a:rPr lang="hu-HU" sz="2000" b="1" dirty="0" err="1"/>
              <a:t>Malhotra</a:t>
            </a:r>
            <a:r>
              <a:rPr lang="hu-HU" sz="2000" b="1" dirty="0"/>
              <a:t> „20%-os mellékhatás” interpretációjától</a:t>
            </a:r>
          </a:p>
          <a:p>
            <a:r>
              <a:rPr lang="hu-HU" sz="1800" b="1" dirty="0"/>
              <a:t>A valós mellékhatás meghatározás nem volt céljuk, </a:t>
            </a:r>
            <a:r>
              <a:rPr lang="hu-HU" sz="1800" dirty="0"/>
              <a:t>ez megfigyeléses vizsgálattal egyébként is lehetetlen.</a:t>
            </a:r>
          </a:p>
          <a:p>
            <a:r>
              <a:rPr lang="hu-HU" sz="1800" dirty="0"/>
              <a:t>Hangsúlyozták, hogy </a:t>
            </a:r>
            <a:r>
              <a:rPr lang="hu-HU" sz="1800" b="1" dirty="0"/>
              <a:t>az észlelt panaszok jelentős része nem valódi biológiai intolerancia</a:t>
            </a:r>
            <a:r>
              <a:rPr lang="hu-HU" sz="1800" dirty="0"/>
              <a:t>, hanem egyéb oka lehet </a:t>
            </a:r>
            <a:r>
              <a:rPr lang="hu-HU" sz="1800" b="1" dirty="0"/>
              <a:t>(</a:t>
            </a:r>
            <a:r>
              <a:rPr lang="hu-HU" sz="1800" b="1" dirty="0" err="1"/>
              <a:t>nocebo</a:t>
            </a:r>
            <a:r>
              <a:rPr lang="hu-HU" sz="1800" b="1" dirty="0"/>
              <a:t> hatás vagy kísérő betegségek)</a:t>
            </a:r>
            <a:endParaRPr lang="hu-HU" sz="1800" dirty="0"/>
          </a:p>
          <a:p>
            <a:r>
              <a:rPr lang="hu-HU" sz="1800" dirty="0"/>
              <a:t>Azt bizonyították a vizsgálattal, hogy a </a:t>
            </a:r>
            <a:r>
              <a:rPr lang="hu-HU" sz="1800" dirty="0" err="1"/>
              <a:t>sztatinoknak</a:t>
            </a:r>
            <a:r>
              <a:rPr lang="hu-HU" sz="1800" dirty="0"/>
              <a:t> tulajdonított panaszok ellenére </a:t>
            </a:r>
            <a:r>
              <a:rPr lang="hu-HU" sz="1800" b="1" dirty="0"/>
              <a:t>a betegek döntő többsége (92.2%) visszaállítható volt a terápiára</a:t>
            </a:r>
            <a:r>
              <a:rPr lang="hu-HU" sz="1800" dirty="0"/>
              <a:t> – ugyanazzal vagy másik hatóanyaggal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FB024531-479D-EBE4-0E2E-A5988C6C73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6857" y="0"/>
            <a:ext cx="5225143" cy="6857569"/>
          </a:xfrm>
          <a:prstGeom prst="rect">
            <a:avLst/>
          </a:prstGeom>
        </p:spPr>
      </p:pic>
      <p:sp>
        <p:nvSpPr>
          <p:cNvPr id="5" name="Szövegdoboz 4">
            <a:extLst>
              <a:ext uri="{FF2B5EF4-FFF2-40B4-BE49-F238E27FC236}">
                <a16:creationId xmlns:a16="http://schemas.microsoft.com/office/drawing/2014/main" id="{2ECBFDD3-4D7A-1B7F-2188-7FE1F4641197}"/>
              </a:ext>
            </a:extLst>
          </p:cNvPr>
          <p:cNvSpPr txBox="1"/>
          <p:nvPr/>
        </p:nvSpPr>
        <p:spPr>
          <a:xfrm>
            <a:off x="9084033" y="5931366"/>
            <a:ext cx="316895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400" b="1" dirty="0">
                <a:ln w="19050"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Dr. </a:t>
            </a:r>
            <a:r>
              <a:rPr lang="en-US" sz="2400" b="1" dirty="0" err="1">
                <a:ln w="19050"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Huabing</a:t>
            </a:r>
            <a:r>
              <a:rPr lang="en-US" sz="2400" b="1" dirty="0">
                <a:ln w="19050"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 Zhang,</a:t>
            </a:r>
            <a:br>
              <a:rPr lang="en-US" sz="2400" b="1" dirty="0">
                <a:ln w="19050"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hu-HU" sz="2400" b="1" dirty="0">
                <a:ln w="19050"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Peking Union </a:t>
            </a:r>
            <a:r>
              <a:rPr lang="hu-HU" sz="2400" b="1" dirty="0" err="1">
                <a:ln w="19050"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Univ</a:t>
            </a:r>
            <a:r>
              <a:rPr lang="hu-HU" sz="2400" b="1" dirty="0">
                <a:ln w="19050"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843412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>
            <a:extLst>
              <a:ext uri="{FF2B5EF4-FFF2-40B4-BE49-F238E27FC236}">
                <a16:creationId xmlns:a16="http://schemas.microsoft.com/office/drawing/2014/main" id="{D02E88B3-2578-AD4A-AFD3-D209C069A6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136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251DF3-AE78-99E4-6F6A-CF78E10D66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ép 3">
            <a:extLst>
              <a:ext uri="{FF2B5EF4-FFF2-40B4-BE49-F238E27FC236}">
                <a16:creationId xmlns:a16="http://schemas.microsoft.com/office/drawing/2014/main" id="{B6DB71C5-5D3F-4766-056D-EF5BFB3916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Szövegdoboz 1">
            <a:extLst>
              <a:ext uri="{FF2B5EF4-FFF2-40B4-BE49-F238E27FC236}">
                <a16:creationId xmlns:a16="http://schemas.microsoft.com/office/drawing/2014/main" id="{C7E645B5-1285-1C83-EA7B-F5C4804B77D9}"/>
              </a:ext>
            </a:extLst>
          </p:cNvPr>
          <p:cNvSpPr txBox="1"/>
          <p:nvPr/>
        </p:nvSpPr>
        <p:spPr>
          <a:xfrm>
            <a:off x="6797523" y="6058712"/>
            <a:ext cx="1681459" cy="461665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hu-HU" sz="2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1948-2021</a:t>
            </a:r>
          </a:p>
        </p:txBody>
      </p:sp>
    </p:spTree>
    <p:extLst>
      <p:ext uri="{BB962C8B-B14F-4D97-AF65-F5344CB8AC3E}">
        <p14:creationId xmlns:p14="http://schemas.microsoft.com/office/powerpoint/2010/main" val="107241543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D6C74AC-67F2-FA1B-DE69-D2225F8A84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„</a:t>
            </a:r>
            <a:r>
              <a:rPr lang="en-US" dirty="0"/>
              <a:t>Fighting to retain my medical </a:t>
            </a:r>
            <a:r>
              <a:rPr lang="en-US" dirty="0" err="1"/>
              <a:t>licence</a:t>
            </a:r>
            <a:r>
              <a:rPr lang="hu-HU" dirty="0"/>
              <a:t>”</a:t>
            </a:r>
            <a:br>
              <a:rPr lang="hu-HU" dirty="0"/>
            </a:br>
            <a:r>
              <a:rPr lang="hu-HU" dirty="0"/>
              <a:t>(</a:t>
            </a:r>
            <a:r>
              <a:rPr lang="hu-HU" dirty="0" err="1"/>
              <a:t>Aseem</a:t>
            </a:r>
            <a:r>
              <a:rPr lang="hu-HU" dirty="0"/>
              <a:t> </a:t>
            </a:r>
            <a:r>
              <a:rPr lang="hu-HU" dirty="0" err="1"/>
              <a:t>Malhotra</a:t>
            </a:r>
            <a:r>
              <a:rPr lang="hu-HU" dirty="0"/>
              <a:t>, 2026.03)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85FA6F3-360C-630F-C1F3-27E130AD7B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hu-HU" dirty="0"/>
              <a:t>2021. július 26. édesapja hirtelen szívhalálban meghal</a:t>
            </a:r>
          </a:p>
          <a:p>
            <a:pPr lvl="1"/>
            <a:r>
              <a:rPr lang="hu-HU" dirty="0"/>
              <a:t>Súlyos mellkasi fájdalomnál az (orvos) szomszédnak szóltak – 15 percen belül leállt a szíve, újraélesztést kezdtek, ekkor értesítették a mentőket</a:t>
            </a:r>
          </a:p>
          <a:p>
            <a:pPr lvl="1"/>
            <a:r>
              <a:rPr lang="hu-HU" dirty="0"/>
              <a:t>A boncolás során súlyos 2-ér betegség (90% és 95% szűkületekkel) igazolódott és szívmegnagyobbodás, de nem volt trombózisra vagy szívizomgyulladásra utaló jel</a:t>
            </a:r>
          </a:p>
          <a:p>
            <a:r>
              <a:rPr lang="hu-HU" dirty="0"/>
              <a:t>Ezt követően </a:t>
            </a:r>
            <a:r>
              <a:rPr lang="hu-HU" dirty="0" err="1"/>
              <a:t>Malhotra</a:t>
            </a:r>
            <a:r>
              <a:rPr lang="hu-HU" dirty="0"/>
              <a:t> teljesen szakított a bizonyítékokon alapuló orvoslással és azóta közéleti aktivistaként tevékenykedik</a:t>
            </a:r>
          </a:p>
          <a:p>
            <a:r>
              <a:rPr lang="hu-HU" dirty="0"/>
              <a:t>Az ESC és AHA kardiológus társaságok elhatárolódtak tőle, az állításait nem tekintik mérvadónak</a:t>
            </a:r>
          </a:p>
        </p:txBody>
      </p:sp>
    </p:spTree>
    <p:extLst>
      <p:ext uri="{BB962C8B-B14F-4D97-AF65-F5344CB8AC3E}">
        <p14:creationId xmlns:p14="http://schemas.microsoft.com/office/powerpoint/2010/main" val="408156878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DFC92E6-D73A-0F15-D6C6-EE62F509E3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„</a:t>
            </a:r>
            <a:r>
              <a:rPr lang="hu-HU" dirty="0" err="1"/>
              <a:t>Sztatinellenes</a:t>
            </a:r>
            <a:r>
              <a:rPr lang="hu-HU" dirty="0"/>
              <a:t> </a:t>
            </a:r>
            <a:r>
              <a:rPr lang="hu-HU"/>
              <a:t>influencerek”</a:t>
            </a:r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70BF686-91E4-B3F6-6BFE-B2D4CCF857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hu-HU" dirty="0"/>
              <a:t>Radikális tanokat hirdetnek érzelmi alapú vagy anekdotikus bizonyítékokra támaszkodva</a:t>
            </a:r>
          </a:p>
          <a:p>
            <a:r>
              <a:rPr lang="hu-HU" dirty="0"/>
              <a:t>Állításaik nem támaszthatóak alá tudományos bizonyítékokkal</a:t>
            </a:r>
          </a:p>
          <a:p>
            <a:r>
              <a:rPr lang="hu-HU" dirty="0"/>
              <a:t>Az előnyöket alábecsülik, a mellékhatásokat pedig túlértékelik</a:t>
            </a:r>
          </a:p>
          <a:p>
            <a:r>
              <a:rPr lang="hu-HU" dirty="0"/>
              <a:t>Gyakran alternatív megoldásokat vagy termékeket javasolnak a problémára, esetleg könyveket írnak vagy előadásokon gyűjtik a belépődíjat</a:t>
            </a:r>
          </a:p>
          <a:p>
            <a:endParaRPr lang="hu-HU" dirty="0"/>
          </a:p>
          <a:p>
            <a:pPr marL="0" indent="0">
              <a:buNone/>
            </a:pPr>
            <a:r>
              <a:rPr lang="hu-HU" b="1" dirty="0"/>
              <a:t>-&gt; </a:t>
            </a:r>
            <a:r>
              <a:rPr lang="en-HU" b="1" dirty="0"/>
              <a:t>A laikus közvélemény </a:t>
            </a:r>
            <a:r>
              <a:rPr lang="hu-HU" b="1" dirty="0"/>
              <a:t>ekkora mértékű </a:t>
            </a:r>
            <a:r>
              <a:rPr lang="en-HU" b="1" dirty="0"/>
              <a:t>szembenállása semmilyen egyéb kardiológiai ajánlással szemben nem jellemző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83812856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rtalom helye 2">
            <a:extLst>
              <a:ext uri="{FF2B5EF4-FFF2-40B4-BE49-F238E27FC236}">
                <a16:creationId xmlns:a16="http://schemas.microsoft.com/office/drawing/2014/main" id="{50197A41-11E4-8F70-0C96-2BD1B5060B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613457"/>
            <a:ext cx="10515600" cy="5694745"/>
          </a:xfrm>
        </p:spPr>
        <p:txBody>
          <a:bodyPr>
            <a:normAutofit/>
          </a:bodyPr>
          <a:lstStyle/>
          <a:p>
            <a:r>
              <a:rPr lang="hu-HU" dirty="0"/>
              <a:t>A koleszterin szükséges, nem szabad csökkenteni?</a:t>
            </a:r>
          </a:p>
          <a:p>
            <a:r>
              <a:rPr lang="hu-HU" dirty="0"/>
              <a:t>A koleszterin falazóanyag, tűzoltó és nem a tűz?</a:t>
            </a:r>
          </a:p>
          <a:p>
            <a:r>
              <a:rPr lang="hu-HU" dirty="0"/>
              <a:t>A koleszterin csökkentése memóriazavarokhoz, koncentrációzavarhoz vezethet?</a:t>
            </a:r>
          </a:p>
          <a:p>
            <a:r>
              <a:rPr lang="hu-HU" dirty="0"/>
              <a:t>A koleszterinszint megemelkedésének igazi oka a krónikus vízhiány, a tiszta víz a legjobb koleszterincsökkentő?</a:t>
            </a:r>
          </a:p>
          <a:p>
            <a:r>
              <a:rPr lang="hu-HU" dirty="0"/>
              <a:t>A szívinfarktust a gyulladás és a stressz okozza, a koleszterinnek ehhez semmi köze?</a:t>
            </a:r>
          </a:p>
          <a:p>
            <a:r>
              <a:rPr lang="hu-HU" dirty="0"/>
              <a:t>A </a:t>
            </a:r>
            <a:r>
              <a:rPr lang="hu-HU" dirty="0" err="1"/>
              <a:t>sztatinok</a:t>
            </a:r>
            <a:r>
              <a:rPr lang="hu-HU" dirty="0"/>
              <a:t> szedése nem előzi meg hatékonyan a szívinfarktust?</a:t>
            </a:r>
          </a:p>
          <a:p>
            <a:r>
              <a:rPr lang="hu-HU" dirty="0"/>
              <a:t>A </a:t>
            </a:r>
            <a:r>
              <a:rPr lang="hu-HU" dirty="0" err="1"/>
              <a:t>sztatinok</a:t>
            </a:r>
            <a:r>
              <a:rPr lang="hu-HU" dirty="0"/>
              <a:t> szedése nem hosszabbítja meg az életet?</a:t>
            </a:r>
          </a:p>
          <a:p>
            <a:r>
              <a:rPr lang="hu-HU" dirty="0"/>
              <a:t>A </a:t>
            </a:r>
            <a:r>
              <a:rPr lang="hu-HU" dirty="0" err="1"/>
              <a:t>sztatinok</a:t>
            </a:r>
            <a:r>
              <a:rPr lang="hu-HU" dirty="0"/>
              <a:t> fokozzák a </a:t>
            </a:r>
            <a:r>
              <a:rPr lang="hu-HU" dirty="0" err="1"/>
              <a:t>plakkok</a:t>
            </a:r>
            <a:r>
              <a:rPr lang="hu-HU" dirty="0"/>
              <a:t> </a:t>
            </a:r>
            <a:r>
              <a:rPr lang="hu-HU" dirty="0" err="1"/>
              <a:t>meszességét</a:t>
            </a:r>
            <a:r>
              <a:rPr lang="hu-HU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05432011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ABEB69-8ADE-1D87-B0C7-93EFF1CA42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010549"/>
            <a:ext cx="10515600" cy="2852737"/>
          </a:xfrm>
        </p:spPr>
        <p:txBody>
          <a:bodyPr>
            <a:noAutofit/>
          </a:bodyPr>
          <a:lstStyle/>
          <a:p>
            <a:pPr algn="ctr" fontAlgn="t"/>
            <a:r>
              <a:rPr lang="en-HU" sz="3200" dirty="0"/>
              <a:t>Az Egyesült Királyságban</a:t>
            </a:r>
            <a:r>
              <a:rPr lang="hu-HU" sz="3200" dirty="0"/>
              <a:t> a</a:t>
            </a:r>
            <a:r>
              <a:rPr lang="en-HU" sz="3200" dirty="0"/>
              <a:t> </a:t>
            </a:r>
            <a:r>
              <a:rPr lang="en-HU" sz="3200" b="1" dirty="0"/>
              <a:t>2013-14.</a:t>
            </a:r>
            <a:r>
              <a:rPr lang="en-HU" sz="3200" dirty="0"/>
              <a:t> közötti brit médiavisszhang hatására egy fél éves időszakban mintegy </a:t>
            </a:r>
            <a:r>
              <a:rPr lang="en-HU" sz="3200" b="1" dirty="0"/>
              <a:t>220 000 ember hagyhatta el</a:t>
            </a:r>
            <a:r>
              <a:rPr lang="en-HU" sz="3200" dirty="0"/>
              <a:t> a sztatinkezelést, ami a British Heart Foundation becslései szerint a következő 10 évben </a:t>
            </a:r>
            <a:r>
              <a:rPr lang="en-HU" sz="3200" b="1" dirty="0"/>
              <a:t>2170 körüli extra szívroham, illetve szélütés (stroke)</a:t>
            </a:r>
            <a:r>
              <a:rPr lang="en-HU" sz="3200" dirty="0"/>
              <a:t> kialakulásáért lehetett felelős.</a:t>
            </a:r>
            <a:br>
              <a:rPr lang="en-HU" sz="3200" dirty="0"/>
            </a:br>
            <a:br>
              <a:rPr lang="en-HU" sz="3200" dirty="0"/>
            </a:br>
            <a:r>
              <a:rPr lang="en-HU" sz="2800" dirty="0"/>
              <a:t>(Impact of statin related media coverage on use of statins: interrupted time series analysis with UK primary care data, Matthews et. al. BMJ 2016;353:i3283)</a:t>
            </a:r>
            <a:endParaRPr lang="en-HU" sz="3200" dirty="0"/>
          </a:p>
        </p:txBody>
      </p:sp>
    </p:spTree>
    <p:extLst>
      <p:ext uri="{BB962C8B-B14F-4D97-AF65-F5344CB8AC3E}">
        <p14:creationId xmlns:p14="http://schemas.microsoft.com/office/powerpoint/2010/main" val="67723912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D418AAB-D289-B418-C651-E6880EF6A5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7C86C322-1DF8-444B-BDC3-1D09D93EF5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6B6F8964-71D2-8ADD-FF92-9C60ABF1E8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0338" y="640080"/>
            <a:ext cx="3734014" cy="356616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000" dirty="0">
                <a:cs typeface="Arial" panose="020B0604020202020204" pitchFamily="34" charset="0"/>
              </a:rPr>
              <a:t>“</a:t>
            </a:r>
            <a:r>
              <a:rPr lang="en-US" sz="3000" dirty="0" err="1">
                <a:cs typeface="Arial" panose="020B0604020202020204" pitchFamily="34" charset="0"/>
              </a:rPr>
              <a:t>Elveszítjük</a:t>
            </a:r>
            <a:r>
              <a:rPr lang="en-US" sz="3000" dirty="0">
                <a:cs typeface="Arial" panose="020B0604020202020204" pitchFamily="34" charset="0"/>
              </a:rPr>
              <a:t> a </a:t>
            </a:r>
            <a:r>
              <a:rPr lang="en-US" sz="3000" dirty="0" err="1">
                <a:cs typeface="Arial" panose="020B0604020202020204" pitchFamily="34" charset="0"/>
              </a:rPr>
              <a:t>pácienseink</a:t>
            </a:r>
            <a:r>
              <a:rPr lang="en-US" sz="3000" dirty="0">
                <a:cs typeface="Arial" panose="020B0604020202020204" pitchFamily="34" charset="0"/>
              </a:rPr>
              <a:t> </a:t>
            </a:r>
            <a:r>
              <a:rPr lang="en-US" sz="3000" dirty="0" err="1">
                <a:cs typeface="Arial" panose="020B0604020202020204" pitchFamily="34" charset="0"/>
              </a:rPr>
              <a:t>szívéért</a:t>
            </a:r>
            <a:r>
              <a:rPr lang="en-US" sz="3000" dirty="0">
                <a:cs typeface="Arial" panose="020B0604020202020204" pitchFamily="34" charset="0"/>
              </a:rPr>
              <a:t> </a:t>
            </a:r>
            <a:r>
              <a:rPr lang="en-US" sz="3000" dirty="0" err="1">
                <a:cs typeface="Arial" panose="020B0604020202020204" pitchFamily="34" charset="0"/>
              </a:rPr>
              <a:t>és</a:t>
            </a:r>
            <a:r>
              <a:rPr lang="en-US" sz="3000" dirty="0">
                <a:cs typeface="Arial" panose="020B0604020202020204" pitchFamily="34" charset="0"/>
              </a:rPr>
              <a:t> </a:t>
            </a:r>
            <a:r>
              <a:rPr lang="en-US" sz="3000" dirty="0" err="1">
                <a:cs typeface="Arial" panose="020B0604020202020204" pitchFamily="34" charset="0"/>
              </a:rPr>
              <a:t>elméjéért</a:t>
            </a:r>
            <a:r>
              <a:rPr lang="en-US" sz="3000" dirty="0">
                <a:cs typeface="Arial" panose="020B0604020202020204" pitchFamily="34" charset="0"/>
              </a:rPr>
              <a:t> </a:t>
            </a:r>
            <a:r>
              <a:rPr lang="en-US" sz="3000" dirty="0" err="1">
                <a:cs typeface="Arial" panose="020B0604020202020204" pitchFamily="34" charset="0"/>
              </a:rPr>
              <a:t>folytatott</a:t>
            </a:r>
            <a:r>
              <a:rPr lang="en-US" sz="3000" dirty="0">
                <a:cs typeface="Arial" panose="020B0604020202020204" pitchFamily="34" charset="0"/>
              </a:rPr>
              <a:t> </a:t>
            </a:r>
            <a:r>
              <a:rPr lang="en-US" sz="3000" dirty="0" err="1">
                <a:cs typeface="Arial" panose="020B0604020202020204" pitchFamily="34" charset="0"/>
              </a:rPr>
              <a:t>csatát</a:t>
            </a:r>
            <a:r>
              <a:rPr lang="en-US" sz="3000" dirty="0">
                <a:cs typeface="Arial" panose="020B0604020202020204" pitchFamily="34" charset="0"/>
              </a:rPr>
              <a:t> a </a:t>
            </a:r>
            <a:r>
              <a:rPr lang="en-US" sz="3000" dirty="0" err="1">
                <a:cs typeface="Arial" panose="020B0604020202020204" pitchFamily="34" charset="0"/>
              </a:rPr>
              <a:t>nem</a:t>
            </a:r>
            <a:r>
              <a:rPr lang="en-US" sz="3000" dirty="0">
                <a:cs typeface="Arial" panose="020B0604020202020204" pitchFamily="34" charset="0"/>
              </a:rPr>
              <a:t> </a:t>
            </a:r>
            <a:r>
              <a:rPr lang="en-US" sz="3000" dirty="0" err="1">
                <a:cs typeface="Arial" panose="020B0604020202020204" pitchFamily="34" charset="0"/>
              </a:rPr>
              <a:t>bizonyított</a:t>
            </a:r>
            <a:r>
              <a:rPr lang="en-US" sz="3000" dirty="0">
                <a:cs typeface="Arial" panose="020B0604020202020204" pitchFamily="34" charset="0"/>
              </a:rPr>
              <a:t> </a:t>
            </a:r>
            <a:r>
              <a:rPr lang="en-US" sz="3000" dirty="0" err="1">
                <a:cs typeface="Arial" panose="020B0604020202020204" pitchFamily="34" charset="0"/>
              </a:rPr>
              <a:t>terápiákat</a:t>
            </a:r>
            <a:r>
              <a:rPr lang="en-US" sz="3000" dirty="0">
                <a:cs typeface="Arial" panose="020B0604020202020204" pitchFamily="34" charset="0"/>
              </a:rPr>
              <a:t> </a:t>
            </a:r>
            <a:r>
              <a:rPr lang="en-US" sz="3000" dirty="0" err="1">
                <a:cs typeface="Arial" panose="020B0604020202020204" pitchFamily="34" charset="0"/>
              </a:rPr>
              <a:t>hirdető</a:t>
            </a:r>
            <a:r>
              <a:rPr lang="en-US" sz="3000" dirty="0">
                <a:cs typeface="Arial" panose="020B0604020202020204" pitchFamily="34" charset="0"/>
              </a:rPr>
              <a:t> </a:t>
            </a:r>
            <a:r>
              <a:rPr lang="en-US" sz="3000" dirty="0" err="1">
                <a:cs typeface="Arial" panose="020B0604020202020204" pitchFamily="34" charset="0"/>
              </a:rPr>
              <a:t>weboldalakkal</a:t>
            </a:r>
            <a:r>
              <a:rPr lang="en-US" sz="3000" dirty="0">
                <a:cs typeface="Arial" panose="020B0604020202020204" pitchFamily="34" charset="0"/>
              </a:rPr>
              <a:t> </a:t>
            </a:r>
            <a:r>
              <a:rPr lang="en-US" sz="3000" dirty="0" err="1">
                <a:cs typeface="Arial" panose="020B0604020202020204" pitchFamily="34" charset="0"/>
              </a:rPr>
              <a:t>szemben</a:t>
            </a:r>
            <a:r>
              <a:rPr lang="en-US" sz="3000" dirty="0">
                <a:cs typeface="Arial" panose="020B0604020202020204" pitchFamily="34" charset="0"/>
              </a:rPr>
              <a:t>”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08660368-8898-37C8-951E-A41E8B70D9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90339" y="4636008"/>
            <a:ext cx="3734014" cy="1572768"/>
          </a:xfrm>
        </p:spPr>
        <p:txBody>
          <a:bodyPr vert="horz" lIns="91440" tIns="45720" rIns="91440" bIns="45720" rtlCol="0">
            <a:normAutofit/>
          </a:bodyPr>
          <a:lstStyle/>
          <a:p>
            <a:pPr algn="r"/>
            <a:endParaRPr lang="en-US" dirty="0">
              <a:solidFill>
                <a:schemeClr val="tx1"/>
              </a:solidFill>
              <a:cs typeface="Arial" panose="020B0604020202020204" pitchFamily="34" charset="0"/>
            </a:endParaRPr>
          </a:p>
        </p:txBody>
      </p:sp>
      <p:sp>
        <p:nvSpPr>
          <p:cNvPr id="11" name="sketchy line">
            <a:extLst>
              <a:ext uri="{FF2B5EF4-FFF2-40B4-BE49-F238E27FC236}">
                <a16:creationId xmlns:a16="http://schemas.microsoft.com/office/drawing/2014/main" id="{0A5E872C-0CBE-C0B5-DEAA-58322A28ED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90338" y="4409267"/>
            <a:ext cx="3474720" cy="18288"/>
          </a:xfrm>
          <a:custGeom>
            <a:avLst/>
            <a:gdLst>
              <a:gd name="csX0" fmla="*/ 0 w 3474720"/>
              <a:gd name="csY0" fmla="*/ 0 h 18288"/>
              <a:gd name="csX1" fmla="*/ 694944 w 3474720"/>
              <a:gd name="csY1" fmla="*/ 0 h 18288"/>
              <a:gd name="csX2" fmla="*/ 1355141 w 3474720"/>
              <a:gd name="csY2" fmla="*/ 0 h 18288"/>
              <a:gd name="csX3" fmla="*/ 2015338 w 3474720"/>
              <a:gd name="csY3" fmla="*/ 0 h 18288"/>
              <a:gd name="csX4" fmla="*/ 2779776 w 3474720"/>
              <a:gd name="csY4" fmla="*/ 0 h 18288"/>
              <a:gd name="csX5" fmla="*/ 3474720 w 3474720"/>
              <a:gd name="csY5" fmla="*/ 0 h 18288"/>
              <a:gd name="csX6" fmla="*/ 3474720 w 3474720"/>
              <a:gd name="csY6" fmla="*/ 18288 h 18288"/>
              <a:gd name="csX7" fmla="*/ 2779776 w 3474720"/>
              <a:gd name="csY7" fmla="*/ 18288 h 18288"/>
              <a:gd name="csX8" fmla="*/ 2189074 w 3474720"/>
              <a:gd name="csY8" fmla="*/ 18288 h 18288"/>
              <a:gd name="csX9" fmla="*/ 1528877 w 3474720"/>
              <a:gd name="csY9" fmla="*/ 18288 h 18288"/>
              <a:gd name="csX10" fmla="*/ 868680 w 3474720"/>
              <a:gd name="csY10" fmla="*/ 18288 h 18288"/>
              <a:gd name="csX11" fmla="*/ 0 w 3474720"/>
              <a:gd name="csY11" fmla="*/ 18288 h 18288"/>
              <a:gd name="csX12" fmla="*/ 0 w 347472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474720" h="18288" fill="none" extrusionOk="0">
                <a:moveTo>
                  <a:pt x="0" y="0"/>
                </a:moveTo>
                <a:cubicBezTo>
                  <a:pt x="224454" y="-14544"/>
                  <a:pt x="495407" y="26540"/>
                  <a:pt x="694944" y="0"/>
                </a:cubicBezTo>
                <a:cubicBezTo>
                  <a:pt x="894481" y="-26540"/>
                  <a:pt x="1130063" y="24713"/>
                  <a:pt x="1355141" y="0"/>
                </a:cubicBezTo>
                <a:cubicBezTo>
                  <a:pt x="1580219" y="-24713"/>
                  <a:pt x="1820099" y="26695"/>
                  <a:pt x="2015338" y="0"/>
                </a:cubicBezTo>
                <a:cubicBezTo>
                  <a:pt x="2210577" y="-26695"/>
                  <a:pt x="2402045" y="165"/>
                  <a:pt x="2779776" y="0"/>
                </a:cubicBezTo>
                <a:cubicBezTo>
                  <a:pt x="3157507" y="-165"/>
                  <a:pt x="3286859" y="-15571"/>
                  <a:pt x="3474720" y="0"/>
                </a:cubicBezTo>
                <a:cubicBezTo>
                  <a:pt x="3474286" y="7551"/>
                  <a:pt x="3474253" y="9822"/>
                  <a:pt x="3474720" y="18288"/>
                </a:cubicBezTo>
                <a:cubicBezTo>
                  <a:pt x="3233904" y="29845"/>
                  <a:pt x="2945134" y="-5256"/>
                  <a:pt x="2779776" y="18288"/>
                </a:cubicBezTo>
                <a:cubicBezTo>
                  <a:pt x="2614418" y="41832"/>
                  <a:pt x="2339768" y="22709"/>
                  <a:pt x="2189074" y="18288"/>
                </a:cubicBezTo>
                <a:cubicBezTo>
                  <a:pt x="2038380" y="13867"/>
                  <a:pt x="1817434" y="-4947"/>
                  <a:pt x="1528877" y="18288"/>
                </a:cubicBezTo>
                <a:cubicBezTo>
                  <a:pt x="1240320" y="41523"/>
                  <a:pt x="1042447" y="37198"/>
                  <a:pt x="868680" y="18288"/>
                </a:cubicBezTo>
                <a:cubicBezTo>
                  <a:pt x="694913" y="-622"/>
                  <a:pt x="233232" y="44909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474720" h="18288" stroke="0" extrusionOk="0">
                <a:moveTo>
                  <a:pt x="0" y="0"/>
                </a:moveTo>
                <a:cubicBezTo>
                  <a:pt x="202328" y="-14716"/>
                  <a:pt x="332722" y="-11499"/>
                  <a:pt x="625450" y="0"/>
                </a:cubicBezTo>
                <a:cubicBezTo>
                  <a:pt x="918178" y="11499"/>
                  <a:pt x="1096688" y="5123"/>
                  <a:pt x="1389888" y="0"/>
                </a:cubicBezTo>
                <a:cubicBezTo>
                  <a:pt x="1683088" y="-5123"/>
                  <a:pt x="1835981" y="-14038"/>
                  <a:pt x="1980590" y="0"/>
                </a:cubicBezTo>
                <a:cubicBezTo>
                  <a:pt x="2125199" y="14038"/>
                  <a:pt x="2396099" y="-7203"/>
                  <a:pt x="2571293" y="0"/>
                </a:cubicBezTo>
                <a:cubicBezTo>
                  <a:pt x="2746487" y="7203"/>
                  <a:pt x="3041609" y="-12036"/>
                  <a:pt x="3474720" y="0"/>
                </a:cubicBezTo>
                <a:cubicBezTo>
                  <a:pt x="3474638" y="4406"/>
                  <a:pt x="3474631" y="9982"/>
                  <a:pt x="3474720" y="18288"/>
                </a:cubicBezTo>
                <a:cubicBezTo>
                  <a:pt x="3324873" y="21876"/>
                  <a:pt x="3136771" y="12587"/>
                  <a:pt x="2814523" y="18288"/>
                </a:cubicBezTo>
                <a:cubicBezTo>
                  <a:pt x="2492275" y="23989"/>
                  <a:pt x="2294402" y="47111"/>
                  <a:pt x="2154326" y="18288"/>
                </a:cubicBezTo>
                <a:cubicBezTo>
                  <a:pt x="2014250" y="-10535"/>
                  <a:pt x="1820317" y="33903"/>
                  <a:pt x="1494130" y="18288"/>
                </a:cubicBezTo>
                <a:cubicBezTo>
                  <a:pt x="1167943" y="2673"/>
                  <a:pt x="948432" y="14868"/>
                  <a:pt x="729691" y="18288"/>
                </a:cubicBezTo>
                <a:cubicBezTo>
                  <a:pt x="510950" y="21708"/>
                  <a:pt x="264032" y="24354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F0ECFABE-FE66-02ED-ACB3-5FB49793A68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-1" b="20241"/>
          <a:stretch>
            <a:fillRect/>
          </a:stretch>
        </p:blipFill>
        <p:spPr>
          <a:xfrm>
            <a:off x="5311702" y="10"/>
            <a:ext cx="6878775" cy="6857990"/>
          </a:xfrm>
          <a:custGeom>
            <a:avLst/>
            <a:gdLst/>
            <a:ahLst/>
            <a:cxnLst/>
            <a:rect l="l" t="t" r="r" b="b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50605591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B7AD9F6-8CE7-4299-8FC6-328F4DCD3F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0BA757D6-E556-5174-BEFC-3CF600F341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0338" y="640080"/>
            <a:ext cx="3734014" cy="356616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000" dirty="0">
                <a:cs typeface="Arial" panose="020B0604020202020204" pitchFamily="34" charset="0"/>
              </a:rPr>
              <a:t>“</a:t>
            </a:r>
            <a:r>
              <a:rPr lang="en-US" sz="3000" dirty="0" err="1">
                <a:cs typeface="Arial" panose="020B0604020202020204" pitchFamily="34" charset="0"/>
              </a:rPr>
              <a:t>Elveszítjük</a:t>
            </a:r>
            <a:r>
              <a:rPr lang="en-US" sz="3000" dirty="0">
                <a:cs typeface="Arial" panose="020B0604020202020204" pitchFamily="34" charset="0"/>
              </a:rPr>
              <a:t> a </a:t>
            </a:r>
            <a:r>
              <a:rPr lang="en-US" sz="3000" dirty="0" err="1">
                <a:cs typeface="Arial" panose="020B0604020202020204" pitchFamily="34" charset="0"/>
              </a:rPr>
              <a:t>pácienseink</a:t>
            </a:r>
            <a:r>
              <a:rPr lang="en-US" sz="3000" dirty="0">
                <a:cs typeface="Arial" panose="020B0604020202020204" pitchFamily="34" charset="0"/>
              </a:rPr>
              <a:t> </a:t>
            </a:r>
            <a:r>
              <a:rPr lang="en-US" sz="3000" dirty="0" err="1">
                <a:cs typeface="Arial" panose="020B0604020202020204" pitchFamily="34" charset="0"/>
              </a:rPr>
              <a:t>szívéért</a:t>
            </a:r>
            <a:r>
              <a:rPr lang="en-US" sz="3000" dirty="0">
                <a:cs typeface="Arial" panose="020B0604020202020204" pitchFamily="34" charset="0"/>
              </a:rPr>
              <a:t> </a:t>
            </a:r>
            <a:r>
              <a:rPr lang="en-US" sz="3000" dirty="0" err="1">
                <a:cs typeface="Arial" panose="020B0604020202020204" pitchFamily="34" charset="0"/>
              </a:rPr>
              <a:t>és</a:t>
            </a:r>
            <a:r>
              <a:rPr lang="en-US" sz="3000" dirty="0">
                <a:cs typeface="Arial" panose="020B0604020202020204" pitchFamily="34" charset="0"/>
              </a:rPr>
              <a:t> </a:t>
            </a:r>
            <a:r>
              <a:rPr lang="en-US" sz="3000" dirty="0" err="1">
                <a:cs typeface="Arial" panose="020B0604020202020204" pitchFamily="34" charset="0"/>
              </a:rPr>
              <a:t>elméjéért</a:t>
            </a:r>
            <a:r>
              <a:rPr lang="en-US" sz="3000" dirty="0">
                <a:cs typeface="Arial" panose="020B0604020202020204" pitchFamily="34" charset="0"/>
              </a:rPr>
              <a:t> </a:t>
            </a:r>
            <a:r>
              <a:rPr lang="en-US" sz="3000" dirty="0" err="1">
                <a:cs typeface="Arial" panose="020B0604020202020204" pitchFamily="34" charset="0"/>
              </a:rPr>
              <a:t>folytatott</a:t>
            </a:r>
            <a:r>
              <a:rPr lang="en-US" sz="3000" dirty="0">
                <a:cs typeface="Arial" panose="020B0604020202020204" pitchFamily="34" charset="0"/>
              </a:rPr>
              <a:t> </a:t>
            </a:r>
            <a:r>
              <a:rPr lang="en-US" sz="3000" dirty="0" err="1">
                <a:cs typeface="Arial" panose="020B0604020202020204" pitchFamily="34" charset="0"/>
              </a:rPr>
              <a:t>csatát</a:t>
            </a:r>
            <a:r>
              <a:rPr lang="en-US" sz="3000" dirty="0">
                <a:cs typeface="Arial" panose="020B0604020202020204" pitchFamily="34" charset="0"/>
              </a:rPr>
              <a:t> a </a:t>
            </a:r>
            <a:r>
              <a:rPr lang="en-US" sz="3000" dirty="0" err="1">
                <a:cs typeface="Arial" panose="020B0604020202020204" pitchFamily="34" charset="0"/>
              </a:rPr>
              <a:t>nem</a:t>
            </a:r>
            <a:r>
              <a:rPr lang="en-US" sz="3000" dirty="0">
                <a:cs typeface="Arial" panose="020B0604020202020204" pitchFamily="34" charset="0"/>
              </a:rPr>
              <a:t> </a:t>
            </a:r>
            <a:r>
              <a:rPr lang="en-US" sz="3000" dirty="0" err="1">
                <a:cs typeface="Arial" panose="020B0604020202020204" pitchFamily="34" charset="0"/>
              </a:rPr>
              <a:t>bizonyított</a:t>
            </a:r>
            <a:r>
              <a:rPr lang="en-US" sz="3000" dirty="0">
                <a:cs typeface="Arial" panose="020B0604020202020204" pitchFamily="34" charset="0"/>
              </a:rPr>
              <a:t> </a:t>
            </a:r>
            <a:r>
              <a:rPr lang="en-US" sz="3000" dirty="0" err="1">
                <a:cs typeface="Arial" panose="020B0604020202020204" pitchFamily="34" charset="0"/>
              </a:rPr>
              <a:t>terápiákat</a:t>
            </a:r>
            <a:r>
              <a:rPr lang="en-US" sz="3000" dirty="0">
                <a:cs typeface="Arial" panose="020B0604020202020204" pitchFamily="34" charset="0"/>
              </a:rPr>
              <a:t> </a:t>
            </a:r>
            <a:r>
              <a:rPr lang="en-US" sz="3000" dirty="0" err="1">
                <a:cs typeface="Arial" panose="020B0604020202020204" pitchFamily="34" charset="0"/>
              </a:rPr>
              <a:t>hirdető</a:t>
            </a:r>
            <a:r>
              <a:rPr lang="en-US" sz="3000" dirty="0">
                <a:cs typeface="Arial" panose="020B0604020202020204" pitchFamily="34" charset="0"/>
              </a:rPr>
              <a:t> </a:t>
            </a:r>
            <a:r>
              <a:rPr lang="en-US" sz="3000" dirty="0" err="1">
                <a:cs typeface="Arial" panose="020B0604020202020204" pitchFamily="34" charset="0"/>
              </a:rPr>
              <a:t>weboldalakkal</a:t>
            </a:r>
            <a:r>
              <a:rPr lang="en-US" sz="3000" dirty="0">
                <a:cs typeface="Arial" panose="020B0604020202020204" pitchFamily="34" charset="0"/>
              </a:rPr>
              <a:t> </a:t>
            </a:r>
            <a:r>
              <a:rPr lang="en-US" sz="3000" dirty="0" err="1">
                <a:cs typeface="Arial" panose="020B0604020202020204" pitchFamily="34" charset="0"/>
              </a:rPr>
              <a:t>szemben</a:t>
            </a:r>
            <a:r>
              <a:rPr lang="en-US" sz="3000" dirty="0">
                <a:cs typeface="Arial" panose="020B0604020202020204" pitchFamily="34" charset="0"/>
              </a:rPr>
              <a:t>”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9DB2302A-4407-C2EF-ABA5-2E0A072F63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90339" y="4636008"/>
            <a:ext cx="3734014" cy="1572768"/>
          </a:xfrm>
        </p:spPr>
        <p:txBody>
          <a:bodyPr vert="horz" lIns="91440" tIns="45720" rIns="91440" bIns="45720" rtlCol="0">
            <a:normAutofit/>
          </a:bodyPr>
          <a:lstStyle/>
          <a:p>
            <a:pPr algn="r"/>
            <a:r>
              <a:rPr lang="hu-HU" dirty="0">
                <a:solidFill>
                  <a:schemeClr val="tx1"/>
                </a:solidFill>
                <a:cs typeface="Arial" panose="020B0604020202020204" pitchFamily="34" charset="0"/>
              </a:rPr>
              <a:t>(2017)</a:t>
            </a:r>
            <a:endParaRPr lang="en-US" dirty="0">
              <a:solidFill>
                <a:schemeClr val="tx1"/>
              </a:solidFill>
              <a:cs typeface="Arial" panose="020B0604020202020204" pitchFamily="34" charset="0"/>
            </a:endParaRPr>
          </a:p>
        </p:txBody>
      </p:sp>
      <p:sp>
        <p:nvSpPr>
          <p:cNvPr id="11" name="sketchy line">
            <a:extLst>
              <a:ext uri="{FF2B5EF4-FFF2-40B4-BE49-F238E27FC236}">
                <a16:creationId xmlns:a16="http://schemas.microsoft.com/office/drawing/2014/main" id="{F49775AF-8896-43EE-92C6-83497D6DC5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90338" y="4409267"/>
            <a:ext cx="3474720" cy="18288"/>
          </a:xfrm>
          <a:custGeom>
            <a:avLst/>
            <a:gdLst>
              <a:gd name="csX0" fmla="*/ 0 w 3474720"/>
              <a:gd name="csY0" fmla="*/ 0 h 18288"/>
              <a:gd name="csX1" fmla="*/ 694944 w 3474720"/>
              <a:gd name="csY1" fmla="*/ 0 h 18288"/>
              <a:gd name="csX2" fmla="*/ 1355141 w 3474720"/>
              <a:gd name="csY2" fmla="*/ 0 h 18288"/>
              <a:gd name="csX3" fmla="*/ 2015338 w 3474720"/>
              <a:gd name="csY3" fmla="*/ 0 h 18288"/>
              <a:gd name="csX4" fmla="*/ 2779776 w 3474720"/>
              <a:gd name="csY4" fmla="*/ 0 h 18288"/>
              <a:gd name="csX5" fmla="*/ 3474720 w 3474720"/>
              <a:gd name="csY5" fmla="*/ 0 h 18288"/>
              <a:gd name="csX6" fmla="*/ 3474720 w 3474720"/>
              <a:gd name="csY6" fmla="*/ 18288 h 18288"/>
              <a:gd name="csX7" fmla="*/ 2779776 w 3474720"/>
              <a:gd name="csY7" fmla="*/ 18288 h 18288"/>
              <a:gd name="csX8" fmla="*/ 2189074 w 3474720"/>
              <a:gd name="csY8" fmla="*/ 18288 h 18288"/>
              <a:gd name="csX9" fmla="*/ 1528877 w 3474720"/>
              <a:gd name="csY9" fmla="*/ 18288 h 18288"/>
              <a:gd name="csX10" fmla="*/ 868680 w 3474720"/>
              <a:gd name="csY10" fmla="*/ 18288 h 18288"/>
              <a:gd name="csX11" fmla="*/ 0 w 3474720"/>
              <a:gd name="csY11" fmla="*/ 18288 h 18288"/>
              <a:gd name="csX12" fmla="*/ 0 w 347472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474720" h="18288" fill="none" extrusionOk="0">
                <a:moveTo>
                  <a:pt x="0" y="0"/>
                </a:moveTo>
                <a:cubicBezTo>
                  <a:pt x="224454" y="-14544"/>
                  <a:pt x="495407" y="26540"/>
                  <a:pt x="694944" y="0"/>
                </a:cubicBezTo>
                <a:cubicBezTo>
                  <a:pt x="894481" y="-26540"/>
                  <a:pt x="1130063" y="24713"/>
                  <a:pt x="1355141" y="0"/>
                </a:cubicBezTo>
                <a:cubicBezTo>
                  <a:pt x="1580219" y="-24713"/>
                  <a:pt x="1820099" y="26695"/>
                  <a:pt x="2015338" y="0"/>
                </a:cubicBezTo>
                <a:cubicBezTo>
                  <a:pt x="2210577" y="-26695"/>
                  <a:pt x="2402045" y="165"/>
                  <a:pt x="2779776" y="0"/>
                </a:cubicBezTo>
                <a:cubicBezTo>
                  <a:pt x="3157507" y="-165"/>
                  <a:pt x="3286859" y="-15571"/>
                  <a:pt x="3474720" y="0"/>
                </a:cubicBezTo>
                <a:cubicBezTo>
                  <a:pt x="3474286" y="7551"/>
                  <a:pt x="3474253" y="9822"/>
                  <a:pt x="3474720" y="18288"/>
                </a:cubicBezTo>
                <a:cubicBezTo>
                  <a:pt x="3233904" y="29845"/>
                  <a:pt x="2945134" y="-5256"/>
                  <a:pt x="2779776" y="18288"/>
                </a:cubicBezTo>
                <a:cubicBezTo>
                  <a:pt x="2614418" y="41832"/>
                  <a:pt x="2339768" y="22709"/>
                  <a:pt x="2189074" y="18288"/>
                </a:cubicBezTo>
                <a:cubicBezTo>
                  <a:pt x="2038380" y="13867"/>
                  <a:pt x="1817434" y="-4947"/>
                  <a:pt x="1528877" y="18288"/>
                </a:cubicBezTo>
                <a:cubicBezTo>
                  <a:pt x="1240320" y="41523"/>
                  <a:pt x="1042447" y="37198"/>
                  <a:pt x="868680" y="18288"/>
                </a:cubicBezTo>
                <a:cubicBezTo>
                  <a:pt x="694913" y="-622"/>
                  <a:pt x="233232" y="44909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474720" h="18288" stroke="0" extrusionOk="0">
                <a:moveTo>
                  <a:pt x="0" y="0"/>
                </a:moveTo>
                <a:cubicBezTo>
                  <a:pt x="202328" y="-14716"/>
                  <a:pt x="332722" y="-11499"/>
                  <a:pt x="625450" y="0"/>
                </a:cubicBezTo>
                <a:cubicBezTo>
                  <a:pt x="918178" y="11499"/>
                  <a:pt x="1096688" y="5123"/>
                  <a:pt x="1389888" y="0"/>
                </a:cubicBezTo>
                <a:cubicBezTo>
                  <a:pt x="1683088" y="-5123"/>
                  <a:pt x="1835981" y="-14038"/>
                  <a:pt x="1980590" y="0"/>
                </a:cubicBezTo>
                <a:cubicBezTo>
                  <a:pt x="2125199" y="14038"/>
                  <a:pt x="2396099" y="-7203"/>
                  <a:pt x="2571293" y="0"/>
                </a:cubicBezTo>
                <a:cubicBezTo>
                  <a:pt x="2746487" y="7203"/>
                  <a:pt x="3041609" y="-12036"/>
                  <a:pt x="3474720" y="0"/>
                </a:cubicBezTo>
                <a:cubicBezTo>
                  <a:pt x="3474638" y="4406"/>
                  <a:pt x="3474631" y="9982"/>
                  <a:pt x="3474720" y="18288"/>
                </a:cubicBezTo>
                <a:cubicBezTo>
                  <a:pt x="3324873" y="21876"/>
                  <a:pt x="3136771" y="12587"/>
                  <a:pt x="2814523" y="18288"/>
                </a:cubicBezTo>
                <a:cubicBezTo>
                  <a:pt x="2492275" y="23989"/>
                  <a:pt x="2294402" y="47111"/>
                  <a:pt x="2154326" y="18288"/>
                </a:cubicBezTo>
                <a:cubicBezTo>
                  <a:pt x="2014250" y="-10535"/>
                  <a:pt x="1820317" y="33903"/>
                  <a:pt x="1494130" y="18288"/>
                </a:cubicBezTo>
                <a:cubicBezTo>
                  <a:pt x="1167943" y="2673"/>
                  <a:pt x="948432" y="14868"/>
                  <a:pt x="729691" y="18288"/>
                </a:cubicBezTo>
                <a:cubicBezTo>
                  <a:pt x="510950" y="21708"/>
                  <a:pt x="264032" y="24354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9F549BC2-33DC-C31B-54E5-67D2EC4400E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-1" b="20241"/>
          <a:stretch>
            <a:fillRect/>
          </a:stretch>
        </p:blipFill>
        <p:spPr>
          <a:xfrm>
            <a:off x="5311702" y="10"/>
            <a:ext cx="6878775" cy="6857990"/>
          </a:xfrm>
          <a:custGeom>
            <a:avLst/>
            <a:gdLst/>
            <a:ahLst/>
            <a:cxnLst/>
            <a:rect l="l" t="t" r="r" b="b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</p:spPr>
      </p:pic>
      <p:sp>
        <p:nvSpPr>
          <p:cNvPr id="5" name="Szövegdoboz 4">
            <a:extLst>
              <a:ext uri="{FF2B5EF4-FFF2-40B4-BE49-F238E27FC236}">
                <a16:creationId xmlns:a16="http://schemas.microsoft.com/office/drawing/2014/main" id="{9692797D-97C7-BCF0-CC89-0862D76E8AD5}"/>
              </a:ext>
            </a:extLst>
          </p:cNvPr>
          <p:cNvSpPr txBox="1"/>
          <p:nvPr/>
        </p:nvSpPr>
        <p:spPr>
          <a:xfrm>
            <a:off x="9071430" y="5858934"/>
            <a:ext cx="316895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Dr. Steven Nissen,</a:t>
            </a:r>
            <a:br>
              <a:rPr lang="en-US" sz="2400" b="1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400" b="1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Cleveland Clinic</a:t>
            </a:r>
            <a:endParaRPr lang="hu-HU" sz="2400" b="1" dirty="0">
              <a:solidFill>
                <a:schemeClr val="bg1"/>
              </a:solidFill>
              <a:effectLst>
                <a:outerShdw blurRad="50800" dist="38100" dir="2700000" algn="tl" rotWithShape="0">
                  <a:prstClr val="black"/>
                </a:outerShdw>
              </a:effectLs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2232534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15270A-EBC1-919D-3D4C-1A1CE7084D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A014009-B97C-231A-21BC-2708686492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97762" y="329184"/>
            <a:ext cx="6251110" cy="1783080"/>
          </a:xfrm>
        </p:spPr>
        <p:txBody>
          <a:bodyPr anchor="b">
            <a:normAutofit/>
          </a:bodyPr>
          <a:lstStyle/>
          <a:p>
            <a:r>
              <a:rPr lang="hu-HU" sz="5400" dirty="0"/>
              <a:t>Mi történik,</a:t>
            </a:r>
            <a:br>
              <a:rPr lang="hu-HU" sz="5400" dirty="0"/>
            </a:br>
            <a:r>
              <a:rPr lang="hu-HU" sz="5400" dirty="0"/>
              <a:t>ha ártalmas?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1C157E01-A6B9-30DC-84CF-97D8A9F4E0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</a:extLst>
          </a:blip>
          <a:srcRect l="5776" r="12403"/>
          <a:stretch>
            <a:fillRect/>
          </a:stretch>
        </p:blipFill>
        <p:spPr>
          <a:xfrm>
            <a:off x="1" y="10"/>
            <a:ext cx="4657344" cy="6857990"/>
          </a:xfrm>
          <a:custGeom>
            <a:avLst/>
            <a:gdLst/>
            <a:ahLst/>
            <a:cxnLst/>
            <a:rect l="l" t="t" r="r" b="b"/>
            <a:pathLst>
              <a:path w="4657344" h="6858000">
                <a:moveTo>
                  <a:pt x="0" y="0"/>
                </a:moveTo>
                <a:lnTo>
                  <a:pt x="3429755" y="0"/>
                </a:lnTo>
                <a:lnTo>
                  <a:pt x="3526016" y="148742"/>
                </a:lnTo>
                <a:cubicBezTo>
                  <a:pt x="3657740" y="365513"/>
                  <a:pt x="3777402" y="589569"/>
                  <a:pt x="3886489" y="819975"/>
                </a:cubicBezTo>
                <a:cubicBezTo>
                  <a:pt x="3891856" y="833492"/>
                  <a:pt x="3900663" y="845393"/>
                  <a:pt x="3912049" y="854514"/>
                </a:cubicBezTo>
                <a:cubicBezTo>
                  <a:pt x="3897352" y="819849"/>
                  <a:pt x="3883037" y="784928"/>
                  <a:pt x="3868083" y="750263"/>
                </a:cubicBezTo>
                <a:cubicBezTo>
                  <a:pt x="3806989" y="608712"/>
                  <a:pt x="3742478" y="469145"/>
                  <a:pt x="3674155" y="331786"/>
                </a:cubicBezTo>
                <a:lnTo>
                  <a:pt x="3496656" y="0"/>
                </a:lnTo>
                <a:lnTo>
                  <a:pt x="3554371" y="0"/>
                </a:lnTo>
                <a:lnTo>
                  <a:pt x="3661621" y="196614"/>
                </a:lnTo>
                <a:cubicBezTo>
                  <a:pt x="3856899" y="573253"/>
                  <a:pt x="4021071" y="966066"/>
                  <a:pt x="4161279" y="1371196"/>
                </a:cubicBezTo>
                <a:cubicBezTo>
                  <a:pt x="4379525" y="2007265"/>
                  <a:pt x="4530141" y="2664286"/>
                  <a:pt x="4610660" y="3331516"/>
                </a:cubicBezTo>
                <a:cubicBezTo>
                  <a:pt x="4652837" y="3672965"/>
                  <a:pt x="4671625" y="4013908"/>
                  <a:pt x="4645040" y="4357388"/>
                </a:cubicBezTo>
                <a:cubicBezTo>
                  <a:pt x="4613599" y="4758899"/>
                  <a:pt x="4566181" y="5157998"/>
                  <a:pt x="4485789" y="5552906"/>
                </a:cubicBezTo>
                <a:cubicBezTo>
                  <a:pt x="4397121" y="5988893"/>
                  <a:pt x="4276748" y="6414594"/>
                  <a:pt x="4117769" y="6828295"/>
                </a:cubicBezTo>
                <a:lnTo>
                  <a:pt x="4105288" y="6858000"/>
                </a:lnTo>
                <a:lnTo>
                  <a:pt x="4052520" y="6858000"/>
                </a:lnTo>
                <a:lnTo>
                  <a:pt x="4059369" y="6841549"/>
                </a:lnTo>
                <a:cubicBezTo>
                  <a:pt x="4147276" y="6614016"/>
                  <a:pt x="4224193" y="6380817"/>
                  <a:pt x="4291518" y="6142729"/>
                </a:cubicBezTo>
                <a:cubicBezTo>
                  <a:pt x="4350055" y="5935370"/>
                  <a:pt x="4393256" y="5723695"/>
                  <a:pt x="4443357" y="5513923"/>
                </a:cubicBezTo>
                <a:cubicBezTo>
                  <a:pt x="4444541" y="5502788"/>
                  <a:pt x="4445137" y="5491601"/>
                  <a:pt x="4445146" y="5480401"/>
                </a:cubicBezTo>
                <a:cubicBezTo>
                  <a:pt x="4408465" y="5607635"/>
                  <a:pt x="4379196" y="5719759"/>
                  <a:pt x="4344559" y="5830359"/>
                </a:cubicBezTo>
                <a:cubicBezTo>
                  <a:pt x="4254261" y="6118381"/>
                  <a:pt x="4150112" y="6398531"/>
                  <a:pt x="4031702" y="6670527"/>
                </a:cubicBezTo>
                <a:lnTo>
                  <a:pt x="3943824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3" name="Tartalom helye 2">
            <a:extLst>
              <a:ext uri="{FF2B5EF4-FFF2-40B4-BE49-F238E27FC236}">
                <a16:creationId xmlns:a16="http://schemas.microsoft.com/office/drawing/2014/main" id="{3CD0BB7E-577D-D1B0-8EE2-20D737A326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54220" y="2701786"/>
            <a:ext cx="6251110" cy="3483864"/>
          </a:xfrm>
        </p:spPr>
        <p:txBody>
          <a:bodyPr>
            <a:normAutofit fontScale="55000" lnSpcReduction="20000"/>
          </a:bodyPr>
          <a:lstStyle/>
          <a:p>
            <a:r>
              <a:rPr lang="hu-HU" b="1" dirty="0"/>
              <a:t>1999. </a:t>
            </a:r>
            <a:r>
              <a:rPr lang="hu-HU" b="1" dirty="0" err="1"/>
              <a:t>Avandia</a:t>
            </a:r>
            <a:r>
              <a:rPr lang="hu-HU" b="1" dirty="0"/>
              <a:t> (</a:t>
            </a:r>
            <a:r>
              <a:rPr lang="hu-HU" b="1" dirty="0" err="1"/>
              <a:t>roziglitazon</a:t>
            </a:r>
            <a:r>
              <a:rPr lang="hu-HU" b="1" dirty="0"/>
              <a:t>)</a:t>
            </a:r>
          </a:p>
          <a:p>
            <a:pPr lvl="1"/>
            <a:r>
              <a:rPr lang="hu-HU" dirty="0"/>
              <a:t>Inzulin érzékenyítő, jelentős HbA1c csökkentés 1-1.5%</a:t>
            </a:r>
          </a:p>
          <a:p>
            <a:pPr lvl="1"/>
            <a:r>
              <a:rPr lang="hu-HU" dirty="0"/>
              <a:t>a GSK második </a:t>
            </a:r>
            <a:r>
              <a:rPr lang="hu-HU" dirty="0" err="1"/>
              <a:t>legprofitábilisabb</a:t>
            </a:r>
            <a:r>
              <a:rPr lang="hu-HU" dirty="0"/>
              <a:t> gyógyszere (1999-2006)</a:t>
            </a:r>
          </a:p>
          <a:p>
            <a:r>
              <a:rPr lang="hu-HU" b="1" dirty="0"/>
              <a:t>2007. Dr. Steven </a:t>
            </a:r>
            <a:r>
              <a:rPr lang="hu-HU" b="1" dirty="0" err="1"/>
              <a:t>Nissen</a:t>
            </a:r>
            <a:r>
              <a:rPr lang="hu-HU" b="1" dirty="0"/>
              <a:t> és </a:t>
            </a:r>
            <a:r>
              <a:rPr lang="hu-HU" b="1" dirty="0" err="1"/>
              <a:t>mtsai</a:t>
            </a:r>
            <a:r>
              <a:rPr lang="hu-HU" b="1" dirty="0"/>
              <a:t> </a:t>
            </a:r>
            <a:r>
              <a:rPr lang="hu-HU" dirty="0"/>
              <a:t>retrospektív </a:t>
            </a:r>
            <a:r>
              <a:rPr lang="hu-HU" dirty="0" err="1"/>
              <a:t>metaanalízise</a:t>
            </a:r>
            <a:endParaRPr lang="hu-HU" dirty="0"/>
          </a:p>
          <a:p>
            <a:pPr lvl="1"/>
            <a:r>
              <a:rPr lang="hu-HU" b="1" dirty="0"/>
              <a:t>43%-kal nőtt a szívinfarktus kockázata</a:t>
            </a:r>
          </a:p>
          <a:p>
            <a:pPr lvl="1"/>
            <a:r>
              <a:rPr lang="hu-HU" dirty="0"/>
              <a:t>a CV halálozás veszélye emelkedett</a:t>
            </a:r>
          </a:p>
          <a:p>
            <a:r>
              <a:rPr lang="hu-HU" b="1" dirty="0"/>
              <a:t>2010. az EMA teljesen kivonta, az FDA szigorúan korlátozta</a:t>
            </a:r>
          </a:p>
          <a:p>
            <a:r>
              <a:rPr lang="hu-HU" dirty="0"/>
              <a:t>2013. FDA-DCRI felülvizsgálat</a:t>
            </a:r>
          </a:p>
          <a:p>
            <a:pPr lvl="1"/>
            <a:r>
              <a:rPr lang="hu-HU" dirty="0"/>
              <a:t>Kevésbé drasztikus a szívinfarktus kockázat, mint amit </a:t>
            </a:r>
            <a:r>
              <a:rPr lang="hu-HU" dirty="0" err="1"/>
              <a:t>Nissenék</a:t>
            </a:r>
            <a:r>
              <a:rPr lang="hu-HU" dirty="0"/>
              <a:t> mértek</a:t>
            </a:r>
          </a:p>
          <a:p>
            <a:pPr lvl="1"/>
            <a:r>
              <a:rPr lang="hu-HU" b="1" dirty="0"/>
              <a:t>De fokozott a szívelégtelenség kockázata</a:t>
            </a:r>
          </a:p>
          <a:p>
            <a:pPr marL="0" indent="0">
              <a:buNone/>
            </a:pPr>
            <a:endParaRPr lang="hu-HU" dirty="0"/>
          </a:p>
          <a:p>
            <a:pPr marL="0" indent="0">
              <a:buNone/>
            </a:pPr>
            <a:r>
              <a:rPr lang="hu-HU" b="1" dirty="0"/>
              <a:t>FDA, EMA: </a:t>
            </a:r>
            <a:r>
              <a:rPr lang="hu-HU" b="1" dirty="0" err="1"/>
              <a:t>antidiabetikumoknál</a:t>
            </a:r>
            <a:r>
              <a:rPr lang="hu-HU" b="1" dirty="0"/>
              <a:t> CV biztonságossági vizsgálat kell!</a:t>
            </a:r>
          </a:p>
          <a:p>
            <a:r>
              <a:rPr lang="hu-HU" dirty="0"/>
              <a:t>Az SGLT2 gátlók és GLP1 agonisták korszaka ennek köszönhető</a:t>
            </a:r>
          </a:p>
        </p:txBody>
      </p:sp>
      <p:sp>
        <p:nvSpPr>
          <p:cNvPr id="7" name="Szövegdoboz 6">
            <a:extLst>
              <a:ext uri="{FF2B5EF4-FFF2-40B4-BE49-F238E27FC236}">
                <a16:creationId xmlns:a16="http://schemas.microsoft.com/office/drawing/2014/main" id="{622B8E88-036A-A6FF-4F57-40965613D303}"/>
              </a:ext>
            </a:extLst>
          </p:cNvPr>
          <p:cNvSpPr txBox="1"/>
          <p:nvPr/>
        </p:nvSpPr>
        <p:spPr>
          <a:xfrm>
            <a:off x="77411" y="5903893"/>
            <a:ext cx="316895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Dr. Steven Nissen,</a:t>
            </a:r>
            <a:br>
              <a:rPr lang="en-US" sz="2400" b="1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400" b="1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Cleveland Clinic</a:t>
            </a:r>
            <a:endParaRPr lang="hu-HU" sz="2400" b="1" dirty="0">
              <a:solidFill>
                <a:schemeClr val="bg1"/>
              </a:solidFill>
              <a:effectLst>
                <a:outerShdw blurRad="50800" dist="38100" dir="2700000" algn="tl" rotWithShape="0">
                  <a:prstClr val="black"/>
                </a:outerShdw>
              </a:effectLs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2925832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C478D8-E06C-5C15-7729-91A756B1E2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HU" b="1" dirty="0"/>
              <a:t>Mit ajánl a természetgyógyász akut szívinfarktus esetén?</a:t>
            </a:r>
            <a:endParaRPr lang="en-HU" dirty="0"/>
          </a:p>
        </p:txBody>
      </p:sp>
    </p:spTree>
    <p:extLst>
      <p:ext uri="{BB962C8B-B14F-4D97-AF65-F5344CB8AC3E}">
        <p14:creationId xmlns:p14="http://schemas.microsoft.com/office/powerpoint/2010/main" val="226064798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A31937-1CA6-4E81-0DEF-E6501B177F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37DF85A-96CD-1C13-7B26-D62FFBD544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318931"/>
            <a:ext cx="7772400" cy="62201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800020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4F00C2-4F00-B42F-3046-8ADC82D786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HU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65B277B-E78B-3095-8AED-ED34C640229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02888" y="0"/>
            <a:ext cx="10986223" cy="73241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51449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809</TotalTime>
  <Words>2304</Words>
  <Application>Microsoft Macintosh PowerPoint</Application>
  <PresentationFormat>Szélesvásznú</PresentationFormat>
  <Paragraphs>298</Paragraphs>
  <Slides>39</Slides>
  <Notes>6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1</vt:i4>
      </vt:variant>
      <vt:variant>
        <vt:lpstr>Téma</vt:lpstr>
      </vt:variant>
      <vt:variant>
        <vt:i4>1</vt:i4>
      </vt:variant>
      <vt:variant>
        <vt:lpstr>Diacímek</vt:lpstr>
      </vt:variant>
      <vt:variant>
        <vt:i4>39</vt:i4>
      </vt:variant>
    </vt:vector>
  </HeadingPairs>
  <TitlesOfParts>
    <vt:vector size="41" baseType="lpstr">
      <vt:lpstr>Arial</vt:lpstr>
      <vt:lpstr>Office Theme</vt:lpstr>
      <vt:lpstr>Koleszterincsökkentés és sztatinok helye a megelőzésben</vt:lpstr>
      <vt:lpstr>Mik az orvostudomány által bizonyított hatások?</vt:lpstr>
      <vt:lpstr>Mióta nem kérdés 2026-ban, hogy KELL a sztatin terápia?</vt:lpstr>
      <vt:lpstr>Mennyi lenne az optimális LDL-koleszterin szint?</vt:lpstr>
      <vt:lpstr>Milyen LDL-koleszterin célértéket (mmol/L) érjünk el?</vt:lpstr>
      <vt:lpstr>Tanácsok sztatinok biztonságos alkalmazásához</vt:lpstr>
      <vt:lpstr>PowerPoint-bemutató</vt:lpstr>
      <vt:lpstr> Score2-Diabetes</vt:lpstr>
      <vt:lpstr>PowerPoint-bemutató</vt:lpstr>
      <vt:lpstr>PowerPoint-bemutató</vt:lpstr>
      <vt:lpstr>PowerPoint-bemutató</vt:lpstr>
      <vt:lpstr> Score2</vt:lpstr>
      <vt:lpstr>PowerPoint-bemutató</vt:lpstr>
      <vt:lpstr>PowerPoint-bemutató</vt:lpstr>
      <vt:lpstr>Előnyök    Mellékhatások</vt:lpstr>
      <vt:lpstr>Nocebo effektus</vt:lpstr>
      <vt:lpstr>Gyakori nocebo gyógyszerek</vt:lpstr>
      <vt:lpstr>Sztatin „nocebo” vizsgálatok</vt:lpstr>
      <vt:lpstr>Izom- és ízületi fájdalommal kapcsolatos vizsgálatok </vt:lpstr>
      <vt:lpstr>Májfunkciót vizsgáló tanulmányok</vt:lpstr>
      <vt:lpstr>PowerPoint-bemutató</vt:lpstr>
      <vt:lpstr>Mi történik, ha ártalmas?</vt:lpstr>
      <vt:lpstr>A sztatin vita (2013-2014)</vt:lpstr>
      <vt:lpstr>A sztatin vita (2013-2014)</vt:lpstr>
      <vt:lpstr>A sztatin vita (2013-2014)</vt:lpstr>
      <vt:lpstr>A sztatin vita (2013-2014)</vt:lpstr>
      <vt:lpstr>A sztatin vita (2013-2014)</vt:lpstr>
      <vt:lpstr>PowerPoint-bemutató</vt:lpstr>
      <vt:lpstr>PowerPoint-bemutató</vt:lpstr>
      <vt:lpstr>„Fighting to retain my medical licence” (Aseem Malhotra, 2026.03)</vt:lpstr>
      <vt:lpstr>„Sztatinellenes influencerek”</vt:lpstr>
      <vt:lpstr>PowerPoint-bemutató</vt:lpstr>
      <vt:lpstr>Az Egyesült Királyságban a 2013-14. közötti brit médiavisszhang hatására egy fél éves időszakban mintegy 220 000 ember hagyhatta el a sztatinkezelést, ami a British Heart Foundation becslései szerint a következő 10 évben 2170 körüli extra szívroham, illetve szélütés (stroke) kialakulásáért lehetett felelős.  (Impact of statin related media coverage on use of statins: interrupted time series analysis with UK primary care data, Matthews et. al. BMJ 2016;353:i3283)</vt:lpstr>
      <vt:lpstr>“Elveszítjük a pácienseink szívéért és elméjéért folytatott csatát a nem bizonyított terápiákat hirdető weboldalakkal szemben”</vt:lpstr>
      <vt:lpstr>“Elveszítjük a pácienseink szívéért és elméjéért folytatott csatát a nem bizonyított terápiákat hirdető weboldalakkal szemben”</vt:lpstr>
      <vt:lpstr>Mi történik, ha ártalmas?</vt:lpstr>
      <vt:lpstr>Mit ajánl a természetgyógyász akut szívinfarktus esetén?</vt:lpstr>
      <vt:lpstr>PowerPoint-bemutató</vt:lpstr>
      <vt:lpstr>PowerPoint-bemutató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Koleszterincsökkentés és sztatinok helye a megelőzésben</dc:title>
  <dc:subject/>
  <dc:creator>Gábor Iglói</dc:creator>
  <cp:keywords/>
  <dc:description/>
  <cp:lastModifiedBy>Iglói Gábor Dr.</cp:lastModifiedBy>
  <cp:revision>56</cp:revision>
  <dcterms:created xsi:type="dcterms:W3CDTF">2026-05-20T05:33:38Z</dcterms:created>
  <dcterms:modified xsi:type="dcterms:W3CDTF">2026-09-23T11:06:27Z</dcterms:modified>
  <cp:category/>
</cp:coreProperties>
</file>