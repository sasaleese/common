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13676" r:id="rId3"/>
    <p:sldId id="13678" r:id="rId4"/>
    <p:sldId id="13713" r:id="rId5"/>
    <p:sldId id="13701" r:id="rId6"/>
    <p:sldId id="13686" r:id="rId7"/>
    <p:sldId id="13722" r:id="rId8"/>
    <p:sldId id="13672" r:id="rId9"/>
    <p:sldId id="2842" r:id="rId10"/>
    <p:sldId id="2843" r:id="rId11"/>
    <p:sldId id="13702" r:id="rId12"/>
    <p:sldId id="13724" r:id="rId13"/>
    <p:sldId id="13725" r:id="rId14"/>
    <p:sldId id="13719" r:id="rId15"/>
    <p:sldId id="13699" r:id="rId16"/>
    <p:sldId id="13691" r:id="rId17"/>
    <p:sldId id="13694" r:id="rId18"/>
    <p:sldId id="13692" r:id="rId19"/>
    <p:sldId id="13693" r:id="rId20"/>
    <p:sldId id="13695" r:id="rId21"/>
    <p:sldId id="13721" r:id="rId22"/>
    <p:sldId id="13707" r:id="rId23"/>
    <p:sldId id="13708" r:id="rId24"/>
    <p:sldId id="13709" r:id="rId25"/>
    <p:sldId id="13712" r:id="rId26"/>
    <p:sldId id="13714" r:id="rId27"/>
    <p:sldId id="13717" r:id="rId28"/>
    <p:sldId id="13710" r:id="rId29"/>
    <p:sldId id="13711" r:id="rId30"/>
    <p:sldId id="13715" r:id="rId31"/>
    <p:sldId id="13718" r:id="rId32"/>
    <p:sldId id="13720" r:id="rId33"/>
    <p:sldId id="13679" r:id="rId34"/>
    <p:sldId id="13705" r:id="rId35"/>
    <p:sldId id="13704" r:id="rId36"/>
    <p:sldId id="13723" r:id="rId37"/>
    <p:sldId id="13687" r:id="rId38"/>
    <p:sldId id="13688" r:id="rId39"/>
    <p:sldId id="13690" r:id="rId40"/>
  </p:sldIdLst>
  <p:sldSz cx="12192000" cy="6858000"/>
  <p:notesSz cx="6858000" cy="9144000"/>
  <p:defaultTextStyle>
    <a:defPPr>
      <a:defRPr lang="en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0" autoAdjust="0"/>
    <p:restoredTop sz="94690"/>
  </p:normalViewPr>
  <p:slideViewPr>
    <p:cSldViewPr snapToGrid="0">
      <p:cViewPr varScale="1">
        <p:scale>
          <a:sx n="111" d="100"/>
          <a:sy n="111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munkalap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munkalap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GB" b="0" i="0" dirty="0">
                <a:latin typeface="Arial" panose="020B0604020202020204" pitchFamily="34" charset="0"/>
              </a:rPr>
              <a:t>10 </a:t>
            </a:r>
            <a:r>
              <a:rPr lang="en-GB" b="0" i="0" dirty="0" err="1">
                <a:latin typeface="Arial" panose="020B0604020202020204" pitchFamily="34" charset="0"/>
              </a:rPr>
              <a:t>éves</a:t>
            </a:r>
            <a:r>
              <a:rPr lang="en-GB" b="0" i="0" dirty="0">
                <a:latin typeface="Arial" panose="020B0604020202020204" pitchFamily="34" charset="0"/>
              </a:rPr>
              <a:t> CV </a:t>
            </a:r>
            <a:r>
              <a:rPr lang="en-GB" b="0" i="0" dirty="0" err="1">
                <a:latin typeface="Arial" panose="020B0604020202020204" pitchFamily="34" charset="0"/>
              </a:rPr>
              <a:t>rizikó</a:t>
            </a:r>
            <a:r>
              <a:rPr lang="en-GB" b="0" i="0" baseline="0" dirty="0">
                <a:latin typeface="Arial" panose="020B0604020202020204" pitchFamily="34" charset="0"/>
              </a:rPr>
              <a:t> </a:t>
            </a:r>
            <a:r>
              <a:rPr lang="en-GB" b="0" i="0" dirty="0" err="1">
                <a:latin typeface="Arial" panose="020B0604020202020204" pitchFamily="34" charset="0"/>
              </a:rPr>
              <a:t>csökkentése</a:t>
            </a:r>
            <a:endParaRPr lang="en-GB" b="0" i="0" dirty="0">
              <a:latin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Rizikócsökkentés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C9CE-A746-8970-2B5B4894A007}"/>
              </c:ext>
            </c:extLst>
          </c:dPt>
          <c:dPt>
            <c:idx val="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C9CE-A746-8970-2B5B4894A007}"/>
              </c:ext>
            </c:extLst>
          </c:dPt>
          <c:dPt>
            <c:idx val="2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C9CE-A746-8970-2B5B4894A007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C9CE-A746-8970-2B5B4894A007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C9CE-A746-8970-2B5B4894A007}"/>
              </c:ext>
            </c:extLst>
          </c:dPt>
          <c:dLbls>
            <c:dLbl>
              <c:idx val="6"/>
              <c:layout>
                <c:manualLayout>
                  <c:x val="1.9243545361821552E-3"/>
                  <c:y val="-3.8531155827743753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C9CE-A746-8970-2B5B4894A007}"/>
                </c:ext>
              </c:extLst>
            </c:dLbl>
            <c:spPr>
              <a:solidFill>
                <a:prstClr val="white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hu-HU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Dohányzás</c:v>
                </c:pt>
                <c:pt idx="1">
                  <c:v>Mozgás, diéta</c:v>
                </c:pt>
                <c:pt idx="2">
                  <c:v>GLP1+SGLT2</c:v>
                </c:pt>
                <c:pt idx="3">
                  <c:v>Statin</c:v>
                </c:pt>
                <c:pt idx="4">
                  <c:v>&lt;130 Hgmm</c:v>
                </c:pt>
                <c:pt idx="5">
                  <c:v>&lt;140 Hgmm</c:v>
                </c:pt>
                <c:pt idx="6">
                  <c:v>HbA1c &lt;7%</c:v>
                </c:pt>
              </c:strCache>
            </c:strRef>
          </c:cat>
          <c:val>
            <c:numRef>
              <c:f>Sheet1!$B$2:$B$8</c:f>
              <c:numCache>
                <c:formatCode>0.0%</c:formatCode>
                <c:ptCount val="7"/>
                <c:pt idx="0">
                  <c:v>8.8999999999999996E-2</c:v>
                </c:pt>
                <c:pt idx="1">
                  <c:v>5.8999999999999997E-2</c:v>
                </c:pt>
                <c:pt idx="2">
                  <c:v>4.9000000000000002E-2</c:v>
                </c:pt>
                <c:pt idx="3">
                  <c:v>7.1999999999999995E-2</c:v>
                </c:pt>
                <c:pt idx="4">
                  <c:v>0.08</c:v>
                </c:pt>
                <c:pt idx="5">
                  <c:v>4.2999999999999997E-2</c:v>
                </c:pt>
                <c:pt idx="6">
                  <c:v>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CE-A746-8970-2B5B4894A0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02177728"/>
        <c:axId val="1702173248"/>
      </c:barChart>
      <c:catAx>
        <c:axId val="17021777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02173248"/>
        <c:crosses val="autoZero"/>
        <c:auto val="1"/>
        <c:lblAlgn val="ctr"/>
        <c:lblOffset val="100"/>
        <c:noMultiLvlLbl val="0"/>
      </c:catAx>
      <c:valAx>
        <c:axId val="1702173248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702177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GB" b="0" i="0" dirty="0">
                <a:latin typeface="Arial" panose="020B0604020202020204" pitchFamily="34" charset="0"/>
              </a:rPr>
              <a:t>10 </a:t>
            </a:r>
            <a:r>
              <a:rPr lang="en-GB" b="0" i="0" dirty="0" err="1">
                <a:latin typeface="Arial" panose="020B0604020202020204" pitchFamily="34" charset="0"/>
              </a:rPr>
              <a:t>éves</a:t>
            </a:r>
            <a:r>
              <a:rPr lang="en-GB" b="0" i="0" dirty="0">
                <a:latin typeface="Arial" panose="020B0604020202020204" pitchFamily="34" charset="0"/>
              </a:rPr>
              <a:t> CV </a:t>
            </a:r>
            <a:r>
              <a:rPr lang="en-GB" b="0" i="0" dirty="0" err="1">
                <a:latin typeface="Arial" panose="020B0604020202020204" pitchFamily="34" charset="0"/>
              </a:rPr>
              <a:t>rizikó</a:t>
            </a:r>
            <a:r>
              <a:rPr lang="en-GB" b="0" i="0" baseline="0" dirty="0">
                <a:latin typeface="Arial" panose="020B0604020202020204" pitchFamily="34" charset="0"/>
              </a:rPr>
              <a:t> </a:t>
            </a:r>
            <a:r>
              <a:rPr lang="en-GB" b="0" i="0" dirty="0" err="1">
                <a:latin typeface="Arial" panose="020B0604020202020204" pitchFamily="34" charset="0"/>
              </a:rPr>
              <a:t>csökkentése</a:t>
            </a:r>
            <a:endParaRPr lang="en-GB" b="0" i="0" dirty="0">
              <a:latin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02177728"/>
        <c:axId val="1702173248"/>
      </c:barChart>
      <c:catAx>
        <c:axId val="17021777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02173248"/>
        <c:crosses val="autoZero"/>
        <c:auto val="1"/>
        <c:lblAlgn val="ctr"/>
        <c:lblOffset val="100"/>
        <c:noMultiLvlLbl val="0"/>
      </c:catAx>
      <c:valAx>
        <c:axId val="1702173248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702177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H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796F9C8-BBD8-8342-8474-987E188FEFB2}" type="datetimeFigureOut">
              <a:rPr lang="en-HU" smtClean="0"/>
              <a:pPr/>
              <a:t>9/30/26</a:t>
            </a:fld>
            <a:endParaRPr lang="en-H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6677AFD-810C-2A43-920D-66B65E4B4F80}" type="slidenum">
              <a:rPr lang="en-HU" smtClean="0"/>
              <a:pPr/>
              <a:t>‹#›</a:t>
            </a:fld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1552238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375404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4DDE1-5B06-6E89-B4D1-E06313C1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03AFE-1A87-0BE6-2C6A-31A8B0C58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39FC3-4BD9-234C-D488-50310AE7A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231238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77AFD-810C-2A43-920D-66B65E4B4F80}" type="slidenum">
              <a:rPr lang="en-HU" smtClean="0"/>
              <a:pPr/>
              <a:t>24</a:t>
            </a:fld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1297480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D4001-747A-4E5A-766C-BEF35AA30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D54D6C7-553A-DB13-4A7A-2157C7DE5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E0996D38-0F3C-1A02-F15F-B8500EE41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040B682-03CD-D74C-DC5F-6BC415CCC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77AFD-810C-2A43-920D-66B65E4B4F80}" type="slidenum">
              <a:rPr lang="en-HU" smtClean="0"/>
              <a:pPr/>
              <a:t>25</a:t>
            </a:fld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3514123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C4EEF-FF1B-F416-DD12-5EC9760B6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BCBFB0C-B2C6-1DB3-2AE7-736792AC1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28B5550-1A55-2A91-CD95-2A0411372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28E0247-4FC4-B4D5-392A-0C095CB9A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77AFD-810C-2A43-920D-66B65E4B4F80}" type="slidenum">
              <a:rPr lang="en-HU" smtClean="0"/>
              <a:pPr/>
              <a:t>26</a:t>
            </a:fld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4083304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0EE6A-F242-A406-3681-68F624B0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561B37D-01BA-10A2-2AD8-DBE01D241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B06A6CD-6215-CA57-77B9-3767A2362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26F7138-AC9F-1BE3-B343-772BCBBF7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77AFD-810C-2A43-920D-66B65E4B4F80}" type="slidenum">
              <a:rPr lang="en-HU" smtClean="0"/>
              <a:pPr/>
              <a:t>27</a:t>
            </a:fld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1464118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A0CC-9287-5A21-F7CE-3A94FFA6E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73468-85AA-2E6C-BEF7-3777D6042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B2F02-863D-F114-CF10-4404006BA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2026. 09. 30.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7EB99-C86A-6E7A-88E0-01F5ADA18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6C683-313F-9B63-AD7F-DCA4102F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862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EA7BC-1CCF-F4BE-79D6-BB8AEC246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2E0AC-EAA7-A59E-28BB-F9C11F182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4167F-749C-60EE-5039-2749B4CC0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2026. 09. 30.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33F7E-7F59-C0BC-88FD-C377C8D55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7D91C-37A7-2614-F245-4B294997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428394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D66B4-E495-90D0-5587-29730EBD8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0D965-F7AE-A1FD-013B-5055A726A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EADF4-07B7-02DC-18F0-3BCE8D2A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2026. 09. 30.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29BA1-3CF6-7C97-FC7A-090E949D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6417A-2454-FEC5-E56A-3A6C5FB62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986740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DACB2-F785-1AAA-F2DA-33DF48ECB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BBC34-D34C-DC2D-A2DB-8AF0D9EBC1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6B260-3A7E-EA1E-4D7D-B8F8FC84C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7881B-FBF5-4464-3E5E-54EAFF89B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2026. 09. 30.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64E23-5B69-53D2-E125-025D1E805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CC186-BC4A-1AFE-6CC7-389C86524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13741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37B3C-4D2C-8F0F-4409-F0C4D1CF1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0F43C-F805-820C-37F9-CD5EA5318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3DC28-5AAB-FD2D-4F70-D6FEDC4EC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7225B-C434-DAF9-2023-9E31A69D9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3BBBF4-4D60-DDAF-A128-F7ED65EFF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55A57-430B-A01D-151A-94A613B76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2026. 09. 30.</a:t>
            </a:fld>
            <a:endParaRPr lang="en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2F9EB8-EA31-43AE-BD2D-FC562E38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6ED0D6-B9AF-45C9-BF1C-44E4F701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605073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F1A72-4A41-466D-837A-8852F09D9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A0FD61-641A-AC8F-D533-12CE2A2F1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2026. 09. 30.</a:t>
            </a:fld>
            <a:endParaRPr lang="en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0B19B-093F-7281-5029-3929D9CDB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1EF57-0185-2CC5-A18A-14DA05CC3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76702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02729-A986-A677-9817-F6A9001F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2026. 09. 30.</a:t>
            </a:fld>
            <a:endParaRPr lang="en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5EB4B-290A-6B05-7E2E-0A34F165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76437-4632-B33F-E00A-B647A6B9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265390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4C09E-11F9-B158-1437-62367F608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963B2-D346-82E2-F152-B57D688E0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6E7DB-F833-CC4E-B10F-012F8B9D8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7C6F1-8ED8-CF2A-F656-6E91A93FD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2026. 09. 30.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EDB14-3855-61E0-FB42-0221DF5A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A29B6-C6FA-0E76-5C51-2B103572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094135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F0905-9DC1-4718-E905-A61027CCD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768DB-56AF-B853-4A73-09318E5288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5BD43-529D-C758-F233-6D74E1FE8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5DA5E-EED7-89A0-B829-5641844E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2026. 09. 30.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60D35-1C75-6231-BAAD-CF965302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BF46F-807B-A6F7-26DB-C5B16A828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366847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B1EFC-10A5-F04A-1985-B85B13C15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945C8-42B9-21B8-7ED7-5D35A38CB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E67F5-3DBF-4B78-EBF1-A34067A9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2026. 09. 30.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096E9-8E8A-8132-E659-EDE1FA2D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9DE57-69EB-C7D3-BF6E-D9BC9842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43508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5E9458-BA11-4D0A-3C9E-0718791BE2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0E488-FF60-2694-DCF9-11AED8466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D4666-7FA4-EE63-DA08-6EFD26E08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2026. 09. 30.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51E87-50BB-E366-6B4F-D9E5F11A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CA437-A185-EE36-A3D6-76F65B97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24064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3A1D37-B238-A3D7-F472-5A4CBB0B7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H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98E75-1645-B9FB-76E3-10FDE6D23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H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6D2A-9B37-B446-A365-DA8243BAF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EA86FDC9-B09F-C347-BBB0-E5614BC97474}" type="datetimeFigureOut">
              <a:rPr lang="en-HU" smtClean="0"/>
              <a:pPr/>
              <a:t>9/30/26</a:t>
            </a:fld>
            <a:endParaRPr lang="en-H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0A3A1-77EA-9B43-10AA-D5E5DB0C1D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H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8210A-7FD7-DC82-AA4B-4FF0A7501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4CEF26D-9819-7B49-80A7-6271FE50AAF6}" type="slidenum">
              <a:rPr lang="en-HU" smtClean="0"/>
              <a:pPr/>
              <a:t>‹#›</a:t>
            </a:fld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1516740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3109-197C-8433-0BA4-FC2C2DE85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Koleszterincsökkentés és s</a:t>
            </a:r>
            <a:r>
              <a:rPr lang="en-HU" dirty="0"/>
              <a:t>ztatinok helye a megelőzésben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FDE7BE9-425F-DA82-5CF3-88ECC9DC54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hu-HU" dirty="0"/>
          </a:p>
          <a:p>
            <a:endParaRPr lang="hu-HU" dirty="0"/>
          </a:p>
          <a:p>
            <a:r>
              <a:rPr lang="hu-HU" dirty="0"/>
              <a:t>Dr. Iglói Gábor</a:t>
            </a:r>
            <a:br>
              <a:rPr lang="hu-HU" dirty="0"/>
            </a:br>
            <a:r>
              <a:rPr lang="hu-HU" dirty="0"/>
              <a:t>SZTE </a:t>
            </a:r>
            <a:r>
              <a:rPr lang="hu-HU" dirty="0" err="1"/>
              <a:t>Kardiometabolikus</a:t>
            </a:r>
            <a:r>
              <a:rPr lang="hu-HU" dirty="0"/>
              <a:t> Rehabilitációs Osztály</a:t>
            </a:r>
          </a:p>
        </p:txBody>
      </p:sp>
    </p:spTree>
    <p:extLst>
      <p:ext uri="{BB962C8B-B14F-4D97-AF65-F5344CB8AC3E}">
        <p14:creationId xmlns:p14="http://schemas.microsoft.com/office/powerpoint/2010/main" val="47679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B16EBA-9932-8744-798C-B9ED20FC2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Mik az orvostudomány által bizonyított hatások?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01414F-878F-9AB4-E14A-0CD39C6B1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HU" dirty="0"/>
              <a:t>az LDL-koleszterin az érelmeszesedés egyik </a:t>
            </a:r>
            <a:r>
              <a:rPr lang="en-HU" b="1" dirty="0"/>
              <a:t>oki tényezője</a:t>
            </a:r>
          </a:p>
          <a:p>
            <a:endParaRPr lang="en-HU" dirty="0"/>
          </a:p>
          <a:p>
            <a:r>
              <a:rPr lang="en-HU" dirty="0"/>
              <a:t>a sztatinok </a:t>
            </a:r>
            <a:r>
              <a:rPr lang="en-HU" b="1" dirty="0"/>
              <a:t>hatékony LDL-koleszterin csökkentők</a:t>
            </a:r>
          </a:p>
          <a:p>
            <a:endParaRPr lang="en-HU" dirty="0"/>
          </a:p>
          <a:p>
            <a:r>
              <a:rPr lang="hu-HU" dirty="0"/>
              <a:t>a </a:t>
            </a:r>
            <a:r>
              <a:rPr lang="hu-HU" dirty="0" err="1"/>
              <a:t>sztatinoknak</a:t>
            </a:r>
            <a:r>
              <a:rPr lang="hu-HU" dirty="0"/>
              <a:t> </a:t>
            </a:r>
            <a:r>
              <a:rPr lang="en-HU" b="1" dirty="0"/>
              <a:t>plakkstabilizáló hatás</a:t>
            </a:r>
            <a:r>
              <a:rPr lang="hu-HU" b="1" dirty="0"/>
              <a:t>a van</a:t>
            </a:r>
            <a:r>
              <a:rPr lang="en-HU" b="1" dirty="0"/>
              <a:t> </a:t>
            </a:r>
            <a:r>
              <a:rPr lang="en-HU" dirty="0"/>
              <a:t>- kevesebb a szívinfarktus, stroke és a kardiovaszkuláris halálozás</a:t>
            </a:r>
          </a:p>
          <a:p>
            <a:endParaRPr lang="en-HU" dirty="0"/>
          </a:p>
          <a:p>
            <a:r>
              <a:rPr lang="en-HU" dirty="0"/>
              <a:t>a sztatin terápiák </a:t>
            </a:r>
            <a:r>
              <a:rPr lang="en-HU" b="1" dirty="0"/>
              <a:t>előnyei sokszorosan meghaladják a kockázatot</a:t>
            </a:r>
            <a:r>
              <a:rPr lang="en-HU" dirty="0"/>
              <a:t>, a mellékhatások ritkák és </a:t>
            </a:r>
            <a:r>
              <a:rPr lang="hu-HU" dirty="0"/>
              <a:t>a legtöbb esetben </a:t>
            </a:r>
            <a:r>
              <a:rPr lang="en-HU" dirty="0"/>
              <a:t>nem visszafordíthatatlanok</a:t>
            </a:r>
          </a:p>
          <a:p>
            <a:endParaRPr lang="en-HU" dirty="0"/>
          </a:p>
          <a:p>
            <a:r>
              <a:rPr lang="en-HU" dirty="0"/>
              <a:t>a </a:t>
            </a:r>
            <a:r>
              <a:rPr lang="hu-HU" dirty="0"/>
              <a:t>betegek 50%-a elhagyja a </a:t>
            </a:r>
            <a:r>
              <a:rPr lang="hu-HU" dirty="0" err="1"/>
              <a:t>sztatinkezelést</a:t>
            </a:r>
            <a:r>
              <a:rPr lang="hu-HU" dirty="0"/>
              <a:t> 1 éven belül - </a:t>
            </a:r>
            <a:r>
              <a:rPr lang="en-HU" b="1" dirty="0"/>
              <a:t>az egyik legveszélyesebb betegmagatartás</a:t>
            </a:r>
          </a:p>
        </p:txBody>
      </p:sp>
    </p:spTree>
    <p:extLst>
      <p:ext uri="{BB962C8B-B14F-4D97-AF65-F5344CB8AC3E}">
        <p14:creationId xmlns:p14="http://schemas.microsoft.com/office/powerpoint/2010/main" val="839118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802EA-6F10-71B0-6ABB-469CEFE2B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U" dirty="0"/>
              <a:t>Mióta nem kérdés 2026-ban,</a:t>
            </a:r>
            <a:br>
              <a:rPr lang="en-HU" dirty="0"/>
            </a:br>
            <a:r>
              <a:rPr lang="en-HU" dirty="0"/>
              <a:t>hogy KELL a sztatin terápia?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F8302-4F44-6BF2-42C4-9866E4C52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8719"/>
            <a:ext cx="10515600" cy="4444156"/>
          </a:xfrm>
        </p:spPr>
        <p:txBody>
          <a:bodyPr>
            <a:normAutofit fontScale="92500"/>
          </a:bodyPr>
          <a:lstStyle/>
          <a:p>
            <a:r>
              <a:rPr lang="en-HU" b="1" dirty="0"/>
              <a:t>szív-érrendszeri betegek</a:t>
            </a:r>
            <a:br>
              <a:rPr lang="hu-HU" b="1" dirty="0"/>
            </a:br>
            <a:r>
              <a:rPr lang="en-HU" dirty="0"/>
              <a:t>szívinfarktus</a:t>
            </a:r>
            <a:r>
              <a:rPr lang="hu-HU" dirty="0"/>
              <a:t>, </a:t>
            </a:r>
            <a:r>
              <a:rPr lang="en-HU" dirty="0"/>
              <a:t>stroke, </a:t>
            </a:r>
            <a:r>
              <a:rPr lang="hu-HU" dirty="0"/>
              <a:t>sebészi </a:t>
            </a:r>
            <a:r>
              <a:rPr lang="en-HU" dirty="0"/>
              <a:t>vagy katéteres érműtétek után	</a:t>
            </a:r>
            <a:r>
              <a:rPr lang="en-HU" b="1" dirty="0"/>
              <a:t>30 éve</a:t>
            </a:r>
            <a:endParaRPr lang="en-HU" dirty="0"/>
          </a:p>
          <a:p>
            <a:r>
              <a:rPr lang="en-GB" b="1" dirty="0"/>
              <a:t>d</a:t>
            </a:r>
            <a:r>
              <a:rPr lang="en-HU" b="1" dirty="0"/>
              <a:t>iabeteses betegek							23 éve</a:t>
            </a:r>
          </a:p>
          <a:p>
            <a:r>
              <a:rPr lang="en-HU" b="1" dirty="0"/>
              <a:t>veseelégtelen betegek </a:t>
            </a:r>
            <a:r>
              <a:rPr lang="en-HU" dirty="0"/>
              <a:t>– 3. stádiumtól			</a:t>
            </a:r>
            <a:r>
              <a:rPr lang="hu-HU" dirty="0"/>
              <a:t>	</a:t>
            </a:r>
            <a:r>
              <a:rPr lang="en-HU" b="1" dirty="0"/>
              <a:t>13 éve</a:t>
            </a:r>
          </a:p>
          <a:p>
            <a:endParaRPr lang="en-HU" dirty="0"/>
          </a:p>
          <a:p>
            <a:r>
              <a:rPr lang="en-HU" dirty="0"/>
              <a:t>magas vagy igen </a:t>
            </a:r>
            <a:r>
              <a:rPr lang="en-HU" b="1" dirty="0"/>
              <a:t>magas 10 éves szív- és érrendszeri betegségkockázat</a:t>
            </a:r>
            <a:r>
              <a:rPr lang="en-HU" dirty="0"/>
              <a:t> esetén						</a:t>
            </a:r>
            <a:r>
              <a:rPr lang="en-HU" b="1" dirty="0"/>
              <a:t>20 éve</a:t>
            </a:r>
          </a:p>
          <a:p>
            <a:endParaRPr lang="en-HU" dirty="0"/>
          </a:p>
          <a:p>
            <a:r>
              <a:rPr lang="en-HU" b="1" dirty="0"/>
              <a:t>igen magas LDL-koleszterin szint</a:t>
            </a:r>
            <a:r>
              <a:rPr lang="en-HU" dirty="0"/>
              <a:t> esetén rizikófaktorok nélkül is (&gt;4.9 mmol/L)							</a:t>
            </a:r>
            <a:r>
              <a:rPr lang="hu-HU" dirty="0"/>
              <a:t>	</a:t>
            </a:r>
            <a:r>
              <a:rPr lang="en-HU" b="1" dirty="0"/>
              <a:t>25 éve</a:t>
            </a:r>
          </a:p>
        </p:txBody>
      </p:sp>
    </p:spTree>
    <p:extLst>
      <p:ext uri="{BB962C8B-B14F-4D97-AF65-F5344CB8AC3E}">
        <p14:creationId xmlns:p14="http://schemas.microsoft.com/office/powerpoint/2010/main" val="3130431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F5D790-A4D4-628A-1F32-C09EA1789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Mennyi lenne az optimális</a:t>
            </a:r>
            <a:br>
              <a:rPr lang="hu-HU" dirty="0"/>
            </a:br>
            <a:r>
              <a:rPr lang="hu-HU" dirty="0"/>
              <a:t>LDL-koleszterin szint?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F7FACB52-E304-E64C-46AD-17C52EAA64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191424"/>
              </p:ext>
            </p:extLst>
          </p:nvPr>
        </p:nvGraphicFramePr>
        <p:xfrm>
          <a:off x="838200" y="1825625"/>
          <a:ext cx="10515600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751532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323047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681065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2202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O’Keefe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és </a:t>
                      </a:r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mtsai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(JACC, 2004)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Kaplan és </a:t>
                      </a:r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mtsai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Lancet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2017)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Eaton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és </a:t>
                      </a:r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mtsai</a:t>
                      </a:r>
                      <a:b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(EJCN, 1997)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Cohen és </a:t>
                      </a:r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mtsai</a:t>
                      </a:r>
                      <a:b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(NEJM, 2006)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787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Újszülöttek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1.3-1.8 </a:t>
                      </a:r>
                      <a:r>
                        <a:rPr lang="hu-HU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mmol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/L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Főemlősök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1-1.8 </a:t>
                      </a:r>
                      <a:r>
                        <a:rPr lang="hu-HU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mmol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Tsimane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törzs (Bolívia)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Átl.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 </a:t>
                      </a:r>
                      <a:r>
                        <a:rPr lang="hu-HU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mmol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/L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Fiataloknál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 </a:t>
                      </a:r>
                      <a:r>
                        <a:rPr lang="hu-HU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mmol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/L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Hadza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törzs (Tanzánia)</a:t>
                      </a:r>
                      <a:b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San nép (Afrika)</a:t>
                      </a:r>
                    </a:p>
                    <a:p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 – 1.5 </a:t>
                      </a:r>
                      <a:r>
                        <a:rPr lang="hu-HU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mmol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PCSK9 mutációval élő emberek vizsgálata</a:t>
                      </a:r>
                      <a:b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(máj LDL-receptorokat megsemmisítő fehérje)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868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 újszülöttek LDL-koleszterin szintje genetikailag kódolt, független az anya koleszterinszintjétől vagy etnikumától.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Vadászat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Halászat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Gyűjtögetés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Extrém magas fizikai aktivitás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Rendkívül alacsony PCSK9 fehérjeszint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Májsejteken sok LDL-receptor marad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 LDL koleszterin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0.5-1 </a:t>
                      </a:r>
                      <a:r>
                        <a:rPr lang="hu-HU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mmol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775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főemlősöknél az érelmeszesedés ismeretlen kórkép.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világon a legalacsonyabb CV rizikójú populáció.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Szívinfarktus gyakorlatilag nem létezik náluk.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Egészségesek, nincs kognitív vagy hormonális probléma és a CV rizikó 88%-</a:t>
                      </a:r>
                      <a:r>
                        <a:rPr lang="hu-HU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alacsonyabb.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593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1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50C73-DF30-4B63-EFB4-39EB284DB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46C8-791C-084E-2E99-AAD58B2D0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HU" dirty="0"/>
              <a:t>Milyen LDL-koleszterin</a:t>
            </a:r>
            <a:br>
              <a:rPr lang="en-HU" dirty="0"/>
            </a:br>
            <a:r>
              <a:rPr lang="en-HU" dirty="0"/>
              <a:t>célértéket (mmol/L) érjünk 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4AB09-5AC3-ECB1-D4A4-B69CF19C2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8719"/>
            <a:ext cx="10515600" cy="4444156"/>
          </a:xfrm>
        </p:spPr>
        <p:txBody>
          <a:bodyPr>
            <a:normAutofit/>
          </a:bodyPr>
          <a:lstStyle/>
          <a:p>
            <a:r>
              <a:rPr lang="en-HU" b="1" dirty="0"/>
              <a:t>szív-érrendszeri betegek</a:t>
            </a:r>
            <a:r>
              <a:rPr lang="en-HU" dirty="0"/>
              <a:t>				</a:t>
            </a:r>
            <a:r>
              <a:rPr lang="en-HU" b="1" dirty="0"/>
              <a:t>1.4 alatt</a:t>
            </a:r>
            <a:br>
              <a:rPr lang="en-HU" dirty="0"/>
            </a:br>
            <a:r>
              <a:rPr lang="en-HU" dirty="0"/>
              <a:t>stroke-on átesettek					1.8 alatt</a:t>
            </a:r>
            <a:br>
              <a:rPr lang="en-HU" dirty="0"/>
            </a:br>
            <a:r>
              <a:rPr lang="en-HU" dirty="0"/>
              <a:t>ismétlődő koszorúér események			1 alatt</a:t>
            </a:r>
          </a:p>
          <a:p>
            <a:r>
              <a:rPr lang="en-GB" b="1" dirty="0"/>
              <a:t>d</a:t>
            </a:r>
            <a:r>
              <a:rPr lang="en-HU" b="1" dirty="0"/>
              <a:t>iabeteses betegek				</a:t>
            </a:r>
            <a:r>
              <a:rPr lang="en-HU" dirty="0"/>
              <a:t>első lépésben 2.6,</a:t>
            </a:r>
            <a:br>
              <a:rPr lang="en-HU" dirty="0"/>
            </a:br>
            <a:r>
              <a:rPr lang="en-HU" b="1" dirty="0"/>
              <a:t>								majd 1.8 alatt</a:t>
            </a:r>
          </a:p>
          <a:p>
            <a:r>
              <a:rPr lang="en-HU" b="1" dirty="0"/>
              <a:t>veseelégtelen betegek				1.8</a:t>
            </a:r>
            <a:r>
              <a:rPr lang="en-HU" dirty="0"/>
              <a:t>-1.4 alatt</a:t>
            </a:r>
          </a:p>
          <a:p>
            <a:r>
              <a:rPr lang="en-HU" dirty="0"/>
              <a:t>magas vagy igen </a:t>
            </a:r>
            <a:r>
              <a:rPr lang="en-HU" b="1" dirty="0"/>
              <a:t>magas 10 éves szív- és érrendszeri betegségkockázat</a:t>
            </a:r>
            <a:r>
              <a:rPr lang="en-HU" dirty="0"/>
              <a:t> esetén				</a:t>
            </a:r>
            <a:r>
              <a:rPr lang="en-HU" b="1" dirty="0"/>
              <a:t>legalább 1.8 alatt</a:t>
            </a:r>
          </a:p>
          <a:p>
            <a:r>
              <a:rPr lang="en-HU" b="1" dirty="0"/>
              <a:t>igen magas LDL-koleszterin szint</a:t>
            </a:r>
            <a:r>
              <a:rPr lang="en-HU" dirty="0"/>
              <a:t> esetén rizikófaktorok nélkül is (&gt;4.9 mmol/L)					</a:t>
            </a:r>
            <a:r>
              <a:rPr lang="en-HU" b="1" dirty="0"/>
              <a:t>legalább 2.6 alatt</a:t>
            </a:r>
          </a:p>
        </p:txBody>
      </p:sp>
    </p:spTree>
    <p:extLst>
      <p:ext uri="{BB962C8B-B14F-4D97-AF65-F5344CB8AC3E}">
        <p14:creationId xmlns:p14="http://schemas.microsoft.com/office/powerpoint/2010/main" val="3329303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5037D-AAF6-7DE4-19A7-B0A5BC332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/>
              <a:t>Tanácsok sztatinok biztonságos alkalmazásához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D86E4-34E5-711B-062A-35BC8FD7A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HU" dirty="0"/>
              <a:t>A sztatinok általában biztonságosak, a terápia nagyban csökkenti a szívinfarktus és stroke kockázatát.</a:t>
            </a:r>
          </a:p>
          <a:p>
            <a:pPr marL="0" indent="0">
              <a:buNone/>
            </a:pPr>
            <a:r>
              <a:rPr lang="en-HU" dirty="0"/>
              <a:t>Alkoholt csak mérsékelten fogyasszon, kerülje a rendszeres nagy mennyiségeket.</a:t>
            </a:r>
          </a:p>
          <a:p>
            <a:pPr marL="0" indent="0">
              <a:buNone/>
            </a:pPr>
            <a:r>
              <a:rPr lang="en-HU" dirty="0"/>
              <a:t>Ha izomfájdalom, izomgyengeség, sötét színű vizelet, vagy szokatlan fáradékonyság jelentkezik, jelezze kezelőorvosának. </a:t>
            </a:r>
          </a:p>
          <a:p>
            <a:pPr marL="0" indent="0">
              <a:buNone/>
            </a:pPr>
            <a:r>
              <a:rPr lang="en-HU" dirty="0"/>
              <a:t>Májbetegségre utaló tünetek (hasi fájdalom, sárgaság</a:t>
            </a:r>
            <a:r>
              <a:rPr lang="hu-HU" dirty="0"/>
              <a:t>, szokatlan fáradékonyság</a:t>
            </a:r>
            <a:r>
              <a:rPr lang="en-HU" dirty="0"/>
              <a:t>) esetén </a:t>
            </a:r>
            <a:r>
              <a:rPr lang="hu-HU" dirty="0"/>
              <a:t>szintén</a:t>
            </a:r>
            <a:r>
              <a:rPr lang="en-HU" dirty="0"/>
              <a:t> keresse fel </a:t>
            </a:r>
            <a:r>
              <a:rPr lang="en-HU"/>
              <a:t>orvosát.</a:t>
            </a:r>
            <a:endParaRPr lang="hu-HU" dirty="0"/>
          </a:p>
          <a:p>
            <a:pPr marL="0" indent="0">
              <a:buNone/>
            </a:pPr>
            <a:r>
              <a:rPr lang="hu-HU" dirty="0" err="1"/>
              <a:t>Sztatin</a:t>
            </a:r>
            <a:r>
              <a:rPr lang="hu-HU" dirty="0"/>
              <a:t> szedése mellett vírusellenes, gombaellenes vagy bizonyos antibiotikus kezelések fokozhatják az izomkárosodás kockázatát, ezért új gyógyszerek indításakor ennek ellenőrzése javasolt. Grapefruitlé nagyobb mennyiségben történő rendszeres fogyasztása szintén kerülendő.</a:t>
            </a:r>
          </a:p>
        </p:txBody>
      </p:sp>
    </p:spTree>
    <p:extLst>
      <p:ext uri="{BB962C8B-B14F-4D97-AF65-F5344CB8AC3E}">
        <p14:creationId xmlns:p14="http://schemas.microsoft.com/office/powerpoint/2010/main" val="2412394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F16266-AFF5-D6C3-2B2C-9B91162CD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5" y="-1"/>
            <a:ext cx="12049246" cy="68538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AFE8DF-B93B-D4DE-4F8C-7402427D6848}"/>
              </a:ext>
            </a:extLst>
          </p:cNvPr>
          <p:cNvSpPr txBox="1"/>
          <p:nvPr/>
        </p:nvSpPr>
        <p:spPr>
          <a:xfrm>
            <a:off x="555584" y="2458362"/>
            <a:ext cx="335665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Klinikai döntéstámogató platform kardiovaszkuláris rizikóbecsléshez</a:t>
            </a:r>
          </a:p>
          <a:p>
            <a:endParaRPr lang="en-H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 tanúsított orvostechnikai szoftver</a:t>
            </a:r>
          </a:p>
          <a:p>
            <a:endParaRPr lang="en-H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Medical Center,</a:t>
            </a:r>
          </a:p>
          <a:p>
            <a:r>
              <a:rPr lang="en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Utrecth</a:t>
            </a:r>
          </a:p>
        </p:txBody>
      </p:sp>
    </p:spTree>
    <p:extLst>
      <p:ext uri="{BB962C8B-B14F-4D97-AF65-F5344CB8AC3E}">
        <p14:creationId xmlns:p14="http://schemas.microsoft.com/office/powerpoint/2010/main" val="2111990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6A8BC-2A83-8978-C5A3-DF2474A3B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207778E-C1CD-BD02-A03F-C8CC5F39AC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HU" dirty="0"/>
              <a:t>	Score2-Diabetes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C77019-787E-E966-B839-5C32A8D333D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16347" y="1867189"/>
            <a:ext cx="5181600" cy="4351338"/>
          </a:xfrm>
        </p:spPr>
        <p:txBody>
          <a:bodyPr>
            <a:normAutofit fontScale="92500" lnSpcReduction="20000"/>
          </a:bodyPr>
          <a:lstStyle/>
          <a:p>
            <a:r>
              <a:rPr lang="en-HU" dirty="0"/>
              <a:t>pl. 55 éves magyar férfi</a:t>
            </a:r>
          </a:p>
          <a:p>
            <a:r>
              <a:rPr lang="en-HU" dirty="0"/>
              <a:t>életmód nem optimális</a:t>
            </a:r>
          </a:p>
          <a:p>
            <a:r>
              <a:rPr lang="en-HU" dirty="0"/>
              <a:t>dohányos</a:t>
            </a:r>
          </a:p>
          <a:p>
            <a:r>
              <a:rPr lang="en-HU" dirty="0"/>
              <a:t>5 éve cukorbeteg</a:t>
            </a:r>
          </a:p>
          <a:p>
            <a:r>
              <a:rPr lang="en-HU" dirty="0"/>
              <a:t>nem optimális vérnyomás (RR ~150 Hgmm)</a:t>
            </a:r>
          </a:p>
          <a:p>
            <a:r>
              <a:rPr lang="en-HU" dirty="0"/>
              <a:t>mérsékelten vesebeteg (GFR 67)</a:t>
            </a:r>
          </a:p>
          <a:p>
            <a:r>
              <a:rPr lang="en-HU" dirty="0"/>
              <a:t>részben kontrollált cukorbeteg (HbA1c 7.3%)</a:t>
            </a:r>
          </a:p>
          <a:p>
            <a:r>
              <a:rPr lang="en-HU" dirty="0"/>
              <a:t>vérzsírok célérték felett (koleszterin 5.9, LDL 3.7)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1492AB-AB36-62AE-43C9-DB139D3A9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0"/>
            <a:ext cx="613844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EA16C1D-BFFE-D078-6CB3-75D4C13CA5C2}"/>
              </a:ext>
            </a:extLst>
          </p:cNvPr>
          <p:cNvSpPr/>
          <p:nvPr/>
        </p:nvSpPr>
        <p:spPr>
          <a:xfrm>
            <a:off x="6783185" y="2194675"/>
            <a:ext cx="1673631" cy="1019580"/>
          </a:xfrm>
          <a:prstGeom prst="rect">
            <a:avLst/>
          </a:prstGeom>
          <a:noFill/>
          <a:ln w="57150">
            <a:solidFill>
              <a:srgbClr val="E6302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U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803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EEE99F-043A-866F-55EB-381363148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39" y="0"/>
            <a:ext cx="10146323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771758-2F63-BD07-8C53-4E8D8AFFE027}"/>
              </a:ext>
            </a:extLst>
          </p:cNvPr>
          <p:cNvSpPr/>
          <p:nvPr/>
        </p:nvSpPr>
        <p:spPr>
          <a:xfrm>
            <a:off x="2892828" y="2249486"/>
            <a:ext cx="2128059" cy="842849"/>
          </a:xfrm>
          <a:prstGeom prst="rect">
            <a:avLst/>
          </a:prstGeom>
          <a:noFill/>
          <a:ln w="57150">
            <a:solidFill>
              <a:srgbClr val="E6302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U" sz="2400" dirty="0">
              <a:latin typeface="Arial" panose="020B060402020202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3EF430D-F0FD-0C77-26C1-C7BB5B993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2350" y="-19049"/>
            <a:ext cx="971551" cy="102986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202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C5968-1036-AFFF-C867-A1755BB60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12CE1B-3D13-B33D-4FF5-4D554A9FE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39" y="0"/>
            <a:ext cx="10146323" cy="6858000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0E3A253D-220E-C31E-08E9-AA5FA735BF5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2371385"/>
              </p:ext>
            </p:extLst>
          </p:nvPr>
        </p:nvGraphicFramePr>
        <p:xfrm>
          <a:off x="1370056" y="0"/>
          <a:ext cx="944870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00137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717E3-9EB2-ED71-594A-08B2F3B9F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16F079E-61E0-09BE-D479-07E14E791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39" y="0"/>
            <a:ext cx="10146323" cy="6858000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4AD71DE-6A92-7AEE-4404-255185782D7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370056" y="0"/>
          <a:ext cx="944870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50FABEA9-114C-9210-B8E8-470AA6434072}"/>
              </a:ext>
            </a:extLst>
          </p:cNvPr>
          <p:cNvSpPr txBox="1">
            <a:spLocks/>
          </p:cNvSpPr>
          <p:nvPr/>
        </p:nvSpPr>
        <p:spPr>
          <a:xfrm>
            <a:off x="1620982" y="426028"/>
            <a:ext cx="8967354" cy="60163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GB" dirty="0">
                <a:solidFill>
                  <a:schemeClr val="bg1"/>
                </a:solidFill>
              </a:rPr>
              <a:t>10 ÉVES </a:t>
            </a:r>
            <a:r>
              <a:rPr lang="hu-HU" dirty="0">
                <a:solidFill>
                  <a:schemeClr val="bg1"/>
                </a:solidFill>
              </a:rPr>
              <a:t>ÖSSZESÍTETT </a:t>
            </a:r>
            <a:r>
              <a:rPr lang="en-GB" dirty="0">
                <a:solidFill>
                  <a:schemeClr val="bg1"/>
                </a:solidFill>
              </a:rPr>
              <a:t>KARDIOVASZKULÁRIS RIZIKÓCSÖKKENTÉS PÉLDABETEGÜNKNÉL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dirty="0">
                <a:solidFill>
                  <a:schemeClr val="bg1"/>
                </a:solidFill>
              </a:rPr>
              <a:t>D</a:t>
            </a:r>
            <a:r>
              <a:rPr lang="en-HU" dirty="0">
                <a:solidFill>
                  <a:schemeClr val="bg1"/>
                </a:solidFill>
              </a:rPr>
              <a:t>ohányzás elhagyása					-8.9 %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HU" dirty="0">
                <a:solidFill>
                  <a:schemeClr val="bg1"/>
                </a:solidFill>
              </a:rPr>
              <a:t>+ Vérnyomás optimalizálása</a:t>
            </a:r>
            <a:br>
              <a:rPr lang="en-HU" dirty="0">
                <a:solidFill>
                  <a:schemeClr val="bg1"/>
                </a:solidFill>
              </a:rPr>
            </a:br>
            <a:r>
              <a:rPr lang="en-HU" dirty="0">
                <a:solidFill>
                  <a:schemeClr val="bg1"/>
                </a:solidFill>
              </a:rPr>
              <a:t>						140/ alá	-2.9 %</a:t>
            </a:r>
            <a:br>
              <a:rPr lang="en-HU" dirty="0">
                <a:solidFill>
                  <a:schemeClr val="bg1"/>
                </a:solidFill>
              </a:rPr>
            </a:br>
            <a:r>
              <a:rPr lang="en-HU" dirty="0">
                <a:solidFill>
                  <a:schemeClr val="bg1"/>
                </a:solidFill>
              </a:rPr>
              <a:t>						(130/ alá	-5.3 %)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HU" dirty="0">
                <a:solidFill>
                  <a:schemeClr val="bg1"/>
                </a:solidFill>
              </a:rPr>
              <a:t>+ Alacsony dózisú sztatin				-3.9 %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HU" dirty="0">
                <a:solidFill>
                  <a:schemeClr val="bg1"/>
                </a:solidFill>
              </a:rPr>
              <a:t>+ GLP1 agonista és SGLT2 gátló együtt		-1.9 %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HU" dirty="0">
                <a:solidFill>
                  <a:schemeClr val="bg1"/>
                </a:solidFill>
              </a:rPr>
              <a:t>+ Életmód							-1.7 %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HU" dirty="0">
                <a:solidFill>
                  <a:schemeClr val="bg1"/>
                </a:solidFill>
              </a:rPr>
              <a:t>+ Cukorbetegség további optimalizálása		</a:t>
            </a:r>
            <a:r>
              <a:rPr lang="en-HU" u="sng" dirty="0">
                <a:solidFill>
                  <a:schemeClr val="bg1"/>
                </a:solidFill>
              </a:rPr>
              <a:t>-0.2 %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HU" dirty="0">
                <a:solidFill>
                  <a:schemeClr val="bg1"/>
                </a:solidFill>
              </a:rPr>
              <a:t>								-19.5 %</a:t>
            </a:r>
          </a:p>
        </p:txBody>
      </p:sp>
    </p:spTree>
    <p:extLst>
      <p:ext uri="{BB962C8B-B14F-4D97-AF65-F5344CB8AC3E}">
        <p14:creationId xmlns:p14="http://schemas.microsoft.com/office/powerpoint/2010/main" val="770648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CCB44-BFCF-7120-7EB3-F5640F84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E9C5DF-853E-E957-8D0C-D39DE3E3282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HU" dirty="0"/>
              <a:t>	Score2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4612A8-68E0-EC15-BC9F-790FB6C69AB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16347" y="1867189"/>
            <a:ext cx="5181600" cy="4351338"/>
          </a:xfrm>
        </p:spPr>
        <p:txBody>
          <a:bodyPr>
            <a:normAutofit/>
          </a:bodyPr>
          <a:lstStyle/>
          <a:p>
            <a:r>
              <a:rPr lang="en-HU" dirty="0"/>
              <a:t>pl. 40 éves magyar nő</a:t>
            </a:r>
          </a:p>
          <a:p>
            <a:pPr marL="0" indent="0">
              <a:buNone/>
            </a:pPr>
            <a:r>
              <a:rPr lang="en-HU" dirty="0"/>
              <a:t>- </a:t>
            </a:r>
            <a:r>
              <a:rPr lang="en-GB" dirty="0"/>
              <a:t>n</a:t>
            </a:r>
            <a:r>
              <a:rPr lang="en-HU" dirty="0"/>
              <a:t>em dohányos</a:t>
            </a:r>
          </a:p>
          <a:p>
            <a:r>
              <a:rPr lang="en-HU" dirty="0"/>
              <a:t>nem cukorbeteg</a:t>
            </a:r>
          </a:p>
          <a:p>
            <a:r>
              <a:rPr lang="en-HU" dirty="0"/>
              <a:t>optimális vérnyomás (RR ~120 Hgmm)</a:t>
            </a:r>
          </a:p>
          <a:p>
            <a:r>
              <a:rPr lang="en-HU" dirty="0"/>
              <a:t>vérzsírok célérték felett (koleszterin 5.5, LDL 3.4)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7CAC88-62B0-2FAD-E050-38AFF2871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080" y="0"/>
            <a:ext cx="6159920" cy="31653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D8C3DA6-2CF2-BE9A-9339-43A43D2F0953}"/>
              </a:ext>
            </a:extLst>
          </p:cNvPr>
          <p:cNvSpPr/>
          <p:nvPr/>
        </p:nvSpPr>
        <p:spPr>
          <a:xfrm>
            <a:off x="6783186" y="2194675"/>
            <a:ext cx="1469564" cy="1019580"/>
          </a:xfrm>
          <a:prstGeom prst="rect">
            <a:avLst/>
          </a:prstGeom>
          <a:noFill/>
          <a:ln w="57150">
            <a:solidFill>
              <a:srgbClr val="E6302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U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656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B42CF-966F-691A-0C56-305CE4C72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A66C734-B559-1D39-7791-9E6EDC478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2350" y="-19049"/>
            <a:ext cx="971551" cy="102986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3F7E47-38C0-B6CF-16E6-B7E855A8E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02" y="737886"/>
            <a:ext cx="11010395" cy="538222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C68AAE-3D61-C0FD-42B6-3D7AA92AFBF1}"/>
              </a:ext>
            </a:extLst>
          </p:cNvPr>
          <p:cNvSpPr/>
          <p:nvPr/>
        </p:nvSpPr>
        <p:spPr>
          <a:xfrm>
            <a:off x="2708476" y="3194612"/>
            <a:ext cx="2199189" cy="1076445"/>
          </a:xfrm>
          <a:prstGeom prst="rect">
            <a:avLst/>
          </a:prstGeom>
          <a:noFill/>
          <a:ln w="57150">
            <a:solidFill>
              <a:srgbClr val="E6302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U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342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3D9342F7-D8B9-39CD-5CBF-16AA0EF35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5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1515C8-95FE-0561-574E-F3319866C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Előnyök				Mellékhatások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62A261-B87B-4A27-1F2C-365BE4F2D2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S</a:t>
            </a:r>
            <a:r>
              <a:rPr lang="en-HU" dirty="0"/>
              <a:t>úlyos éresemények</a:t>
            </a:r>
            <a:r>
              <a:rPr lang="hu-HU" dirty="0"/>
              <a:t>	</a:t>
            </a:r>
            <a:r>
              <a:rPr lang="hu-HU" b="1" dirty="0"/>
              <a:t>21-25%</a:t>
            </a:r>
          </a:p>
          <a:p>
            <a:pPr lvl="1"/>
            <a:r>
              <a:rPr lang="hu-HU" dirty="0"/>
              <a:t>Szívinfarktus</a:t>
            </a:r>
          </a:p>
          <a:p>
            <a:pPr lvl="1"/>
            <a:r>
              <a:rPr lang="hu-HU" dirty="0"/>
              <a:t>Agyi infarktus</a:t>
            </a:r>
          </a:p>
          <a:p>
            <a:pPr lvl="1"/>
            <a:r>
              <a:rPr lang="hu-HU" dirty="0"/>
              <a:t>Ér</a:t>
            </a:r>
            <a:r>
              <a:rPr lang="en-HU" dirty="0"/>
              <a:t>stentelés vagy </a:t>
            </a:r>
            <a:r>
              <a:rPr lang="hu-HU" dirty="0"/>
              <a:t>ér</a:t>
            </a:r>
            <a:r>
              <a:rPr lang="en-HU" dirty="0"/>
              <a:t>műtét	</a:t>
            </a:r>
            <a:endParaRPr lang="hu-HU" dirty="0"/>
          </a:p>
          <a:p>
            <a:pPr lvl="1"/>
            <a:endParaRPr lang="hu-HU" dirty="0"/>
          </a:p>
          <a:p>
            <a:r>
              <a:rPr lang="en-HU" dirty="0"/>
              <a:t>Összhalálozás		</a:t>
            </a:r>
            <a:r>
              <a:rPr lang="en-HU" b="1" dirty="0"/>
              <a:t>-10%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5DD8F4-F7B2-9F2A-BC3C-1F8A98B496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I</a:t>
            </a:r>
            <a:r>
              <a:rPr lang="en-HU" dirty="0"/>
              <a:t>zomfájdalom		</a:t>
            </a:r>
            <a:r>
              <a:rPr lang="en-HU" b="1" dirty="0"/>
              <a:t>1-2%</a:t>
            </a:r>
          </a:p>
          <a:p>
            <a:r>
              <a:rPr lang="en-HU" dirty="0"/>
              <a:t>Izomfájdalom </a:t>
            </a:r>
            <a:r>
              <a:rPr lang="hu-HU" dirty="0"/>
              <a:t>+ </a:t>
            </a:r>
            <a:r>
              <a:rPr lang="en-HU" dirty="0"/>
              <a:t>CK 	0.01%</a:t>
            </a:r>
          </a:p>
          <a:p>
            <a:r>
              <a:rPr lang="en-HU" dirty="0"/>
              <a:t>Izomkárosodás</a:t>
            </a:r>
            <a:r>
              <a:rPr lang="hu-HU" dirty="0"/>
              <a:t>	</a:t>
            </a:r>
            <a:r>
              <a:rPr lang="en-HU" dirty="0"/>
              <a:t>0.000025%</a:t>
            </a:r>
          </a:p>
          <a:p>
            <a:endParaRPr lang="en-HU" dirty="0"/>
          </a:p>
          <a:p>
            <a:r>
              <a:rPr lang="en-HU" dirty="0"/>
              <a:t>Enyhe májfunkció	</a:t>
            </a:r>
            <a:r>
              <a:rPr lang="en-HU" b="1" dirty="0"/>
              <a:t>0.5-2%</a:t>
            </a:r>
          </a:p>
          <a:p>
            <a:r>
              <a:rPr lang="en-HU" dirty="0"/>
              <a:t>Súlyos májfunkció	0.1%</a:t>
            </a:r>
          </a:p>
          <a:p>
            <a:r>
              <a:rPr lang="en-HU" dirty="0"/>
              <a:t>DILI			0.000001%</a:t>
            </a:r>
          </a:p>
          <a:p>
            <a:endParaRPr lang="en-HU" dirty="0"/>
          </a:p>
          <a:p>
            <a:r>
              <a:rPr lang="en-HU" dirty="0"/>
              <a:t>Diabetes</a:t>
            </a:r>
            <a:r>
              <a:rPr lang="hu-HU" dirty="0"/>
              <a:t>	</a:t>
            </a:r>
            <a:r>
              <a:rPr lang="en-HU" dirty="0"/>
              <a:t>1 eset/1000 betegév</a:t>
            </a:r>
          </a:p>
        </p:txBody>
      </p:sp>
    </p:spTree>
    <p:extLst>
      <p:ext uri="{BB962C8B-B14F-4D97-AF65-F5344CB8AC3E}">
        <p14:creationId xmlns:p14="http://schemas.microsoft.com/office/powerpoint/2010/main" val="1992633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1EE9B-01F6-2A96-15D1-89C531EC2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Nocebo effektus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2E5F1-5A7C-D0F1-5A88-2ABAFB47A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HU" dirty="0"/>
          </a:p>
          <a:p>
            <a:r>
              <a:rPr lang="hu-HU" dirty="0"/>
              <a:t>Placebo – „Tetszeni fogok”		</a:t>
            </a:r>
            <a:r>
              <a:rPr lang="hu-HU" dirty="0" err="1"/>
              <a:t>Nocebo</a:t>
            </a:r>
            <a:r>
              <a:rPr lang="hu-HU" dirty="0"/>
              <a:t> – „Ártani fogok”</a:t>
            </a:r>
          </a:p>
          <a:p>
            <a:endParaRPr lang="hu-HU" dirty="0"/>
          </a:p>
          <a:p>
            <a:r>
              <a:rPr lang="en-HU" dirty="0"/>
              <a:t>Amikor valaki elkezd egy gyógyszert, előre hall róla mellékhatásokat</a:t>
            </a:r>
          </a:p>
          <a:p>
            <a:r>
              <a:rPr lang="en-HU" dirty="0"/>
              <a:t>Emiatt jobban figyeli a testét</a:t>
            </a:r>
          </a:p>
          <a:p>
            <a:r>
              <a:rPr lang="en-HU" dirty="0"/>
              <a:t>Ha jelentkezik egy panasz (pl. izomfájdalom), azt automatikusan a gyógyszernek tulajdonítja</a:t>
            </a:r>
          </a:p>
          <a:p>
            <a:endParaRPr lang="en-HU" dirty="0"/>
          </a:p>
          <a:p>
            <a:pPr marL="0" indent="0">
              <a:buNone/>
            </a:pPr>
            <a:r>
              <a:rPr lang="en-HU" b="1" dirty="0"/>
              <a:t>A panasz valós, de nem (vagy nem főként) a gyógyszer okozza.</a:t>
            </a:r>
            <a:endParaRPr lang="en-HU" dirty="0"/>
          </a:p>
          <a:p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3508318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7285-FC4C-B9F1-37CC-62AAB982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</a:t>
            </a:r>
            <a:r>
              <a:rPr lang="en-HU" dirty="0"/>
              <a:t>yakori nocebo gyógyszerek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9D8F2-3D78-9BC2-56D4-A750C95C8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- </a:t>
            </a:r>
            <a:r>
              <a:rPr lang="hu-HU" dirty="0" err="1"/>
              <a:t>Sztatin</a:t>
            </a:r>
            <a:r>
              <a:rPr lang="hu-HU" dirty="0"/>
              <a:t> koleszterincsökkentők</a:t>
            </a:r>
          </a:p>
          <a:p>
            <a:pPr>
              <a:buFontTx/>
              <a:buChar char="-"/>
            </a:pPr>
            <a:endParaRPr lang="en-HU" dirty="0"/>
          </a:p>
          <a:p>
            <a:pPr>
              <a:buFontTx/>
              <a:buChar char="-"/>
            </a:pPr>
            <a:r>
              <a:rPr lang="en-HU" dirty="0"/>
              <a:t>ACE-gátló / ARB</a:t>
            </a:r>
            <a:r>
              <a:rPr lang="hu-HU" dirty="0"/>
              <a:t> vérnyomáscsökkentők</a:t>
            </a:r>
            <a:endParaRPr lang="en-HU" dirty="0"/>
          </a:p>
          <a:p>
            <a:pPr>
              <a:buFontTx/>
              <a:buChar char="-"/>
            </a:pPr>
            <a:r>
              <a:rPr lang="en-GB" dirty="0"/>
              <a:t>A</a:t>
            </a:r>
            <a:r>
              <a:rPr lang="en-HU" dirty="0"/>
              <a:t>ntidepresszánsok</a:t>
            </a:r>
          </a:p>
          <a:p>
            <a:pPr>
              <a:buFontTx/>
              <a:buChar char="-"/>
            </a:pPr>
            <a:r>
              <a:rPr lang="en-HU" dirty="0"/>
              <a:t>Fájdalomcsillapító nem-szteroid gyulladáscsökkentők</a:t>
            </a:r>
          </a:p>
          <a:p>
            <a:pPr>
              <a:buFontTx/>
              <a:buChar char="-"/>
            </a:pPr>
            <a:r>
              <a:rPr lang="en-HU" dirty="0"/>
              <a:t>Aszthma inhalációs gyógyszerek</a:t>
            </a:r>
          </a:p>
          <a:p>
            <a:pPr>
              <a:buFontTx/>
              <a:buChar char="-"/>
            </a:pPr>
            <a:r>
              <a:rPr lang="hu-HU" dirty="0"/>
              <a:t>Rákellenes </a:t>
            </a:r>
            <a:r>
              <a:rPr lang="en-HU" dirty="0"/>
              <a:t>terápiák</a:t>
            </a:r>
            <a:endParaRPr lang="hu-HU" dirty="0"/>
          </a:p>
          <a:p>
            <a:pPr>
              <a:buFontTx/>
              <a:buChar char="-"/>
            </a:pPr>
            <a:r>
              <a:rPr lang="hu-HU" dirty="0"/>
              <a:t>B</a:t>
            </a:r>
            <a:r>
              <a:rPr lang="en-HU" dirty="0"/>
              <a:t>iológiai terápiá</a:t>
            </a:r>
            <a:r>
              <a:rPr lang="hu-HU" dirty="0"/>
              <a:t>k</a:t>
            </a:r>
          </a:p>
          <a:p>
            <a:pPr>
              <a:buFontTx/>
              <a:buChar char="-"/>
            </a:pPr>
            <a:r>
              <a:rPr lang="en-HU" dirty="0"/>
              <a:t>Védőoltások</a:t>
            </a:r>
          </a:p>
        </p:txBody>
      </p:sp>
    </p:spTree>
    <p:extLst>
      <p:ext uri="{BB962C8B-B14F-4D97-AF65-F5344CB8AC3E}">
        <p14:creationId xmlns:p14="http://schemas.microsoft.com/office/powerpoint/2010/main" val="2516409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E2B3-5B6F-A086-FF8A-823BDFD86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Sztatin </a:t>
            </a:r>
            <a:r>
              <a:rPr lang="hu-HU" dirty="0"/>
              <a:t>„</a:t>
            </a:r>
            <a:r>
              <a:rPr lang="en-HU" dirty="0"/>
              <a:t>nocebo</a:t>
            </a:r>
            <a:r>
              <a:rPr lang="hu-HU" dirty="0"/>
              <a:t>”</a:t>
            </a:r>
            <a:r>
              <a:rPr lang="en-HU" dirty="0"/>
              <a:t> vizsgálatok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0C160-1EB4-D176-6BB8-89525AA07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S</a:t>
            </a:r>
            <a:r>
              <a:rPr lang="en-HU" dirty="0"/>
              <a:t>ztatin intoleráns betegeknél </a:t>
            </a:r>
            <a:r>
              <a:rPr lang="en-HU" b="1" dirty="0"/>
              <a:t>1-2 hónapig sztatin </a:t>
            </a:r>
            <a:r>
              <a:rPr lang="en-HU" dirty="0"/>
              <a:t>tablettát, majd </a:t>
            </a:r>
            <a:r>
              <a:rPr lang="en-HU" b="1" dirty="0"/>
              <a:t>1-2 hónapig placebo </a:t>
            </a:r>
            <a:r>
              <a:rPr lang="en-HU" dirty="0"/>
              <a:t>tablettát adtak, egyes vizsgálatokban még </a:t>
            </a:r>
            <a:r>
              <a:rPr lang="en-HU" b="1" dirty="0"/>
              <a:t>tablettamentes hónapokat </a:t>
            </a:r>
            <a:r>
              <a:rPr lang="en-HU" dirty="0"/>
              <a:t>is beiktattak</a:t>
            </a:r>
          </a:p>
          <a:p>
            <a:r>
              <a:rPr lang="en-HU" dirty="0"/>
              <a:t>A betegek és a vizsgálók sem tudták közben, hogy mikor kapnak sztatint vagy placebot – “kettős vak vizsgálat”</a:t>
            </a:r>
          </a:p>
          <a:p>
            <a:r>
              <a:rPr lang="en-HU" dirty="0"/>
              <a:t>A betegek rendszeresen pontrendszer segítségével értékelték aktuális panaszaikat</a:t>
            </a:r>
          </a:p>
        </p:txBody>
      </p:sp>
    </p:spTree>
    <p:extLst>
      <p:ext uri="{BB962C8B-B14F-4D97-AF65-F5344CB8AC3E}">
        <p14:creationId xmlns:p14="http://schemas.microsoft.com/office/powerpoint/2010/main" val="2571456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3359B-3F41-2A64-DC4D-DE77953AD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HU" dirty="0"/>
              <a:t>Izom- és ízületi fájdalommal kapcsolatos vizsgálatok</a:t>
            </a:r>
            <a:br>
              <a:rPr lang="en-HU" dirty="0"/>
            </a:br>
            <a:endParaRPr lang="en-HU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67B0BF-9043-CCDD-6EC4-46DAB0F78F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3031145"/>
              </p:ext>
            </p:extLst>
          </p:nvPr>
        </p:nvGraphicFramePr>
        <p:xfrm>
          <a:off x="838200" y="1441158"/>
          <a:ext cx="10515600" cy="486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5764782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777091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194842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94918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HU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SAMSON 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StatinWISE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CTT metaanalízis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312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HU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390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Betegszám</a:t>
                      </a:r>
                      <a:endParaRPr lang="en-H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=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= </a:t>
                      </a:r>
                      <a:r>
                        <a:rPr lang="en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124.000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779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Protokoll</a:t>
                      </a:r>
                      <a:endParaRPr lang="en-H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évig</a:t>
                      </a:r>
                      <a:b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4x1 hónap statin</a:t>
                      </a:r>
                    </a:p>
                    <a:p>
                      <a:r>
                        <a:rPr lang="en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4x1 hónap placebo</a:t>
                      </a:r>
                    </a:p>
                    <a:p>
                      <a:r>
                        <a:rPr lang="en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4x1 hónap “no tablet”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évig</a:t>
                      </a:r>
                    </a:p>
                    <a:p>
                      <a:r>
                        <a:rPr lang="en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3x2 hó statin</a:t>
                      </a:r>
                    </a:p>
                    <a:p>
                      <a:r>
                        <a:rPr lang="en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3x2 hó placebo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 placebo-kontrollált RCT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48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Sz</a:t>
                      </a:r>
                      <a:r>
                        <a:rPr lang="en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tatin mellett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HU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anasz 2.2 a 10-es skálán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3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Placebo mellett</a:t>
                      </a:r>
                      <a:endParaRPr lang="en-H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Panasz 2.3 a 10-es skálán</a:t>
                      </a:r>
                      <a:endParaRPr lang="en-HU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30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Tabletta nélkül</a:t>
                      </a:r>
                      <a:endParaRPr lang="en-H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HU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HU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84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HU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50% elfogadta a statint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HU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Csak</a:t>
                      </a:r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</a:t>
                      </a:r>
                      <a:r>
                        <a:rPr lang="en-HU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inden 15. tünet tulajdonítható ténylegesen statinnak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256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923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DEA98-1222-A823-E611-99AB9890F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BFD05-FF45-5CF0-903E-5220C809D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U" dirty="0"/>
              <a:t>Májfunkciót vizsgáló tanulmányok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99E899-8EE2-1135-3888-4612E63B4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hu-HU" b="1" dirty="0"/>
          </a:p>
          <a:p>
            <a:pPr marL="0" indent="0">
              <a:buNone/>
            </a:pPr>
            <a:endParaRPr lang="hu-HU" b="1" dirty="0"/>
          </a:p>
          <a:p>
            <a:pPr marL="0" indent="0">
              <a:buNone/>
            </a:pPr>
            <a:endParaRPr lang="hu-HU" b="1" dirty="0"/>
          </a:p>
          <a:p>
            <a:pPr marL="0" indent="0">
              <a:buNone/>
            </a:pPr>
            <a:endParaRPr lang="hu-HU" b="1" dirty="0"/>
          </a:p>
          <a:p>
            <a:pPr marL="0" indent="0">
              <a:buNone/>
            </a:pPr>
            <a:endParaRPr lang="hu-HU" b="1" dirty="0"/>
          </a:p>
          <a:p>
            <a:pPr marL="0" indent="0">
              <a:buNone/>
            </a:pPr>
            <a:endParaRPr lang="en-HU" b="1" dirty="0"/>
          </a:p>
          <a:p>
            <a:pPr marL="0" indent="0">
              <a:buNone/>
            </a:pPr>
            <a:r>
              <a:rPr lang="en-HU" b="1" dirty="0"/>
              <a:t>Következtetés</a:t>
            </a:r>
            <a:r>
              <a:rPr lang="hu-HU" b="1" dirty="0" err="1"/>
              <a:t>ek</a:t>
            </a:r>
            <a:r>
              <a:rPr lang="en-HU" b="1" dirty="0"/>
              <a:t>:</a:t>
            </a:r>
          </a:p>
          <a:p>
            <a:pPr>
              <a:buFontTx/>
              <a:buChar char="-"/>
            </a:pPr>
            <a:r>
              <a:rPr lang="en-HU" sz="2600" b="1" dirty="0"/>
              <a:t>3X májfunkciós emelkedés alatt nem indokolt elhagyni a sztatint</a:t>
            </a:r>
          </a:p>
          <a:p>
            <a:pPr>
              <a:buFontTx/>
              <a:buChar char="-"/>
            </a:pPr>
            <a:r>
              <a:rPr lang="en-HU" sz="2600" dirty="0"/>
              <a:t>1000 kezelt betegből évente &lt;1-nél jelenik meg plusz májenzim emelkedés sztatinkezelés miatt</a:t>
            </a:r>
            <a:endParaRPr lang="hu-HU" sz="2600" dirty="0"/>
          </a:p>
          <a:p>
            <a:pPr>
              <a:buFontTx/>
              <a:buChar char="-"/>
            </a:pPr>
            <a:r>
              <a:rPr lang="en-GB" sz="2600" dirty="0"/>
              <a:t>S</a:t>
            </a:r>
            <a:r>
              <a:rPr lang="en-HU" sz="2600" dirty="0"/>
              <a:t>úlyos májkárosodás esélye 1 eset 1.</a:t>
            </a:r>
            <a:r>
              <a:rPr lang="hu-HU" sz="2600" dirty="0"/>
              <a:t>0</a:t>
            </a:r>
            <a:r>
              <a:rPr lang="en-HU" sz="2600" dirty="0"/>
              <a:t>00.000 betegév alatt</a:t>
            </a:r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2799AAE9-43DD-B459-EFDA-63176E670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039414"/>
              </p:ext>
            </p:extLst>
          </p:nvPr>
        </p:nvGraphicFramePr>
        <p:xfrm>
          <a:off x="2032000" y="1825625"/>
          <a:ext cx="8128000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0636440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04181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Mayo Clinic metaanalízis 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CTT metaanalízis 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(2022)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179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= 123.000 beteg</a:t>
                      </a:r>
                      <a:b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 RCT vizsgálat alapján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124.000 beteg</a:t>
                      </a:r>
                      <a:b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 RCT vizsgálat alapján</a:t>
                      </a:r>
                      <a:endParaRPr lang="hu-H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453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Májenzim emelkedés</a:t>
                      </a:r>
                      <a:b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Statin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0.3-0.4% / év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Placebo </a:t>
                      </a:r>
                      <a:r>
                        <a:rPr lang="hu-HU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0.2-0.3% / év</a:t>
                      </a:r>
                      <a:endParaRPr lang="en-HU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Májenzim emelkedés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Statin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0.3% / év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Placebo </a:t>
                      </a:r>
                      <a:r>
                        <a:rPr lang="hu-HU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0.22% / év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956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414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483CE6F-9132-EFF6-1584-BFADA37DCD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88" b="325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795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230D81D-BB14-3DC3-0DF2-1D1630336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hu-HU" sz="5400" dirty="0"/>
              <a:t>Mi történik,</a:t>
            </a:r>
            <a:br>
              <a:rPr lang="hu-HU" sz="5400" dirty="0"/>
            </a:br>
            <a:r>
              <a:rPr lang="hu-HU" sz="5400" dirty="0"/>
              <a:t>ha ártalmas?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E6F5BE2-204D-C83D-0B0C-9CCA1E8C1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76" r="12403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7650CED-6E0B-9F96-73E4-B7F35ABF3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4220" y="2701786"/>
            <a:ext cx="6251110" cy="3483864"/>
          </a:xfrm>
        </p:spPr>
        <p:txBody>
          <a:bodyPr>
            <a:normAutofit fontScale="55000" lnSpcReduction="20000"/>
          </a:bodyPr>
          <a:lstStyle/>
          <a:p>
            <a:r>
              <a:rPr lang="hu-HU" b="1" dirty="0"/>
              <a:t>1999. </a:t>
            </a:r>
            <a:r>
              <a:rPr lang="hu-HU" b="1" dirty="0" err="1"/>
              <a:t>Avandia</a:t>
            </a:r>
            <a:r>
              <a:rPr lang="hu-HU" b="1" dirty="0"/>
              <a:t> (</a:t>
            </a:r>
            <a:r>
              <a:rPr lang="hu-HU" b="1" dirty="0" err="1"/>
              <a:t>roziglitazon</a:t>
            </a:r>
            <a:r>
              <a:rPr lang="hu-HU" b="1" dirty="0"/>
              <a:t>)</a:t>
            </a:r>
          </a:p>
          <a:p>
            <a:pPr lvl="1"/>
            <a:r>
              <a:rPr lang="hu-HU" dirty="0"/>
              <a:t>Inzulin érzékenyítő, jelentős HbA1c csökkentés 1-1.5%</a:t>
            </a:r>
          </a:p>
          <a:p>
            <a:pPr lvl="1"/>
            <a:r>
              <a:rPr lang="hu-HU" dirty="0"/>
              <a:t>a GSK második </a:t>
            </a:r>
            <a:r>
              <a:rPr lang="hu-HU" dirty="0" err="1"/>
              <a:t>legprofitábilisabb</a:t>
            </a:r>
            <a:r>
              <a:rPr lang="hu-HU" dirty="0"/>
              <a:t> gyógyszere (1999-2006)</a:t>
            </a:r>
          </a:p>
          <a:p>
            <a:r>
              <a:rPr lang="hu-HU" b="1" dirty="0"/>
              <a:t>2007. Dr. Steven </a:t>
            </a:r>
            <a:r>
              <a:rPr lang="hu-HU" b="1" dirty="0" err="1"/>
              <a:t>Nissen</a:t>
            </a:r>
            <a:r>
              <a:rPr lang="hu-HU" b="1" dirty="0"/>
              <a:t> és </a:t>
            </a:r>
            <a:r>
              <a:rPr lang="hu-HU" b="1" dirty="0" err="1"/>
              <a:t>mtsai</a:t>
            </a:r>
            <a:r>
              <a:rPr lang="hu-HU" b="1" dirty="0"/>
              <a:t> </a:t>
            </a:r>
            <a:r>
              <a:rPr lang="hu-HU" dirty="0"/>
              <a:t>retrospektív </a:t>
            </a:r>
            <a:r>
              <a:rPr lang="hu-HU" dirty="0" err="1"/>
              <a:t>metaanalízise</a:t>
            </a:r>
            <a:endParaRPr lang="hu-HU" dirty="0"/>
          </a:p>
          <a:p>
            <a:pPr lvl="1"/>
            <a:r>
              <a:rPr lang="hu-HU" b="1" dirty="0"/>
              <a:t>43%-kal nőtt a szívinfarktus kockázata</a:t>
            </a:r>
          </a:p>
          <a:p>
            <a:pPr lvl="1"/>
            <a:r>
              <a:rPr lang="hu-HU" dirty="0"/>
              <a:t>a CV halálozás veszélye emelkedett</a:t>
            </a:r>
          </a:p>
          <a:p>
            <a:r>
              <a:rPr lang="hu-HU" b="1" dirty="0"/>
              <a:t>2010. az EMA teljesen kivonta, az FDA szigorúan korlátozta</a:t>
            </a:r>
          </a:p>
          <a:p>
            <a:r>
              <a:rPr lang="hu-HU" dirty="0"/>
              <a:t>2013. FDA-DCRI felülvizsgálat</a:t>
            </a:r>
          </a:p>
          <a:p>
            <a:pPr lvl="1"/>
            <a:r>
              <a:rPr lang="hu-HU" dirty="0"/>
              <a:t>Kevésbé drasztikus a szívinfarktus kockázat, mint amit </a:t>
            </a:r>
            <a:r>
              <a:rPr lang="hu-HU" dirty="0" err="1"/>
              <a:t>Nissenék</a:t>
            </a:r>
            <a:r>
              <a:rPr lang="hu-HU" dirty="0"/>
              <a:t> mértek</a:t>
            </a:r>
          </a:p>
          <a:p>
            <a:pPr lvl="1"/>
            <a:r>
              <a:rPr lang="hu-HU" b="1" dirty="0"/>
              <a:t>De fokozott a szívelégtelenség kockázata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FDA, EMA: </a:t>
            </a:r>
            <a:r>
              <a:rPr lang="hu-HU" b="1" dirty="0" err="1"/>
              <a:t>antidiabetikumoknál</a:t>
            </a:r>
            <a:r>
              <a:rPr lang="hu-HU" b="1" dirty="0"/>
              <a:t> CV biztonságossági vizsgálat kell!</a:t>
            </a:r>
          </a:p>
          <a:p>
            <a:r>
              <a:rPr lang="hu-HU" dirty="0"/>
              <a:t>Az SGLT2 gátlók és GLP1 agonisták korszaka ennek köszönhető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CB27C2D-0074-E83D-2758-558F1684BA14}"/>
              </a:ext>
            </a:extLst>
          </p:cNvPr>
          <p:cNvSpPr txBox="1"/>
          <p:nvPr/>
        </p:nvSpPr>
        <p:spPr>
          <a:xfrm>
            <a:off x="77411" y="5903893"/>
            <a:ext cx="31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Dr. Steven Nissen,</a:t>
            </a:r>
            <a:br>
              <a:rPr lang="en-US" sz="2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Cleveland Clinic</a:t>
            </a:r>
            <a:endParaRPr lang="hu-HU" sz="24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834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8AF93B0-FFAB-DE79-22C6-9056236EC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376568"/>
            <a:ext cx="6002110" cy="750483"/>
          </a:xfrm>
        </p:spPr>
        <p:txBody>
          <a:bodyPr>
            <a:normAutofit fontScale="90000"/>
          </a:bodyPr>
          <a:lstStyle/>
          <a:p>
            <a:r>
              <a:rPr lang="hu-HU" sz="4000" b="1" dirty="0"/>
              <a:t>A </a:t>
            </a:r>
            <a:r>
              <a:rPr lang="hu-HU" sz="4000" b="1" dirty="0" err="1"/>
              <a:t>sztatin</a:t>
            </a:r>
            <a:r>
              <a:rPr lang="hu-HU" sz="4000" b="1" dirty="0"/>
              <a:t> vita (2013-2014)</a:t>
            </a:r>
            <a:endParaRPr lang="hu-HU" sz="40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7933B7-F163-5AEB-228D-6549C167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1233378"/>
            <a:ext cx="6002110" cy="51603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1800" b="1" dirty="0" err="1"/>
              <a:t>Abramson</a:t>
            </a:r>
            <a:r>
              <a:rPr lang="hu-HU" sz="1800" b="1" dirty="0"/>
              <a:t> és </a:t>
            </a:r>
            <a:r>
              <a:rPr lang="hu-HU" sz="1800" b="1" dirty="0" err="1"/>
              <a:t>mtsai</a:t>
            </a:r>
            <a:br>
              <a:rPr lang="hu-HU" sz="1800" b="1" dirty="0"/>
            </a:br>
            <a:r>
              <a:rPr lang="hu-HU" sz="1800" dirty="0"/>
              <a:t>Kell-e </a:t>
            </a:r>
            <a:r>
              <a:rPr lang="hu-HU" sz="1800" dirty="0" err="1"/>
              <a:t>sztatint</a:t>
            </a:r>
            <a:r>
              <a:rPr lang="hu-HU" sz="1800" dirty="0"/>
              <a:t> szedniük az alacsony kardiovaszkuláris kockázatú embereknek? (BMJ, 2013.10)</a:t>
            </a:r>
          </a:p>
          <a:p>
            <a:pPr marL="0" indent="0">
              <a:buNone/>
            </a:pPr>
            <a:endParaRPr lang="hu-HU" sz="2000" b="1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868BCA9-D7B5-2CDF-C1D4-7CE64914E0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7" r="1967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AA39635C-6672-5528-BB03-627EA6A92541}"/>
              </a:ext>
            </a:extLst>
          </p:cNvPr>
          <p:cNvSpPr txBox="1"/>
          <p:nvPr/>
        </p:nvSpPr>
        <p:spPr>
          <a:xfrm>
            <a:off x="9019999" y="5836160"/>
            <a:ext cx="316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Dr. </a:t>
            </a:r>
            <a:r>
              <a:rPr lang="hu-HU" sz="2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John </a:t>
            </a:r>
            <a:r>
              <a:rPr lang="hu-HU" sz="2000" b="1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Abramson</a:t>
            </a:r>
            <a:r>
              <a:rPr lang="en-US" sz="2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2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Harvard </a:t>
            </a:r>
            <a:r>
              <a:rPr lang="hu-HU" sz="2000" b="1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Med</a:t>
            </a:r>
            <a:r>
              <a:rPr lang="hu-HU" sz="2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hu-HU" sz="2000" b="1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School</a:t>
            </a:r>
            <a:endParaRPr lang="hu-HU" sz="20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99AC470C-6C09-32CA-B450-0A7BD24A6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71535"/>
              </p:ext>
            </p:extLst>
          </p:nvPr>
        </p:nvGraphicFramePr>
        <p:xfrm>
          <a:off x="833631" y="2165244"/>
          <a:ext cx="6002110" cy="4228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055">
                  <a:extLst>
                    <a:ext uri="{9D8B030D-6E8A-4147-A177-3AD203B41FA5}">
                      <a16:colId xmlns:a16="http://schemas.microsoft.com/office/drawing/2014/main" val="3762352695"/>
                    </a:ext>
                  </a:extLst>
                </a:gridCol>
                <a:gridCol w="3001055">
                  <a:extLst>
                    <a:ext uri="{9D8B030D-6E8A-4147-A177-3AD203B41FA5}">
                      <a16:colId xmlns:a16="http://schemas.microsoft.com/office/drawing/2014/main" val="1041517371"/>
                    </a:ext>
                  </a:extLst>
                </a:gridCol>
              </a:tblGrid>
              <a:tr h="393346">
                <a:tc>
                  <a:txBody>
                    <a:bodyPr/>
                    <a:lstStyle/>
                    <a:p>
                      <a:pPr algn="ctr"/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Abramson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977016"/>
                  </a:ext>
                </a:extLst>
              </a:tr>
              <a:tr h="1278374">
                <a:tc>
                  <a:txBody>
                    <a:bodyPr/>
                    <a:lstStyle/>
                    <a:p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Alacsony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szív-érrendszeri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kockázatnál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nem csökken 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szignifikánsan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 </a:t>
                      </a:r>
                      <a:r>
                        <a:rPr lang="hu-HU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összhalálozás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(5 év alatt)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Hosszú távon mindenkinél van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eseménycsökkenés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– kérdés ennek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mértéke </a:t>
                      </a:r>
                      <a:r>
                        <a:rPr lang="hu-HU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vs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tartós gyógyszerszedés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76416"/>
                  </a:ext>
                </a:extLst>
              </a:tr>
              <a:tr h="1868392">
                <a:tc>
                  <a:txBody>
                    <a:bodyPr/>
                    <a:lstStyle/>
                    <a:p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Gyakori mellékhatások</a:t>
                      </a:r>
                      <a:b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- 2013.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18-20%</a:t>
                      </a:r>
                    </a:p>
                    <a:p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2014-ben visszavonta, mert hibásan értékelte 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hu-HU"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Zhang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vizsgálat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adatait (a betegek 92.2%-a másik </a:t>
                      </a:r>
                      <a:r>
                        <a:rPr lang="hu-HU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sztatinnal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jól kezelhető volt)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Ritka mellékhatások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Dózistól függően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0.5-10%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-ban fordulnak elő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&gt;90%-ban </a:t>
                      </a:r>
                      <a:r>
                        <a:rPr lang="hu-HU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nocebo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hatás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Súlyos mellékhatások rendkívül ritkák</a:t>
                      </a:r>
                      <a:b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(1:10.000 – 1:100.000)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072911"/>
                  </a:ext>
                </a:extLst>
              </a:tr>
              <a:tr h="688355">
                <a:tc>
                  <a:txBody>
                    <a:bodyPr/>
                    <a:lstStyle/>
                    <a:p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Iparági elfogultság, titkos vizsgálati adatok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Trend a nyers adatok nyilvánosságának igényére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18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398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75996-C986-8A88-DDDC-65F2129F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C659A79-6A36-FB83-CEA7-C4C0DD56D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7B8FE6A-F2A5-F608-F460-9BCEB325A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376568"/>
            <a:ext cx="6002110" cy="750483"/>
          </a:xfrm>
        </p:spPr>
        <p:txBody>
          <a:bodyPr>
            <a:normAutofit fontScale="90000"/>
          </a:bodyPr>
          <a:lstStyle/>
          <a:p>
            <a:r>
              <a:rPr lang="hu-HU" sz="4000" b="1" dirty="0"/>
              <a:t>A </a:t>
            </a:r>
            <a:r>
              <a:rPr lang="hu-HU" sz="4000" b="1" dirty="0" err="1"/>
              <a:t>sztatin</a:t>
            </a:r>
            <a:r>
              <a:rPr lang="hu-HU" sz="4000" b="1" dirty="0"/>
              <a:t> vita (2013-2014)</a:t>
            </a:r>
            <a:endParaRPr lang="hu-HU" sz="40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F117C46-5D76-6816-0623-3CAFEAF7A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1233378"/>
            <a:ext cx="6002110" cy="51603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1800" b="1" dirty="0" err="1"/>
              <a:t>Malhotra</a:t>
            </a:r>
            <a:r>
              <a:rPr lang="hu-HU" sz="1800" b="1" dirty="0"/>
              <a:t> véleménycikk</a:t>
            </a:r>
            <a:br>
              <a:rPr lang="hu-HU" sz="1800" b="1" dirty="0"/>
            </a:br>
            <a:r>
              <a:rPr lang="hu-HU" sz="1800" dirty="0"/>
              <a:t>Nem a telített zsír a fő probléma (BMJ, 2013.10)</a:t>
            </a:r>
          </a:p>
          <a:p>
            <a:pPr marL="0" indent="0">
              <a:buNone/>
            </a:pPr>
            <a:endParaRPr lang="hu-HU" sz="2000" b="1" dirty="0"/>
          </a:p>
        </p:txBody>
      </p:sp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D5BC74FD-17C3-58AE-D756-6C3826F1C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710560"/>
              </p:ext>
            </p:extLst>
          </p:nvPr>
        </p:nvGraphicFramePr>
        <p:xfrm>
          <a:off x="833631" y="2165244"/>
          <a:ext cx="6002110" cy="4142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055">
                  <a:extLst>
                    <a:ext uri="{9D8B030D-6E8A-4147-A177-3AD203B41FA5}">
                      <a16:colId xmlns:a16="http://schemas.microsoft.com/office/drawing/2014/main" val="3762352695"/>
                    </a:ext>
                  </a:extLst>
                </a:gridCol>
                <a:gridCol w="3001055">
                  <a:extLst>
                    <a:ext uri="{9D8B030D-6E8A-4147-A177-3AD203B41FA5}">
                      <a16:colId xmlns:a16="http://schemas.microsoft.com/office/drawing/2014/main" val="1041517371"/>
                    </a:ext>
                  </a:extLst>
                </a:gridCol>
              </a:tblGrid>
              <a:tr h="393346">
                <a:tc>
                  <a:txBody>
                    <a:bodyPr/>
                    <a:lstStyle/>
                    <a:p>
                      <a:pPr algn="ctr"/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Malhotra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977016"/>
                  </a:ext>
                </a:extLst>
              </a:tr>
              <a:tr h="1278374">
                <a:tc>
                  <a:txBody>
                    <a:bodyPr/>
                    <a:lstStyle/>
                    <a:p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hu-HU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cukor és finomított szénhidrátok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metabolikus szindróma járványhoz vezettek – </a:t>
                      </a:r>
                      <a:r>
                        <a:rPr lang="hu-HU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érelmeszesedés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Igaz. Alapvető </a:t>
                      </a:r>
                      <a:r>
                        <a:rPr lang="hu-HU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hozzáadott cukrok csökkentése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 </a:t>
                      </a:r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kardio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renális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-metabolikus szindróma kezelésében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76416"/>
                  </a:ext>
                </a:extLst>
              </a:tr>
              <a:tr h="1868392">
                <a:tc>
                  <a:txBody>
                    <a:bodyPr/>
                    <a:lstStyle/>
                    <a:p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telített zsírok fogyasztása és a szívbetegségek közötti kapcsolat mítosz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telített zsír-savak korlátozása és telítetlen zsírsavakra váltása (halak, dió, lenmag, olíva / napraforgóolaj, avokádó) csökkenti az LDL-t, mely </a:t>
                      </a:r>
                      <a:r>
                        <a:rPr lang="hu-HU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 érelmeszesedés egyik fontos oki tényezője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072911"/>
                  </a:ext>
                </a:extLst>
              </a:tr>
            </a:tbl>
          </a:graphicData>
        </a:graphic>
      </p:graphicFrame>
      <p:pic>
        <p:nvPicPr>
          <p:cNvPr id="11" name="Kép 10">
            <a:extLst>
              <a:ext uri="{FF2B5EF4-FFF2-40B4-BE49-F238E27FC236}">
                <a16:creationId xmlns:a16="http://schemas.microsoft.com/office/drawing/2014/main" id="{0B3DE82F-9323-6BD5-CB81-E104B1765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590" y="-12697"/>
            <a:ext cx="5154361" cy="6879951"/>
          </a:xfrm>
          <a:prstGeom prst="rect">
            <a:avLst/>
          </a:prstGeom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7F087D6B-7B53-8041-A090-393A44B057BB}"/>
              </a:ext>
            </a:extLst>
          </p:cNvPr>
          <p:cNvSpPr txBox="1"/>
          <p:nvPr/>
        </p:nvSpPr>
        <p:spPr>
          <a:xfrm>
            <a:off x="9172399" y="5988560"/>
            <a:ext cx="316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Dr. </a:t>
            </a:r>
            <a:r>
              <a:rPr lang="hu-HU" sz="2000" b="1" dirty="0" err="1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Aseem</a:t>
            </a:r>
            <a:r>
              <a:rPr lang="hu-HU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Malhotra</a:t>
            </a:r>
            <a:r>
              <a:rPr lang="en-US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Croydon </a:t>
            </a:r>
            <a:r>
              <a:rPr lang="hu-HU" sz="2000" b="1" dirty="0" err="1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Univ</a:t>
            </a:r>
            <a:r>
              <a:rPr lang="hu-HU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hu-HU" sz="2000" b="1" dirty="0" err="1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Hosp</a:t>
            </a:r>
            <a:r>
              <a:rPr lang="hu-HU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6647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DC8EA-0133-9CCE-D351-7E83518BE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ABE4D7-6E78-55D7-EF17-DF525BCFE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936560A-21B9-2602-AC6C-28CE1C17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376568"/>
            <a:ext cx="6002110" cy="750483"/>
          </a:xfrm>
        </p:spPr>
        <p:txBody>
          <a:bodyPr>
            <a:normAutofit fontScale="90000"/>
          </a:bodyPr>
          <a:lstStyle/>
          <a:p>
            <a:r>
              <a:rPr lang="hu-HU" sz="4000" b="1" dirty="0"/>
              <a:t>A </a:t>
            </a:r>
            <a:r>
              <a:rPr lang="hu-HU" sz="4000" b="1" dirty="0" err="1"/>
              <a:t>sztatin</a:t>
            </a:r>
            <a:r>
              <a:rPr lang="hu-HU" sz="4000" b="1" dirty="0"/>
              <a:t> vita (2013-2014)</a:t>
            </a:r>
            <a:endParaRPr lang="hu-HU" sz="40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C210488-AA74-FBD3-71F6-5F1119B2D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1233378"/>
            <a:ext cx="6002110" cy="51603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1800" b="1" dirty="0" err="1"/>
              <a:t>Malhotra</a:t>
            </a:r>
            <a:r>
              <a:rPr lang="hu-HU" sz="1800" b="1" dirty="0"/>
              <a:t> véleménycikk</a:t>
            </a:r>
            <a:br>
              <a:rPr lang="hu-HU" sz="1800" b="1" dirty="0"/>
            </a:br>
            <a:r>
              <a:rPr lang="hu-HU" sz="1800" dirty="0"/>
              <a:t>Nem a telített zsír a fő probléma (BMJ, 2013.10)</a:t>
            </a:r>
          </a:p>
          <a:p>
            <a:pPr marL="0" indent="0">
              <a:buNone/>
            </a:pPr>
            <a:endParaRPr lang="hu-HU" sz="2000" b="1" dirty="0"/>
          </a:p>
        </p:txBody>
      </p:sp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27E22B3A-48F0-D61B-80F9-1DDE39854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575969"/>
              </p:ext>
            </p:extLst>
          </p:nvPr>
        </p:nvGraphicFramePr>
        <p:xfrm>
          <a:off x="836679" y="1953778"/>
          <a:ext cx="6002110" cy="4466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055">
                  <a:extLst>
                    <a:ext uri="{9D8B030D-6E8A-4147-A177-3AD203B41FA5}">
                      <a16:colId xmlns:a16="http://schemas.microsoft.com/office/drawing/2014/main" val="3762352695"/>
                    </a:ext>
                  </a:extLst>
                </a:gridCol>
                <a:gridCol w="3001055">
                  <a:extLst>
                    <a:ext uri="{9D8B030D-6E8A-4147-A177-3AD203B41FA5}">
                      <a16:colId xmlns:a16="http://schemas.microsoft.com/office/drawing/2014/main" val="1041517371"/>
                    </a:ext>
                  </a:extLst>
                </a:gridCol>
              </a:tblGrid>
              <a:tr h="343719">
                <a:tc>
                  <a:txBody>
                    <a:bodyPr/>
                    <a:lstStyle/>
                    <a:p>
                      <a:pPr algn="ctr"/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Malhotra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977016"/>
                  </a:ext>
                </a:extLst>
              </a:tr>
              <a:tr h="2663821">
                <a:tc>
                  <a:txBody>
                    <a:bodyPr/>
                    <a:lstStyle/>
                    <a:p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szívinfarktussal kórházba kerülő betegek 75%-</a:t>
                      </a:r>
                      <a:r>
                        <a:rPr lang="hu-HU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nak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teljesen normális a koleszterinszintje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2009-es UCLA tanulmány 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idején még lényegesen magasabbak voltak az optimálisnak tartott célértékek.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szerzők a látottak alapján az akkori LDL célértékek szigorítását javasolták. Optimális LDL+HDL</a:t>
                      </a:r>
                      <a:r>
                        <a:rPr lang="hu-HU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csak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betegek 1.4%-</a:t>
                      </a:r>
                      <a:r>
                        <a:rPr lang="hu-HU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ánál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volt</a:t>
                      </a:r>
                      <a:r>
                        <a:rPr lang="hu-HU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jelen. Továbbá léteznek LDL-</a:t>
                      </a:r>
                      <a:r>
                        <a:rPr lang="hu-HU"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től</a:t>
                      </a:r>
                      <a:r>
                        <a:rPr lang="hu-HU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független, ritkább faktorok is.</a:t>
                      </a:r>
                      <a:endParaRPr lang="hu-HU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76416"/>
                  </a:ext>
                </a:extLst>
              </a:tr>
              <a:tr h="13272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hu-HU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sztatinoknak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20%-os mellékhatás aránya van (szintén a </a:t>
                      </a:r>
                      <a:r>
                        <a:rPr lang="hu-HU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Zhang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tanulmányra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hivatkozva)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2014-ben </a:t>
                      </a:r>
                      <a:r>
                        <a:rPr lang="hu-HU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Malhotra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hivatalosan helyesbített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ugyanúgy, mint </a:t>
                      </a:r>
                      <a:r>
                        <a:rPr lang="hu-HU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Abramsonék</a:t>
                      </a:r>
                      <a:endParaRPr lang="hu-H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072911"/>
                  </a:ext>
                </a:extLst>
              </a:tr>
            </a:tbl>
          </a:graphicData>
        </a:graphic>
      </p:graphicFrame>
      <p:pic>
        <p:nvPicPr>
          <p:cNvPr id="11" name="Kép 10">
            <a:extLst>
              <a:ext uri="{FF2B5EF4-FFF2-40B4-BE49-F238E27FC236}">
                <a16:creationId xmlns:a16="http://schemas.microsoft.com/office/drawing/2014/main" id="{EE7852F4-4F78-DEFB-8762-32DFA3C83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590" y="-12697"/>
            <a:ext cx="5154361" cy="6879951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7F087D6B-7B53-8041-A090-393A44B057BB}"/>
              </a:ext>
            </a:extLst>
          </p:cNvPr>
          <p:cNvSpPr txBox="1"/>
          <p:nvPr/>
        </p:nvSpPr>
        <p:spPr>
          <a:xfrm>
            <a:off x="9172399" y="5988560"/>
            <a:ext cx="316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Dr. </a:t>
            </a:r>
            <a:r>
              <a:rPr lang="hu-HU" sz="2000" b="1" dirty="0" err="1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Aseem</a:t>
            </a:r>
            <a:r>
              <a:rPr lang="hu-HU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Malhotra</a:t>
            </a:r>
            <a:r>
              <a:rPr lang="en-US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Croydon </a:t>
            </a:r>
            <a:r>
              <a:rPr lang="hu-HU" sz="2000" b="1" dirty="0" err="1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Univ</a:t>
            </a:r>
            <a:r>
              <a:rPr lang="hu-HU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hu-HU" sz="2000" b="1" dirty="0" err="1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Hosp</a:t>
            </a:r>
            <a:r>
              <a:rPr lang="hu-HU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6578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3C50AF-CDC8-1654-A12D-E79084471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CC2162C-3740-9B3F-AFF6-B3BA99CA1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7FB3827-4657-349D-1D52-282BE6F85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376568"/>
            <a:ext cx="6002110" cy="750483"/>
          </a:xfrm>
        </p:spPr>
        <p:txBody>
          <a:bodyPr>
            <a:normAutofit fontScale="90000"/>
          </a:bodyPr>
          <a:lstStyle/>
          <a:p>
            <a:r>
              <a:rPr lang="hu-HU" sz="4000" b="1" dirty="0"/>
              <a:t>A </a:t>
            </a:r>
            <a:r>
              <a:rPr lang="hu-HU" sz="4000" b="1" dirty="0" err="1"/>
              <a:t>sztatin</a:t>
            </a:r>
            <a:r>
              <a:rPr lang="hu-HU" sz="4000" b="1" dirty="0"/>
              <a:t> vita (2013-2014)</a:t>
            </a:r>
            <a:endParaRPr lang="hu-HU" sz="40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7E695B8-A724-4D0A-E2EB-96D18A70A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1233378"/>
            <a:ext cx="6002110" cy="51603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1800" b="1" dirty="0" err="1"/>
              <a:t>Malhotra</a:t>
            </a:r>
            <a:r>
              <a:rPr lang="hu-HU" sz="1800" b="1" dirty="0"/>
              <a:t> véleménycikk</a:t>
            </a:r>
            <a:br>
              <a:rPr lang="hu-HU" sz="1800" b="1" dirty="0"/>
            </a:br>
            <a:r>
              <a:rPr lang="hu-HU" sz="1800" dirty="0"/>
              <a:t>Nem a telített zsír a fő probléma (BMJ, 2013.10)</a:t>
            </a:r>
          </a:p>
          <a:p>
            <a:pPr marL="0" indent="0">
              <a:buNone/>
            </a:pPr>
            <a:endParaRPr lang="hu-HU" sz="2000" b="1" dirty="0"/>
          </a:p>
        </p:txBody>
      </p:sp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A4331895-CADF-ADFE-50BB-F1AEF98B5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813962"/>
              </p:ext>
            </p:extLst>
          </p:nvPr>
        </p:nvGraphicFramePr>
        <p:xfrm>
          <a:off x="833631" y="2165245"/>
          <a:ext cx="6002110" cy="4279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055">
                  <a:extLst>
                    <a:ext uri="{9D8B030D-6E8A-4147-A177-3AD203B41FA5}">
                      <a16:colId xmlns:a16="http://schemas.microsoft.com/office/drawing/2014/main" val="3762352695"/>
                    </a:ext>
                  </a:extLst>
                </a:gridCol>
                <a:gridCol w="3001055">
                  <a:extLst>
                    <a:ext uri="{9D8B030D-6E8A-4147-A177-3AD203B41FA5}">
                      <a16:colId xmlns:a16="http://schemas.microsoft.com/office/drawing/2014/main" val="1041517371"/>
                    </a:ext>
                  </a:extLst>
                </a:gridCol>
              </a:tblGrid>
              <a:tr h="450431">
                <a:tc>
                  <a:txBody>
                    <a:bodyPr/>
                    <a:lstStyle/>
                    <a:p>
                      <a:pPr algn="ctr"/>
                      <a:r>
                        <a:rPr lang="hu-HU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Malhotra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977016"/>
                  </a:ext>
                </a:extLst>
              </a:tr>
              <a:tr h="3828667">
                <a:tc>
                  <a:txBody>
                    <a:bodyPr/>
                    <a:lstStyle/>
                    <a:p>
                      <a:r>
                        <a:rPr lang="hu-HU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Szívinfarktus után a mediterrán étrend bevezetése majdnem háromszor hatékonyabb a halálozás csökkentésében, mint a </a:t>
                      </a:r>
                      <a:r>
                        <a:rPr lang="hu-HU" sz="16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sztatinszedés</a:t>
                      </a:r>
                      <a:r>
                        <a:rPr lang="hu-HU" sz="16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endParaRPr lang="hu-HU" sz="16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hu-HU" sz="16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Sztatin</a:t>
                      </a:r>
                      <a:r>
                        <a:rPr lang="hu-HU" sz="16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kritika: „Inkább az életmód, mint a gyógyszer…”</a:t>
                      </a:r>
                      <a:endParaRPr lang="hu-HU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mediterrán étrend hatása erősen bizonyított 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(PREDIMED, CORDIOPREV) </a:t>
                      </a:r>
                    </a:p>
                    <a:p>
                      <a:endParaRPr lang="hu-H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hatás mértéke beteg-profil függő</a:t>
                      </a:r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 „3X erő” provokatív egyszerűsítés</a:t>
                      </a:r>
                    </a:p>
                    <a:p>
                      <a:endParaRPr lang="hu-H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legtöbb beteg </a:t>
                      </a:r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csak életmódváltással az LDL-célértéket nem képes elérni</a:t>
                      </a:r>
                      <a:br>
                        <a:rPr lang="hu-H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hu-H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hu-HU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Életmód ÉS gyógyszer!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76416"/>
                  </a:ext>
                </a:extLst>
              </a:tr>
            </a:tbl>
          </a:graphicData>
        </a:graphic>
      </p:graphicFrame>
      <p:pic>
        <p:nvPicPr>
          <p:cNvPr id="11" name="Kép 10">
            <a:extLst>
              <a:ext uri="{FF2B5EF4-FFF2-40B4-BE49-F238E27FC236}">
                <a16:creationId xmlns:a16="http://schemas.microsoft.com/office/drawing/2014/main" id="{8FC30216-63E1-7C59-C74C-1F54FE9E0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590" y="-12697"/>
            <a:ext cx="5154361" cy="6879951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7F087D6B-7B53-8041-A090-393A44B057BB}"/>
              </a:ext>
            </a:extLst>
          </p:cNvPr>
          <p:cNvSpPr txBox="1"/>
          <p:nvPr/>
        </p:nvSpPr>
        <p:spPr>
          <a:xfrm>
            <a:off x="9172399" y="5988560"/>
            <a:ext cx="316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Dr. </a:t>
            </a:r>
            <a:r>
              <a:rPr lang="hu-HU" sz="2000" b="1" dirty="0" err="1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Aseem</a:t>
            </a:r>
            <a:r>
              <a:rPr lang="hu-HU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b="1" dirty="0" err="1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Malhotra</a:t>
            </a:r>
            <a:r>
              <a:rPr lang="en-US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Croydon </a:t>
            </a:r>
            <a:r>
              <a:rPr lang="hu-HU" sz="2000" b="1" dirty="0" err="1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Univ</a:t>
            </a:r>
            <a:r>
              <a:rPr lang="hu-HU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hu-HU" sz="2000" b="1" dirty="0" err="1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Hosp</a:t>
            </a:r>
            <a:r>
              <a:rPr lang="hu-HU" sz="20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7159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0A847-A57D-B457-340A-5299E609A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59B7D0-5DD8-1E1A-6235-5A127E808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5A87591-3FAD-5D8F-1E3C-E8EAD7D46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376568"/>
            <a:ext cx="6002110" cy="750483"/>
          </a:xfrm>
        </p:spPr>
        <p:txBody>
          <a:bodyPr>
            <a:normAutofit fontScale="90000"/>
          </a:bodyPr>
          <a:lstStyle/>
          <a:p>
            <a:r>
              <a:rPr lang="hu-HU" sz="4000" b="1" dirty="0"/>
              <a:t>A </a:t>
            </a:r>
            <a:r>
              <a:rPr lang="hu-HU" sz="4000" b="1" dirty="0" err="1"/>
              <a:t>sztatin</a:t>
            </a:r>
            <a:r>
              <a:rPr lang="hu-HU" sz="4000" b="1" dirty="0"/>
              <a:t> vita (2013-2014)</a:t>
            </a:r>
            <a:endParaRPr lang="hu-HU" sz="40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45FCBAB-9038-FB52-3389-8D381D039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1233378"/>
            <a:ext cx="6002110" cy="51603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1800" b="1" dirty="0" err="1"/>
              <a:t>Zhang</a:t>
            </a:r>
            <a:r>
              <a:rPr lang="hu-HU" sz="1800" b="1" dirty="0"/>
              <a:t> és </a:t>
            </a:r>
            <a:r>
              <a:rPr lang="hu-HU" sz="1800" b="1" dirty="0" err="1"/>
              <a:t>mtsai</a:t>
            </a:r>
            <a:br>
              <a:rPr lang="hu-HU" sz="1800" b="1" dirty="0"/>
            </a:br>
            <a:r>
              <a:rPr lang="hu-HU" sz="1800" dirty="0" err="1"/>
              <a:t>Sztatinterápia</a:t>
            </a:r>
            <a:r>
              <a:rPr lang="hu-HU" sz="1800" dirty="0"/>
              <a:t> megszakítása a mindennapi ellátásban (AIM, 2013.04)</a:t>
            </a:r>
          </a:p>
          <a:p>
            <a:pPr marL="0" indent="0">
              <a:buNone/>
            </a:pPr>
            <a:r>
              <a:rPr lang="hu-HU" sz="2000" b="1" dirty="0"/>
              <a:t>Hivatalosan elhatárolódtak </a:t>
            </a:r>
            <a:r>
              <a:rPr lang="hu-HU" sz="2000" b="1" dirty="0" err="1"/>
              <a:t>Abramson</a:t>
            </a:r>
            <a:r>
              <a:rPr lang="hu-HU" sz="2000" b="1" dirty="0"/>
              <a:t> és </a:t>
            </a:r>
            <a:r>
              <a:rPr lang="hu-HU" sz="2000" b="1" dirty="0" err="1"/>
              <a:t>Malhotra</a:t>
            </a:r>
            <a:r>
              <a:rPr lang="hu-HU" sz="2000" b="1" dirty="0"/>
              <a:t> „20%-os mellékhatás” interpretációjától</a:t>
            </a:r>
          </a:p>
          <a:p>
            <a:r>
              <a:rPr lang="hu-HU" sz="1800" b="1" dirty="0"/>
              <a:t>A valós mellékhatás meghatározás nem volt céljuk, </a:t>
            </a:r>
            <a:r>
              <a:rPr lang="hu-HU" sz="1800" dirty="0"/>
              <a:t>ez megfigyeléses vizsgálattal egyébként is lehetetlen.</a:t>
            </a:r>
          </a:p>
          <a:p>
            <a:r>
              <a:rPr lang="hu-HU" sz="1800" dirty="0"/>
              <a:t>Hangsúlyozták, hogy </a:t>
            </a:r>
            <a:r>
              <a:rPr lang="hu-HU" sz="1800" b="1" dirty="0"/>
              <a:t>az észlelt panaszok jelentős része nem valódi biológiai intolerancia</a:t>
            </a:r>
            <a:r>
              <a:rPr lang="hu-HU" sz="1800" dirty="0"/>
              <a:t>, hanem egyéb oka lehet </a:t>
            </a:r>
            <a:r>
              <a:rPr lang="hu-HU" sz="1800" b="1" dirty="0"/>
              <a:t>(</a:t>
            </a:r>
            <a:r>
              <a:rPr lang="hu-HU" sz="1800" b="1" dirty="0" err="1"/>
              <a:t>nocebo</a:t>
            </a:r>
            <a:r>
              <a:rPr lang="hu-HU" sz="1800" b="1" dirty="0"/>
              <a:t> hatás vagy kísérő betegségek)</a:t>
            </a:r>
            <a:endParaRPr lang="hu-HU" sz="1800" dirty="0"/>
          </a:p>
          <a:p>
            <a:r>
              <a:rPr lang="hu-HU" sz="1800" dirty="0"/>
              <a:t>Azt bizonyították a vizsgálattal, hogy a </a:t>
            </a:r>
            <a:r>
              <a:rPr lang="hu-HU" sz="1800" dirty="0" err="1"/>
              <a:t>sztatinoknak</a:t>
            </a:r>
            <a:r>
              <a:rPr lang="hu-HU" sz="1800" dirty="0"/>
              <a:t> tulajdonított panaszok ellenére </a:t>
            </a:r>
            <a:r>
              <a:rPr lang="hu-HU" sz="1800" b="1" dirty="0"/>
              <a:t>a betegek döntő többsége (92.2%) visszaállítható volt a terápiára</a:t>
            </a:r>
            <a:r>
              <a:rPr lang="hu-HU" sz="1800" dirty="0"/>
              <a:t> – ugyanazzal vagy másik hatóanyaggal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B024531-479D-EBE4-0E2E-A5988C6C7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857" y="0"/>
            <a:ext cx="5225143" cy="6857569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2ECBFDD3-4D7A-1B7F-2188-7FE1F4641197}"/>
              </a:ext>
            </a:extLst>
          </p:cNvPr>
          <p:cNvSpPr txBox="1"/>
          <p:nvPr/>
        </p:nvSpPr>
        <p:spPr>
          <a:xfrm>
            <a:off x="9084033" y="5931366"/>
            <a:ext cx="31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Dr. </a:t>
            </a:r>
            <a:r>
              <a:rPr lang="en-US" sz="2400" b="1" dirty="0" err="1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Huabing</a:t>
            </a:r>
            <a:r>
              <a:rPr lang="en-US" sz="24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Zhang,</a:t>
            </a:r>
            <a:br>
              <a:rPr lang="en-US" sz="24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4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Peking Union </a:t>
            </a:r>
            <a:r>
              <a:rPr lang="hu-HU" sz="2400" b="1" dirty="0" err="1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Univ</a:t>
            </a:r>
            <a:r>
              <a:rPr lang="hu-HU" sz="24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434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D02E88B3-2578-AD4A-AFD3-D209C069A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3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1DF3-AE78-99E4-6F6A-CF78E10D6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B6DB71C5-5D3F-4766-056D-EF5BFB391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C7E645B5-1285-1C83-EA7B-F5C4804B77D9}"/>
              </a:ext>
            </a:extLst>
          </p:cNvPr>
          <p:cNvSpPr txBox="1"/>
          <p:nvPr/>
        </p:nvSpPr>
        <p:spPr>
          <a:xfrm>
            <a:off x="6797523" y="6058712"/>
            <a:ext cx="1681459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hu-H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1948-2021</a:t>
            </a:r>
          </a:p>
        </p:txBody>
      </p:sp>
    </p:spTree>
    <p:extLst>
      <p:ext uri="{BB962C8B-B14F-4D97-AF65-F5344CB8AC3E}">
        <p14:creationId xmlns:p14="http://schemas.microsoft.com/office/powerpoint/2010/main" val="1072415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6C74AC-67F2-FA1B-DE69-D2225F8A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„</a:t>
            </a:r>
            <a:r>
              <a:rPr lang="en-US" dirty="0"/>
              <a:t>Fighting to retain my medical </a:t>
            </a:r>
            <a:r>
              <a:rPr lang="en-US" dirty="0" err="1"/>
              <a:t>licence</a:t>
            </a:r>
            <a:r>
              <a:rPr lang="hu-HU" dirty="0"/>
              <a:t>”</a:t>
            </a:r>
            <a:br>
              <a:rPr lang="hu-HU" dirty="0"/>
            </a:br>
            <a:r>
              <a:rPr lang="hu-HU" dirty="0"/>
              <a:t>(</a:t>
            </a:r>
            <a:r>
              <a:rPr lang="hu-HU" dirty="0" err="1"/>
              <a:t>Aseem</a:t>
            </a:r>
            <a:r>
              <a:rPr lang="hu-HU" dirty="0"/>
              <a:t> </a:t>
            </a:r>
            <a:r>
              <a:rPr lang="hu-HU" dirty="0" err="1"/>
              <a:t>Malhotra</a:t>
            </a:r>
            <a:r>
              <a:rPr lang="hu-HU" dirty="0"/>
              <a:t>, 2026.03)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5FA6F3-360C-630F-C1F3-27E130AD7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2021. július 26. édesapja hirtelen szívhalálban meghal</a:t>
            </a:r>
          </a:p>
          <a:p>
            <a:pPr lvl="1"/>
            <a:r>
              <a:rPr lang="hu-HU" dirty="0"/>
              <a:t>Súlyos mellkasi fájdalomnál az (orvos) szomszédnak szóltak – 15 percen belül leállt a szíve, újraélesztést kezdtek, ekkor értesítették a mentőket</a:t>
            </a:r>
          </a:p>
          <a:p>
            <a:pPr lvl="1"/>
            <a:r>
              <a:rPr lang="hu-HU" dirty="0"/>
              <a:t>A boncolás során súlyos 2-ér betegség (90% és 95% szűkületekkel) igazolódott és szívmegnagyobbodás, de nem volt trombózisra vagy szívizomgyulladásra utaló jel</a:t>
            </a:r>
          </a:p>
          <a:p>
            <a:r>
              <a:rPr lang="hu-HU" dirty="0"/>
              <a:t>Ezt követően </a:t>
            </a:r>
            <a:r>
              <a:rPr lang="hu-HU" dirty="0" err="1"/>
              <a:t>Malhotra</a:t>
            </a:r>
            <a:r>
              <a:rPr lang="hu-HU" dirty="0"/>
              <a:t> teljesen szakított a bizonyítékokon alapuló orvoslással és azóta közéleti aktivistaként tevékenykedik</a:t>
            </a:r>
          </a:p>
          <a:p>
            <a:r>
              <a:rPr lang="hu-HU" dirty="0"/>
              <a:t>Az ESC és AHA kardiológus társaságok elhatárolódtak tőle, az állításait nem tekintik mérvadónak</a:t>
            </a:r>
          </a:p>
        </p:txBody>
      </p:sp>
    </p:spTree>
    <p:extLst>
      <p:ext uri="{BB962C8B-B14F-4D97-AF65-F5344CB8AC3E}">
        <p14:creationId xmlns:p14="http://schemas.microsoft.com/office/powerpoint/2010/main" val="4081568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FC92E6-D73A-0F15-D6C6-EE62F509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„</a:t>
            </a:r>
            <a:r>
              <a:rPr lang="hu-HU" dirty="0" err="1"/>
              <a:t>Sztatinellenes</a:t>
            </a:r>
            <a:r>
              <a:rPr lang="hu-HU" dirty="0"/>
              <a:t> </a:t>
            </a:r>
            <a:r>
              <a:rPr lang="hu-HU"/>
              <a:t>influencerek”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70BF686-91E4-B3F6-6BFE-B2D4CCF85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hu-HU" dirty="0"/>
              <a:t>Radikális tanokat hirdetnek érzelmi alapú vagy anekdotikus bizonyítékokra támaszkodva</a:t>
            </a:r>
          </a:p>
          <a:p>
            <a:r>
              <a:rPr lang="hu-HU" dirty="0"/>
              <a:t>Állításaik nem támaszthatóak alá tudományos bizonyítékokkal</a:t>
            </a:r>
          </a:p>
          <a:p>
            <a:r>
              <a:rPr lang="hu-HU" dirty="0"/>
              <a:t>Az előnyöket alábecsülik, a mellékhatásokat pedig túlértékelik</a:t>
            </a:r>
          </a:p>
          <a:p>
            <a:r>
              <a:rPr lang="hu-HU" dirty="0"/>
              <a:t>Gyakran alternatív megoldásokat vagy termékeket javasolnak a problémára, esetleg könyveket írnak vagy előadásokon gyűjtik a belépődíjat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b="1" dirty="0"/>
              <a:t>-&gt; </a:t>
            </a:r>
            <a:r>
              <a:rPr lang="en-HU" b="1" dirty="0"/>
              <a:t>A laikus közvélemény </a:t>
            </a:r>
            <a:r>
              <a:rPr lang="hu-HU" b="1" dirty="0"/>
              <a:t>ekkora mértékű </a:t>
            </a:r>
            <a:r>
              <a:rPr lang="en-HU" b="1" dirty="0"/>
              <a:t>szembenállása semmilyen egyéb kardiológiai ajánlással szemben nem jellemző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38128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50197A41-11E4-8F70-0C96-2BD1B5060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3457"/>
            <a:ext cx="10515600" cy="5694745"/>
          </a:xfrm>
        </p:spPr>
        <p:txBody>
          <a:bodyPr>
            <a:normAutofit/>
          </a:bodyPr>
          <a:lstStyle/>
          <a:p>
            <a:r>
              <a:rPr lang="hu-HU" dirty="0"/>
              <a:t>A koleszterin szükséges, nem szabad csökkenteni?</a:t>
            </a:r>
          </a:p>
          <a:p>
            <a:r>
              <a:rPr lang="hu-HU" dirty="0"/>
              <a:t>A koleszterin falazóanyag, tűzoltó és nem a tűz?</a:t>
            </a:r>
          </a:p>
          <a:p>
            <a:r>
              <a:rPr lang="hu-HU" dirty="0"/>
              <a:t>A koleszterin csökkentése memóriazavarokhoz, koncentrációzavarhoz vezethet?</a:t>
            </a:r>
          </a:p>
          <a:p>
            <a:r>
              <a:rPr lang="hu-HU" dirty="0"/>
              <a:t>A koleszterinszint megemelkedésének igazi oka a krónikus vízhiány, a tiszta víz a legjobb koleszterincsökkentő?</a:t>
            </a:r>
          </a:p>
          <a:p>
            <a:r>
              <a:rPr lang="hu-HU" dirty="0"/>
              <a:t>A szívinfarktust a gyulladás és a stressz okozza, a koleszterinnek ehhez semmi köze?</a:t>
            </a:r>
          </a:p>
          <a:p>
            <a:r>
              <a:rPr lang="hu-HU" dirty="0"/>
              <a:t>A </a:t>
            </a:r>
            <a:r>
              <a:rPr lang="hu-HU" dirty="0" err="1"/>
              <a:t>sztatinok</a:t>
            </a:r>
            <a:r>
              <a:rPr lang="hu-HU" dirty="0"/>
              <a:t> szedése nem előzi meg hatékonyan a szívinfarktust?</a:t>
            </a:r>
          </a:p>
          <a:p>
            <a:r>
              <a:rPr lang="hu-HU" dirty="0"/>
              <a:t>A </a:t>
            </a:r>
            <a:r>
              <a:rPr lang="hu-HU" dirty="0" err="1"/>
              <a:t>sztatinok</a:t>
            </a:r>
            <a:r>
              <a:rPr lang="hu-HU" dirty="0"/>
              <a:t> szedése nem hosszabbítja meg az életet?</a:t>
            </a:r>
          </a:p>
          <a:p>
            <a:r>
              <a:rPr lang="hu-HU" dirty="0"/>
              <a:t>A </a:t>
            </a:r>
            <a:r>
              <a:rPr lang="hu-HU" dirty="0" err="1"/>
              <a:t>sztatinok</a:t>
            </a:r>
            <a:r>
              <a:rPr lang="hu-HU" dirty="0"/>
              <a:t> fokozzák a </a:t>
            </a:r>
            <a:r>
              <a:rPr lang="hu-HU" dirty="0" err="1"/>
              <a:t>plakkok</a:t>
            </a:r>
            <a:r>
              <a:rPr lang="hu-HU" dirty="0"/>
              <a:t> </a:t>
            </a:r>
            <a:r>
              <a:rPr lang="hu-HU" dirty="0" err="1"/>
              <a:t>meszességét</a:t>
            </a:r>
            <a:r>
              <a:rPr lang="hu-HU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543201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BEB69-8ADE-1D87-B0C7-93EFF1CA4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10549"/>
            <a:ext cx="10515600" cy="2852737"/>
          </a:xfrm>
        </p:spPr>
        <p:txBody>
          <a:bodyPr>
            <a:noAutofit/>
          </a:bodyPr>
          <a:lstStyle/>
          <a:p>
            <a:pPr algn="ctr" fontAlgn="t"/>
            <a:r>
              <a:rPr lang="en-HU" sz="3200" dirty="0"/>
              <a:t>Az Egyesült Királyságban</a:t>
            </a:r>
            <a:r>
              <a:rPr lang="hu-HU" sz="3200" dirty="0"/>
              <a:t> a</a:t>
            </a:r>
            <a:r>
              <a:rPr lang="en-HU" sz="3200" dirty="0"/>
              <a:t> </a:t>
            </a:r>
            <a:r>
              <a:rPr lang="en-HU" sz="3200" b="1" dirty="0"/>
              <a:t>2013-14.</a:t>
            </a:r>
            <a:r>
              <a:rPr lang="en-HU" sz="3200" dirty="0"/>
              <a:t> közötti brit médiavisszhang hatására egy fél éves időszakban mintegy </a:t>
            </a:r>
            <a:r>
              <a:rPr lang="en-HU" sz="3200" b="1" dirty="0"/>
              <a:t>220 000 ember hagyhatta el</a:t>
            </a:r>
            <a:r>
              <a:rPr lang="en-HU" sz="3200" dirty="0"/>
              <a:t> a sztatinkezelést, ami a British Heart Foundation becslései szerint a következő 10 évben </a:t>
            </a:r>
            <a:r>
              <a:rPr lang="en-HU" sz="3200" b="1" dirty="0"/>
              <a:t>2170 körüli extra szívroham, illetve szélütés (stroke)</a:t>
            </a:r>
            <a:r>
              <a:rPr lang="en-HU" sz="3200" dirty="0"/>
              <a:t> kialakulásáért lehetett felelős.</a:t>
            </a:r>
            <a:br>
              <a:rPr lang="en-HU" sz="3200" dirty="0"/>
            </a:br>
            <a:br>
              <a:rPr lang="en-HU" sz="3200" dirty="0"/>
            </a:br>
            <a:r>
              <a:rPr lang="en-HU" sz="2800" dirty="0"/>
              <a:t>(Impact of statin related media coverage on use of statins: interrupted time series analysis with UK primary care data, Matthews et. al. BMJ 2016;353:i3283)</a:t>
            </a:r>
            <a:endParaRPr lang="en-HU" sz="3200" dirty="0"/>
          </a:p>
        </p:txBody>
      </p:sp>
    </p:spTree>
    <p:extLst>
      <p:ext uri="{BB962C8B-B14F-4D97-AF65-F5344CB8AC3E}">
        <p14:creationId xmlns:p14="http://schemas.microsoft.com/office/powerpoint/2010/main" val="6772391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18AAB-D289-B418-C651-E6880EF6A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C86C322-1DF8-444B-BDC3-1D09D93EF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B6F8964-71D2-8ADD-FF92-9C60ABF1E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dirty="0">
                <a:cs typeface="Arial" panose="020B0604020202020204" pitchFamily="34" charset="0"/>
              </a:rPr>
              <a:t>“</a:t>
            </a:r>
            <a:r>
              <a:rPr lang="en-US" sz="3000" dirty="0" err="1">
                <a:cs typeface="Arial" panose="020B0604020202020204" pitchFamily="34" charset="0"/>
              </a:rPr>
              <a:t>Elveszítjük</a:t>
            </a:r>
            <a:r>
              <a:rPr lang="en-US" sz="3000" dirty="0">
                <a:cs typeface="Arial" panose="020B0604020202020204" pitchFamily="34" charset="0"/>
              </a:rPr>
              <a:t> a </a:t>
            </a:r>
            <a:r>
              <a:rPr lang="en-US" sz="3000" dirty="0" err="1">
                <a:cs typeface="Arial" panose="020B0604020202020204" pitchFamily="34" charset="0"/>
              </a:rPr>
              <a:t>pácienseink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szívéért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és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elméjéért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folytatott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csatát</a:t>
            </a:r>
            <a:r>
              <a:rPr lang="en-US" sz="3000" dirty="0">
                <a:cs typeface="Arial" panose="020B0604020202020204" pitchFamily="34" charset="0"/>
              </a:rPr>
              <a:t> a </a:t>
            </a:r>
            <a:r>
              <a:rPr lang="en-US" sz="3000" dirty="0" err="1">
                <a:cs typeface="Arial" panose="020B0604020202020204" pitchFamily="34" charset="0"/>
              </a:rPr>
              <a:t>nem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bizonyított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terápiákat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hirdető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weboldalakkal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szemben</a:t>
            </a:r>
            <a:r>
              <a:rPr lang="en-US" sz="3000" dirty="0">
                <a:cs typeface="Arial" panose="020B0604020202020204" pitchFamily="34" charset="0"/>
              </a:rPr>
              <a:t>”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8660368-8898-37C8-951E-A41E8B70D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339" y="4636008"/>
            <a:ext cx="3734014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endParaRPr lang="en-US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0A5E872C-0CBE-C0B5-DEAA-58322A28E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0ECFABE-FE66-02ED-ACB3-5FB49793A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2024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060559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BA757D6-E556-5174-BEFC-3CF600F34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dirty="0">
                <a:cs typeface="Arial" panose="020B0604020202020204" pitchFamily="34" charset="0"/>
              </a:rPr>
              <a:t>“</a:t>
            </a:r>
            <a:r>
              <a:rPr lang="en-US" sz="3000" dirty="0" err="1">
                <a:cs typeface="Arial" panose="020B0604020202020204" pitchFamily="34" charset="0"/>
              </a:rPr>
              <a:t>Elveszítjük</a:t>
            </a:r>
            <a:r>
              <a:rPr lang="en-US" sz="3000" dirty="0">
                <a:cs typeface="Arial" panose="020B0604020202020204" pitchFamily="34" charset="0"/>
              </a:rPr>
              <a:t> a </a:t>
            </a:r>
            <a:r>
              <a:rPr lang="en-US" sz="3000" dirty="0" err="1">
                <a:cs typeface="Arial" panose="020B0604020202020204" pitchFamily="34" charset="0"/>
              </a:rPr>
              <a:t>pácienseink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szívéért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és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elméjéért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folytatott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csatát</a:t>
            </a:r>
            <a:r>
              <a:rPr lang="en-US" sz="3000" dirty="0">
                <a:cs typeface="Arial" panose="020B0604020202020204" pitchFamily="34" charset="0"/>
              </a:rPr>
              <a:t> a </a:t>
            </a:r>
            <a:r>
              <a:rPr lang="en-US" sz="3000" dirty="0" err="1">
                <a:cs typeface="Arial" panose="020B0604020202020204" pitchFamily="34" charset="0"/>
              </a:rPr>
              <a:t>nem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bizonyított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terápiákat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hirdető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weboldalakkal</a:t>
            </a:r>
            <a:r>
              <a:rPr lang="en-US" sz="3000" dirty="0">
                <a:cs typeface="Arial" panose="020B0604020202020204" pitchFamily="34" charset="0"/>
              </a:rPr>
              <a:t> </a:t>
            </a:r>
            <a:r>
              <a:rPr lang="en-US" sz="3000" dirty="0" err="1">
                <a:cs typeface="Arial" panose="020B0604020202020204" pitchFamily="34" charset="0"/>
              </a:rPr>
              <a:t>szemben</a:t>
            </a:r>
            <a:r>
              <a:rPr lang="en-US" sz="3000" dirty="0">
                <a:cs typeface="Arial" panose="020B0604020202020204" pitchFamily="34" charset="0"/>
              </a:rPr>
              <a:t>”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DB2302A-4407-C2EF-ABA5-2E0A072F6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339" y="4636008"/>
            <a:ext cx="3734014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(2017)</a:t>
            </a:r>
            <a:endParaRPr lang="en-US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F549BC2-33DC-C31B-54E5-67D2EC4400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2024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9692797D-97C7-BCF0-CC89-0862D76E8AD5}"/>
              </a:ext>
            </a:extLst>
          </p:cNvPr>
          <p:cNvSpPr txBox="1"/>
          <p:nvPr/>
        </p:nvSpPr>
        <p:spPr>
          <a:xfrm>
            <a:off x="9071430" y="5858934"/>
            <a:ext cx="31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Dr. Steven Nissen,</a:t>
            </a:r>
            <a:br>
              <a:rPr lang="en-US" sz="2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Cleveland Clinic</a:t>
            </a:r>
            <a:endParaRPr lang="hu-HU" sz="24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3253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5270A-EBC1-919D-3D4C-1A1CE708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014009-B97C-231A-21BC-270868649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hu-HU" sz="5400" dirty="0"/>
              <a:t>Mi történik,</a:t>
            </a:r>
            <a:br>
              <a:rPr lang="hu-HU" sz="5400" dirty="0"/>
            </a:br>
            <a:r>
              <a:rPr lang="hu-HU" sz="5400" dirty="0"/>
              <a:t>ha ártalmas?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C157E01-A6B9-30DC-84CF-97D8A9F4E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5776" r="12403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3CD0BB7E-577D-D1B0-8EE2-20D737A32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4220" y="2701786"/>
            <a:ext cx="6251110" cy="3483864"/>
          </a:xfrm>
        </p:spPr>
        <p:txBody>
          <a:bodyPr>
            <a:normAutofit fontScale="55000" lnSpcReduction="20000"/>
          </a:bodyPr>
          <a:lstStyle/>
          <a:p>
            <a:r>
              <a:rPr lang="hu-HU" b="1" dirty="0"/>
              <a:t>1999. </a:t>
            </a:r>
            <a:r>
              <a:rPr lang="hu-HU" b="1" dirty="0" err="1"/>
              <a:t>Avandia</a:t>
            </a:r>
            <a:r>
              <a:rPr lang="hu-HU" b="1" dirty="0"/>
              <a:t> (</a:t>
            </a:r>
            <a:r>
              <a:rPr lang="hu-HU" b="1" dirty="0" err="1"/>
              <a:t>roziglitazon</a:t>
            </a:r>
            <a:r>
              <a:rPr lang="hu-HU" b="1" dirty="0"/>
              <a:t>)</a:t>
            </a:r>
          </a:p>
          <a:p>
            <a:pPr lvl="1"/>
            <a:r>
              <a:rPr lang="hu-HU" dirty="0"/>
              <a:t>Inzulin érzékenyítő, jelentős HbA1c csökkentés 1-1.5%</a:t>
            </a:r>
          </a:p>
          <a:p>
            <a:pPr lvl="1"/>
            <a:r>
              <a:rPr lang="hu-HU" dirty="0"/>
              <a:t>a GSK második </a:t>
            </a:r>
            <a:r>
              <a:rPr lang="hu-HU" dirty="0" err="1"/>
              <a:t>legprofitábilisabb</a:t>
            </a:r>
            <a:r>
              <a:rPr lang="hu-HU" dirty="0"/>
              <a:t> gyógyszere (1999-2006)</a:t>
            </a:r>
          </a:p>
          <a:p>
            <a:r>
              <a:rPr lang="hu-HU" b="1" dirty="0"/>
              <a:t>2007. Dr. Steven </a:t>
            </a:r>
            <a:r>
              <a:rPr lang="hu-HU" b="1" dirty="0" err="1"/>
              <a:t>Nissen</a:t>
            </a:r>
            <a:r>
              <a:rPr lang="hu-HU" b="1" dirty="0"/>
              <a:t> és </a:t>
            </a:r>
            <a:r>
              <a:rPr lang="hu-HU" b="1" dirty="0" err="1"/>
              <a:t>mtsai</a:t>
            </a:r>
            <a:r>
              <a:rPr lang="hu-HU" b="1" dirty="0"/>
              <a:t> </a:t>
            </a:r>
            <a:r>
              <a:rPr lang="hu-HU" dirty="0"/>
              <a:t>retrospektív </a:t>
            </a:r>
            <a:r>
              <a:rPr lang="hu-HU" dirty="0" err="1"/>
              <a:t>metaanalízise</a:t>
            </a:r>
            <a:endParaRPr lang="hu-HU" dirty="0"/>
          </a:p>
          <a:p>
            <a:pPr lvl="1"/>
            <a:r>
              <a:rPr lang="hu-HU" b="1" dirty="0"/>
              <a:t>43%-kal nőtt a szívinfarktus kockázata</a:t>
            </a:r>
          </a:p>
          <a:p>
            <a:pPr lvl="1"/>
            <a:r>
              <a:rPr lang="hu-HU" dirty="0"/>
              <a:t>a CV halálozás veszélye emelkedett</a:t>
            </a:r>
          </a:p>
          <a:p>
            <a:r>
              <a:rPr lang="hu-HU" b="1" dirty="0"/>
              <a:t>2010. az EMA teljesen kivonta, az FDA szigorúan korlátozta</a:t>
            </a:r>
          </a:p>
          <a:p>
            <a:r>
              <a:rPr lang="hu-HU" dirty="0"/>
              <a:t>2013. FDA-DCRI felülvizsgálat</a:t>
            </a:r>
          </a:p>
          <a:p>
            <a:pPr lvl="1"/>
            <a:r>
              <a:rPr lang="hu-HU" dirty="0"/>
              <a:t>Kevésbé drasztikus a szívinfarktus kockázat, mint amit </a:t>
            </a:r>
            <a:r>
              <a:rPr lang="hu-HU" dirty="0" err="1"/>
              <a:t>Nissenék</a:t>
            </a:r>
            <a:r>
              <a:rPr lang="hu-HU" dirty="0"/>
              <a:t> mértek</a:t>
            </a:r>
          </a:p>
          <a:p>
            <a:pPr lvl="1"/>
            <a:r>
              <a:rPr lang="hu-HU" b="1" dirty="0"/>
              <a:t>De fokozott a szívelégtelenség kockázata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FDA, EMA: </a:t>
            </a:r>
            <a:r>
              <a:rPr lang="hu-HU" b="1" dirty="0" err="1"/>
              <a:t>antidiabetikumoknál</a:t>
            </a:r>
            <a:r>
              <a:rPr lang="hu-HU" b="1" dirty="0"/>
              <a:t> CV biztonságossági vizsgálat kell!</a:t>
            </a:r>
          </a:p>
          <a:p>
            <a:r>
              <a:rPr lang="hu-HU" dirty="0"/>
              <a:t>Az SGLT2 gátlók és GLP1 agonisták korszaka ennek köszönhető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22B8E88-036A-A6FF-4F57-40965613D303}"/>
              </a:ext>
            </a:extLst>
          </p:cNvPr>
          <p:cNvSpPr txBox="1"/>
          <p:nvPr/>
        </p:nvSpPr>
        <p:spPr>
          <a:xfrm>
            <a:off x="77411" y="5903893"/>
            <a:ext cx="31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Dr. Steven Nissen,</a:t>
            </a:r>
            <a:br>
              <a:rPr lang="en-US" sz="2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Cleveland Clinic</a:t>
            </a:r>
            <a:endParaRPr lang="hu-HU" sz="24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2583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478D8-E06C-5C15-7729-91A756B1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U" b="1" dirty="0"/>
              <a:t>Mit ajánl a természetgyógyász akut szívinfarktus esetén?</a:t>
            </a:r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22606479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31937-1CA6-4E81-0DEF-E6501B17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7DF85A-96CD-1C13-7B26-D62FFBD54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8931"/>
            <a:ext cx="7772400" cy="622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002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00C2-4F00-B42F-3046-8ADC82D7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5B277B-E78B-3095-8AED-ED34C6402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888" y="0"/>
            <a:ext cx="10986223" cy="732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44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2323</Words>
  <Application>Microsoft Macintosh PowerPoint</Application>
  <PresentationFormat>Szélesvásznú</PresentationFormat>
  <Paragraphs>298</Paragraphs>
  <Slides>39</Slides>
  <Notes>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39</vt:i4>
      </vt:variant>
    </vt:vector>
  </HeadingPairs>
  <TitlesOfParts>
    <vt:vector size="41" baseType="lpstr">
      <vt:lpstr>Arial</vt:lpstr>
      <vt:lpstr>Office Theme</vt:lpstr>
      <vt:lpstr>Koleszterincsökkentés és sztatinok helye a megelőzésben</vt:lpstr>
      <vt:lpstr>Mik az orvostudomány által bizonyított hatások?</vt:lpstr>
      <vt:lpstr>Mióta nem kérdés 2026-ban, hogy KELL a sztatin terápia?</vt:lpstr>
      <vt:lpstr>Mennyi lenne az optimális LDL-koleszterin szint?</vt:lpstr>
      <vt:lpstr>Milyen LDL-koleszterin célértéket (mmol/L) érjünk el?</vt:lpstr>
      <vt:lpstr>Tanácsok sztatinok biztonságos alkalmazásához</vt:lpstr>
      <vt:lpstr>PowerPoint-bemutató</vt:lpstr>
      <vt:lpstr> Score2-Diabetes</vt:lpstr>
      <vt:lpstr>PowerPoint-bemutató</vt:lpstr>
      <vt:lpstr>PowerPoint-bemutató</vt:lpstr>
      <vt:lpstr>PowerPoint-bemutató</vt:lpstr>
      <vt:lpstr> Score2</vt:lpstr>
      <vt:lpstr>PowerPoint-bemutató</vt:lpstr>
      <vt:lpstr>PowerPoint-bemutató</vt:lpstr>
      <vt:lpstr>Előnyök    Mellékhatások</vt:lpstr>
      <vt:lpstr>Nocebo effektus</vt:lpstr>
      <vt:lpstr>Gyakori nocebo gyógyszerek</vt:lpstr>
      <vt:lpstr>Sztatin „nocebo” vizsgálatok</vt:lpstr>
      <vt:lpstr>Izom- és ízületi fájdalommal kapcsolatos vizsgálatok </vt:lpstr>
      <vt:lpstr>Májfunkciót vizsgáló tanulmányok</vt:lpstr>
      <vt:lpstr>PowerPoint-bemutató</vt:lpstr>
      <vt:lpstr>Mi történik, ha ártalmas?</vt:lpstr>
      <vt:lpstr>A sztatin vita (2013-2014)</vt:lpstr>
      <vt:lpstr>A sztatin vita (2013-2014)</vt:lpstr>
      <vt:lpstr>A sztatin vita (2013-2014)</vt:lpstr>
      <vt:lpstr>A sztatin vita (2013-2014)</vt:lpstr>
      <vt:lpstr>A sztatin vita (2013-2014)</vt:lpstr>
      <vt:lpstr>PowerPoint-bemutató</vt:lpstr>
      <vt:lpstr>PowerPoint-bemutató</vt:lpstr>
      <vt:lpstr>„Fighting to retain my medical licence” (Aseem Malhotra, 2026.03)</vt:lpstr>
      <vt:lpstr>„Sztatinellenes influencerek”</vt:lpstr>
      <vt:lpstr>PowerPoint-bemutató</vt:lpstr>
      <vt:lpstr>Az Egyesült Királyságban a 2013-14. közötti brit médiavisszhang hatására egy fél éves időszakban mintegy 220 000 ember hagyhatta el a sztatinkezelést, ami a British Heart Foundation becslései szerint a következő 10 évben 2170 körüli extra szívroham, illetve szélütés (stroke) kialakulásáért lehetett felelős.  (Impact of statin related media coverage on use of statins: interrupted time series analysis with UK primary care data, Matthews et. al. BMJ 2016;353:i3283)</vt:lpstr>
      <vt:lpstr>“Elveszítjük a pácienseink szívéért és elméjéért folytatott csatát a nem bizonyított terápiákat hirdető weboldalakkal szemben”</vt:lpstr>
      <vt:lpstr>“Elveszítjük a pácienseink szívéért és elméjéért folytatott csatát a nem bizonyított terápiákat hirdető weboldalakkal szemben”</vt:lpstr>
      <vt:lpstr>Mi történik, ha ártalmas?</vt:lpstr>
      <vt:lpstr>Mit ajánl a természetgyógyász akut szívinfarktus esetén?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Koleszterincsökkentés és sztatinok helye a megelőzésben</dc:title>
  <dc:subject/>
  <dc:creator>Gábor Iglói</dc:creator>
  <cp:keywords/>
  <dc:description/>
  <cp:lastModifiedBy>Iglói Gábor Dr.</cp:lastModifiedBy>
  <cp:revision>57</cp:revision>
  <dcterms:created xsi:type="dcterms:W3CDTF">2026-05-20T05:33:38Z</dcterms:created>
  <dcterms:modified xsi:type="dcterms:W3CDTF">2026-09-30T12:25:49Z</dcterms:modified>
  <cp:category/>
</cp:coreProperties>
</file>