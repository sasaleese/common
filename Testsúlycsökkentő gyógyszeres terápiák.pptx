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65" r:id="rId4"/>
    <p:sldId id="257" r:id="rId5"/>
    <p:sldId id="262" r:id="rId6"/>
    <p:sldId id="259" r:id="rId7"/>
    <p:sldId id="260" r:id="rId8"/>
    <p:sldId id="258" r:id="rId9"/>
    <p:sldId id="261" r:id="rId10"/>
    <p:sldId id="263" r:id="rId11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37"/>
    <p:restoredTop sz="94690"/>
  </p:normalViewPr>
  <p:slideViewPr>
    <p:cSldViewPr snapToGrid="0">
      <p:cViewPr varScale="1">
        <p:scale>
          <a:sx n="97" d="100"/>
          <a:sy n="97" d="100"/>
        </p:scale>
        <p:origin x="23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48109-4A4F-AFF5-EF92-5A8517DA9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5B193-4EFA-30FA-D8DC-FDEF54968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5B883-6EBD-663D-14FF-9738CBB2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28CBF-2962-448D-DA38-9DE2490B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C9C98-C824-CD46-EAE4-4D750460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35005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4AF2-B6C4-797D-AE81-CC237BFDC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278D5-4ECD-10F9-A8E8-9AE663303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C9598-658D-C862-A074-18B43066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321A0-EBA5-6D97-47C8-35B4A495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54F59-1F2A-F963-CCDC-6374C0522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904763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4270D-4BE7-C83D-14A6-BFCEBFEF1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4E2B2-A22B-2EEA-F602-6D1795E6C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EDEC0-72DC-8DCB-ACD4-A7323E2E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80868-AEB7-B3E1-08BE-52CAC6AD0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B6D81-CEE6-81B3-E4F9-FD3B2BB5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1999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B4E33-725F-9F35-003C-B14EA71D1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4B789-CC39-970B-3DED-86063D737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53736-4AD2-9621-9A83-CBBAAB489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770A4-F637-4EAC-7390-B63556550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E5FE2-AACD-4134-F79D-8542E47A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20997-6FC3-0C99-98EE-FAA48483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82957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2C6E-589A-9C63-12DD-2E17E722A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B30A7-4EC4-D4F5-B3FC-6E52A2529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39841D-BCC3-C877-0BF8-EF5F868B2C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5DEBAD-9D03-066A-20CF-9B1A85834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5A3CC-6B42-B592-171B-60D63B04C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0D43A-180C-CA23-4CFE-4364DFB5A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8BE925-559F-F2F0-6177-D12341F9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FFA89-DE4F-FA55-634B-8EDC99AE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06729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133C-DA14-F33B-7470-A4BD3AD2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E7373E-4D8D-EDDD-9511-DC6A31C74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7EEFC-6DF2-B18D-4DCB-C542F245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2BAEE-5915-AEA6-EEE3-44E56E15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079826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89B9E8-03CA-7B46-AE65-9059EDB80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F12E4-20AF-B8DD-66A7-3680B89E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10667-71F5-5186-81BE-D6026EDA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533997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BB33-BF9B-964A-CF1B-A5E30E37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30DAF-3818-A7D7-E38D-07614B7FA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20F12-BA28-4304-4D11-EE108748A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0EC2A-351C-720B-BE7A-BED156EF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26453-9E55-9F4B-9EC2-EC76DF70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D2F16-011A-E04F-A0D5-F36FC89C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407637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8D4E-C213-F4FB-414F-33F74DEEA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390D8-FD6C-3C7F-3AC7-73283973A1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ACA37-5EBD-B66C-848A-3C0254C72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76FE6-88AA-081C-A7D4-417D39E26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3AAE95-9080-795D-F90C-DDC3852D0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1C0D8-930C-E125-5769-E258E63D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22659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2CB5-DFD7-601B-746A-2B797EA0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9669C-FD02-8574-A845-01924DA43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9F444-CB7F-9350-6731-253EF5180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4EE54-A329-E407-4D84-C8335D1E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44C35-8D40-8D95-9E8E-E625A5DF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81951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1A573F-8EA9-5E24-9265-7F11E18B9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67551-DEC9-A621-DF9F-CD6CD841B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5E20B-A164-00EC-CA9F-2F04EBC89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6DC4B-7346-EEAF-C497-AA9FF8F1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D7999-01B4-ED8E-69CF-A3883685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678508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B418A5-CDEB-E618-52E2-5A638F5E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0F4D7-07E1-A958-31FD-1E4487E4A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4B82B-52B3-62D3-2F45-7686A1478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917DF-FD8E-5A4B-A429-071A0169D668}" type="datetimeFigureOut">
              <a:t>2026. 05. 07.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870D8-C5CA-5E2D-668E-E0090ADD67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56577-4CFA-9F4D-BF86-8FC7F951F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37CD53-027F-5C48-8DB3-DC9CB93328AF}" type="slidenum"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09680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6CB4-5086-05AB-14E2-BCD1CCD674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HU"/>
              <a:t>Testsúlycsökkentő gyógyszeres és életmód terápiák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86BBD-D420-A124-5F51-EE4691F5C1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72681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BCE08-1B1D-43DB-CCA8-A39AEA7F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B9126-749A-FF00-916E-7A36E5498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  <a:p>
            <a:r>
              <a:rPr lang="en-HU"/>
              <a:t>életmód					</a:t>
            </a:r>
            <a:r>
              <a:rPr lang="en-HU">
                <a:sym typeface="Wingdings" pitchFamily="2" charset="2"/>
              </a:rPr>
              <a:t>  </a:t>
            </a:r>
            <a:endParaRPr lang="en-HU"/>
          </a:p>
          <a:p>
            <a:endParaRPr lang="en-HU"/>
          </a:p>
          <a:p>
            <a:r>
              <a:rPr lang="en-HU"/>
              <a:t>gyógyszeres terápiák			</a:t>
            </a:r>
            <a:r>
              <a:rPr lang="en-HU">
                <a:sym typeface="Wingdings" pitchFamily="2" charset="2"/>
              </a:rPr>
              <a:t>   </a:t>
            </a:r>
            <a:endParaRPr lang="en-HU"/>
          </a:p>
          <a:p>
            <a:endParaRPr lang="en-HU"/>
          </a:p>
          <a:p>
            <a:r>
              <a:rPr lang="en-HU"/>
              <a:t>életmód + gyógyszeres terápia	</a:t>
            </a:r>
            <a:r>
              <a:rPr lang="en-HU">
                <a:sym typeface="Wingdings" pitchFamily="2" charset="2"/>
              </a:rPr>
              <a:t>   </a:t>
            </a: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86147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D131D-774B-2FE0-6388-EBACD5B0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3182-9D41-56A1-BC0E-1F9322EC6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DE0A-94FC-965B-485D-E3D3DDD46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U"/>
          </a:p>
          <a:p>
            <a:r>
              <a:rPr lang="en-HU"/>
              <a:t>életmód					</a:t>
            </a:r>
            <a:r>
              <a:rPr lang="en-HU">
                <a:sym typeface="Wingdings" pitchFamily="2" charset="2"/>
              </a:rPr>
              <a:t>  </a:t>
            </a:r>
            <a:endParaRPr lang="en-HU"/>
          </a:p>
          <a:p>
            <a:endParaRPr lang="en-HU"/>
          </a:p>
          <a:p>
            <a:r>
              <a:rPr lang="en-HU"/>
              <a:t>gyógyszeres terápiák			</a:t>
            </a:r>
            <a:r>
              <a:rPr lang="en-HU">
                <a:sym typeface="Wingdings" pitchFamily="2" charset="2"/>
              </a:rPr>
              <a:t>   </a:t>
            </a:r>
            <a:endParaRPr lang="en-HU"/>
          </a:p>
          <a:p>
            <a:endParaRPr lang="en-HU"/>
          </a:p>
          <a:p>
            <a:r>
              <a:rPr lang="en-HU"/>
              <a:t>életmód + gyógyszeres terápia	</a:t>
            </a:r>
            <a:r>
              <a:rPr lang="en-HU">
                <a:sym typeface="Wingdings" pitchFamily="2" charset="2"/>
              </a:rPr>
              <a:t>   </a:t>
            </a:r>
            <a:endParaRPr lang="en-H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29B606-F6DD-CC7D-F651-01D4B5E1A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00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58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BFDA-A2BC-8BC8-9CCE-5A73EBBC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/>
              <a:t>Mire valók ezek a gyógyszerek?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04CA5-BE09-826E-E235-CFE097FCE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az étvágy csökkentésével és a jóllakottság fokozásával segítik a testsúlycsökkenést</a:t>
            </a:r>
            <a:endParaRPr lang="en-HU"/>
          </a:p>
          <a:p>
            <a:endParaRPr lang="en-HU">
              <a:effectLst/>
            </a:endParaRPr>
          </a:p>
          <a:p>
            <a:r>
              <a:rPr lang="en-HU"/>
              <a:t>egyes hatóanyagoknak kimutatott szív-érrendszeri rizikócsökkentő hatásuk is van</a:t>
            </a:r>
          </a:p>
          <a:p>
            <a:endParaRPr lang="en-HU">
              <a:effectLst/>
            </a:endParaRPr>
          </a:p>
          <a:p>
            <a:r>
              <a:rPr lang="en-HU">
                <a:effectLst/>
              </a:rPr>
              <a:t>további előnyös hatások: vércukor-, vérzsír anyagcsere, vesevédelem, zsírmáj, alvási apnoe szindróma</a:t>
            </a:r>
          </a:p>
        </p:txBody>
      </p:sp>
    </p:spTree>
    <p:extLst>
      <p:ext uri="{BB962C8B-B14F-4D97-AF65-F5344CB8AC3E}">
        <p14:creationId xmlns:p14="http://schemas.microsoft.com/office/powerpoint/2010/main" val="2123824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1AFE8-ABD4-BCF2-2F0B-4DDCAAA5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b="1"/>
              <a:t>Ellenjavallatok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2614A-23D0-B275-4015-739224BB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en-HU"/>
              <a:t>terhesség, szoptatás</a:t>
            </a:r>
          </a:p>
          <a:p>
            <a:pPr>
              <a:buFontTx/>
              <a:buChar char="-"/>
            </a:pPr>
            <a:r>
              <a:rPr lang="en-HU"/>
              <a:t>bizonyos típusú pajzsmirigyrákok</a:t>
            </a:r>
          </a:p>
          <a:p>
            <a:pPr>
              <a:buFontTx/>
              <a:buChar char="-"/>
            </a:pPr>
            <a:r>
              <a:rPr lang="en-HU"/>
              <a:t>ún. MEN-2 szindróma (öröklődő pajzsmirigy + mellékvese daganat)</a:t>
            </a:r>
          </a:p>
          <a:p>
            <a:pPr>
              <a:buFontTx/>
              <a:buChar char="-"/>
            </a:pPr>
            <a:r>
              <a:rPr lang="en-HU"/>
              <a:t>bizonyos típusú hasnyálmirigy gyulladás az előzményben</a:t>
            </a:r>
          </a:p>
          <a:p>
            <a:pPr marL="0" indent="0">
              <a:buNone/>
            </a:pPr>
            <a:endParaRPr lang="en-HU" b="1"/>
          </a:p>
          <a:p>
            <a:pPr marL="0" indent="0">
              <a:buNone/>
            </a:pPr>
            <a:r>
              <a:rPr lang="en-HU" b="1"/>
              <a:t>Ritka, de fontos kezelés alatti kockázatok</a:t>
            </a:r>
          </a:p>
          <a:p>
            <a:pPr>
              <a:buFontTx/>
              <a:buChar char="-"/>
            </a:pPr>
            <a:r>
              <a:rPr lang="en-HU"/>
              <a:t>hasnyálmirigy gyulladás – erős, övszerű hasi fájdalom hányással</a:t>
            </a:r>
          </a:p>
          <a:p>
            <a:pPr>
              <a:buFontTx/>
              <a:buChar char="-"/>
            </a:pPr>
            <a:r>
              <a:rPr lang="en-HU"/>
              <a:t>egyoldali fájdalmatlan látásvesztés</a:t>
            </a:r>
          </a:p>
          <a:p>
            <a:pPr marL="0" indent="0">
              <a:buNone/>
            </a:pPr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05731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2F720-8A5B-06E0-4FF0-415FF29D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/>
              <a:t>Gyakoribb mellékhatások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E3A50-1EEF-607B-03C3-56B25C185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Hányinger, hányás</a:t>
            </a:r>
          </a:p>
          <a:p>
            <a:pPr marL="0" indent="0">
              <a:buNone/>
            </a:pPr>
            <a:r>
              <a:rPr lang="en-HU"/>
              <a:t>Hasmenés vagy székrekedés</a:t>
            </a:r>
          </a:p>
          <a:p>
            <a:pPr marL="0" indent="0">
              <a:buNone/>
            </a:pPr>
            <a:r>
              <a:rPr lang="en-HU"/>
              <a:t>Puffadás vagy teltségérzés</a:t>
            </a:r>
          </a:p>
          <a:p>
            <a:pPr marL="0" indent="0">
              <a:buNone/>
            </a:pPr>
            <a:r>
              <a:rPr lang="en-HU"/>
              <a:t>Fáradtság</a:t>
            </a:r>
          </a:p>
          <a:p>
            <a:pPr marL="0" indent="0">
              <a:buNone/>
            </a:pPr>
            <a:r>
              <a:rPr lang="en-HU"/>
              <a:t>Hajhullás</a:t>
            </a:r>
          </a:p>
        </p:txBody>
      </p:sp>
    </p:spTree>
    <p:extLst>
      <p:ext uri="{BB962C8B-B14F-4D97-AF65-F5344CB8AC3E}">
        <p14:creationId xmlns:p14="http://schemas.microsoft.com/office/powerpoint/2010/main" val="179789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8BA9-93C5-3F91-FA1C-6F665CC1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b="1"/>
              <a:t>Mire kell figyelni?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C2C35-5DC2-1029-B05F-4150FF524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HU"/>
          </a:p>
          <a:p>
            <a:endParaRPr lang="en-HU"/>
          </a:p>
          <a:p>
            <a:r>
              <a:rPr lang="en-HU"/>
              <a:t>nagy volumenű étkezés, alkoholfogyasztás ne legyen</a:t>
            </a:r>
          </a:p>
          <a:p>
            <a:r>
              <a:rPr lang="en-HU"/>
              <a:t>megfelelő folyadékfogyasztásra figyeljen</a:t>
            </a:r>
          </a:p>
          <a:p>
            <a:endParaRPr lang="en-HU"/>
          </a:p>
          <a:p>
            <a:r>
              <a:rPr lang="en-HU"/>
              <a:t>életmód, tréning, fehérjebevitel ugyanúgy fontos az izomvesztés elkerülésére</a:t>
            </a:r>
          </a:p>
        </p:txBody>
      </p:sp>
    </p:spTree>
    <p:extLst>
      <p:ext uri="{BB962C8B-B14F-4D97-AF65-F5344CB8AC3E}">
        <p14:creationId xmlns:p14="http://schemas.microsoft.com/office/powerpoint/2010/main" val="3775309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8E35-8980-EF83-8097-942C62E8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b="1"/>
              <a:t>Hatóanyagok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F091B-D26F-47A7-C095-CFBECBF6B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HU"/>
              <a:t>Saxenda	napi 1X inj.				(liraglutid)</a:t>
            </a:r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Wegovy	heti 1X inj.				(semaglutid)	</a:t>
            </a:r>
          </a:p>
          <a:p>
            <a:pPr marL="0" indent="0">
              <a:buNone/>
            </a:pPr>
            <a:r>
              <a:rPr lang="en-HU"/>
              <a:t>Ozempic</a:t>
            </a:r>
          </a:p>
          <a:p>
            <a:pPr marL="0" indent="0">
              <a:buNone/>
            </a:pPr>
            <a:r>
              <a:rPr lang="en-HU"/>
              <a:t>Rybelsus	napi 1 tbl éhgyomorra</a:t>
            </a:r>
          </a:p>
          <a:p>
            <a:pPr marL="0" indent="0">
              <a:buNone/>
            </a:pPr>
            <a:endParaRPr lang="en-HU"/>
          </a:p>
          <a:p>
            <a:pPr marL="0" indent="0">
              <a:buNone/>
            </a:pPr>
            <a:r>
              <a:rPr lang="en-HU"/>
              <a:t>Mounjaro	heti 1X inj.				(tirzepatid)</a:t>
            </a:r>
          </a:p>
        </p:txBody>
      </p:sp>
    </p:spTree>
    <p:extLst>
      <p:ext uri="{BB962C8B-B14F-4D97-AF65-F5344CB8AC3E}">
        <p14:creationId xmlns:p14="http://schemas.microsoft.com/office/powerpoint/2010/main" val="422980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5980B-F767-B94D-D443-C8FB4C51F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907"/>
            <a:ext cx="6096000" cy="44641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B21042-C49C-EE71-4F91-4EE84DC58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2229"/>
            <a:ext cx="7772400" cy="4418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06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7CAB-97D0-DB6F-ED83-1BE7EEBC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/>
              <a:t>Minimum életmód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6A270-DA88-7F84-5C52-E84DD07F6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U"/>
              <a:t>napi egybefüggő, közepes tempójú, legalább 30-45 perc séta – heti 150-300 perc</a:t>
            </a:r>
          </a:p>
          <a:p>
            <a:pPr lvl="1"/>
            <a:r>
              <a:rPr lang="en-HU"/>
              <a:t>de nem kutyasétáltatás, kirakat nézés vagy fagylaltozás</a:t>
            </a:r>
          </a:p>
          <a:p>
            <a:r>
              <a:rPr lang="en-HU"/>
              <a:t>heti 2x30 perc rezisztencia jellegű edzés – akár kis súlyokkal pl. 1L-es ásványvizes palack, gumiszalag</a:t>
            </a:r>
          </a:p>
          <a:p>
            <a:endParaRPr lang="en-HU"/>
          </a:p>
          <a:p>
            <a:r>
              <a:rPr lang="en-HU"/>
              <a:t>étkezés</a:t>
            </a:r>
          </a:p>
          <a:p>
            <a:pPr lvl="1"/>
            <a:r>
              <a:rPr lang="en-HU"/>
              <a:t>mennyi kalória? milyen tápanyag összetétel? milyen napi eloszlásban?</a:t>
            </a:r>
          </a:p>
          <a:p>
            <a:pPr lvl="1"/>
            <a:r>
              <a:rPr lang="en-HU" u="sng"/>
              <a:t>ÉTKEZÉS NAPLÓZÁSA</a:t>
            </a:r>
            <a:r>
              <a:rPr lang="en-HU"/>
              <a:t> – Lavinia, Yazio, Kalóriabázis, kockás füzet</a:t>
            </a:r>
            <a:endParaRPr lang="en-HU" u="sng"/>
          </a:p>
        </p:txBody>
      </p:sp>
    </p:spTree>
    <p:extLst>
      <p:ext uri="{BB962C8B-B14F-4D97-AF65-F5344CB8AC3E}">
        <p14:creationId xmlns:p14="http://schemas.microsoft.com/office/powerpoint/2010/main" val="685825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291</Words>
  <Application>Microsoft Macintosh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Testsúlycsökkentő gyógyszeres és életmód terápiák</vt:lpstr>
      <vt:lpstr>PowerPoint Presentation</vt:lpstr>
      <vt:lpstr>PowerPoint Presentation</vt:lpstr>
      <vt:lpstr>Mire valók ezek a gyógyszerek?</vt:lpstr>
      <vt:lpstr>Ellenjavallatok</vt:lpstr>
      <vt:lpstr>Gyakoribb mellékhatások</vt:lpstr>
      <vt:lpstr>Mire kell figyelni?</vt:lpstr>
      <vt:lpstr>Hatóanyagok</vt:lpstr>
      <vt:lpstr>PowerPoint Presentation</vt:lpstr>
      <vt:lpstr>Minimum életmód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Gábor Iglói</dc:creator>
  <cp:lastModifiedBy>Gábor Iglói</cp:lastModifiedBy>
  <cp:revision>4</cp:revision>
  <dcterms:created xsi:type="dcterms:W3CDTF">2026-04-16T09:40:36Z</dcterms:created>
  <dcterms:modified xsi:type="dcterms:W3CDTF">2026-05-07T10:59:07Z</dcterms:modified>
</cp:coreProperties>
</file>