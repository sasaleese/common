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13672" r:id="rId3"/>
    <p:sldId id="2842" r:id="rId4"/>
    <p:sldId id="2843" r:id="rId5"/>
    <p:sldId id="13676" r:id="rId6"/>
    <p:sldId id="13678" r:id="rId7"/>
    <p:sldId id="13674" r:id="rId8"/>
    <p:sldId id="13675" r:id="rId9"/>
    <p:sldId id="13679" r:id="rId10"/>
    <p:sldId id="13677" r:id="rId11"/>
    <p:sldId id="13681" r:id="rId12"/>
    <p:sldId id="13680" r:id="rId13"/>
    <p:sldId id="13682" r:id="rId14"/>
    <p:sldId id="13683" r:id="rId15"/>
    <p:sldId id="13684" r:id="rId16"/>
    <p:sldId id="13685" r:id="rId17"/>
    <p:sldId id="13686" r:id="rId18"/>
    <p:sldId id="13687" r:id="rId19"/>
    <p:sldId id="13688" r:id="rId20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48"/>
    <p:restoredTop sz="94698"/>
  </p:normalViewPr>
  <p:slideViewPr>
    <p:cSldViewPr snapToGrid="0">
      <p:cViewPr varScale="1">
        <p:scale>
          <a:sx n="123" d="100"/>
          <a:sy n="123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GB"/>
              <a:t>10 éves CV rizikó</a:t>
            </a:r>
            <a:r>
              <a:rPr lang="en-GB" baseline="0"/>
              <a:t> </a:t>
            </a:r>
            <a:r>
              <a:rPr lang="en-GB"/>
              <a:t>csökkentése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H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Rizikócsökkentés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C9CE-A746-8970-2B5B4894A007}"/>
              </c:ext>
            </c:extLst>
          </c:dPt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C9CE-A746-8970-2B5B4894A007}"/>
              </c:ext>
            </c:extLst>
          </c:dPt>
          <c:dPt>
            <c:idx val="2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C9CE-A746-8970-2B5B4894A007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C9CE-A746-8970-2B5B4894A007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C9CE-A746-8970-2B5B4894A007}"/>
              </c:ext>
            </c:extLst>
          </c:dPt>
          <c:dLbls>
            <c:dLbl>
              <c:idx val="6"/>
              <c:layout>
                <c:manualLayout>
                  <c:x val="1.9243545361821552E-3"/>
                  <c:y val="-3.853115582774375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C9CE-A746-8970-2B5B4894A007}"/>
                </c:ext>
              </c:extLst>
            </c:dLbl>
            <c:spPr>
              <a:solidFill>
                <a:prstClr val="white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Dohányzás</c:v>
                </c:pt>
                <c:pt idx="1">
                  <c:v>Mozgás, diéta</c:v>
                </c:pt>
                <c:pt idx="2">
                  <c:v>GLP1+SGLT2</c:v>
                </c:pt>
                <c:pt idx="3">
                  <c:v>Statin</c:v>
                </c:pt>
                <c:pt idx="4">
                  <c:v>&lt;130 Hgmm</c:v>
                </c:pt>
                <c:pt idx="5">
                  <c:v>&lt;140 Hgmm</c:v>
                </c:pt>
                <c:pt idx="6">
                  <c:v>HbA1c &lt;7%</c:v>
                </c:pt>
              </c:strCache>
            </c:strRef>
          </c:cat>
          <c:val>
            <c:numRef>
              <c:f>Sheet1!$B$2:$B$8</c:f>
              <c:numCache>
                <c:formatCode>0.0%</c:formatCode>
                <c:ptCount val="7"/>
                <c:pt idx="0">
                  <c:v>8.8999999999999996E-2</c:v>
                </c:pt>
                <c:pt idx="1">
                  <c:v>5.8999999999999997E-2</c:v>
                </c:pt>
                <c:pt idx="2">
                  <c:v>4.9000000000000002E-2</c:v>
                </c:pt>
                <c:pt idx="3">
                  <c:v>7.1999999999999995E-2</c:v>
                </c:pt>
                <c:pt idx="4">
                  <c:v>0.08</c:v>
                </c:pt>
                <c:pt idx="5">
                  <c:v>4.2999999999999997E-2</c:v>
                </c:pt>
                <c:pt idx="6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CE-A746-8970-2B5B4894A0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02177728"/>
        <c:axId val="1702173248"/>
      </c:barChart>
      <c:catAx>
        <c:axId val="17021777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02173248"/>
        <c:crosses val="autoZero"/>
        <c:auto val="1"/>
        <c:lblAlgn val="ctr"/>
        <c:lblOffset val="100"/>
        <c:noMultiLvlLbl val="0"/>
      </c:catAx>
      <c:valAx>
        <c:axId val="1702173248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702177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6F9C8-BBD8-8342-8474-987E188FEFB2}" type="datetimeFigureOut">
              <a:t>2026. 05. 20.</a:t>
            </a:fld>
            <a:endParaRPr lang="en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77AFD-810C-2A43-920D-66B65E4B4F80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552238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375404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A0CC-9287-5A21-F7CE-3A94FFA6E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73468-85AA-2E6C-BEF7-3777D6042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B2F02-863D-F114-CF10-4404006BA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2026. 05. 20.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7EB99-C86A-6E7A-88E0-01F5ADA18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6C683-313F-9B63-AD7F-DCA4102F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862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EA7BC-1CCF-F4BE-79D6-BB8AEC24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2E0AC-EAA7-A59E-28BB-F9C11F182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4167F-749C-60EE-5039-2749B4CC0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2026. 05. 20.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33F7E-7F59-C0BC-88FD-C377C8D55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7D91C-37A7-2614-F245-4B294997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428394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D66B4-E495-90D0-5587-29730EBD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0D965-F7AE-A1FD-013B-5055A726A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EADF4-07B7-02DC-18F0-3BCE8D2A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2026. 05. 20.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29BA1-3CF6-7C97-FC7A-090E949D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6417A-2454-FEC5-E56A-3A6C5FB62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986740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DACB2-F785-1AAA-F2DA-33DF48ECB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BBC34-D34C-DC2D-A2DB-8AF0D9EBC1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6B260-3A7E-EA1E-4D7D-B8F8FC84C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7881B-FBF5-4464-3E5E-54EAFF89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2026. 05. 20.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64E23-5B69-53D2-E125-025D1E80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CC186-BC4A-1AFE-6CC7-389C86524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13741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7B3C-4D2C-8F0F-4409-F0C4D1CF1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0F43C-F805-820C-37F9-CD5EA5318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3DC28-5AAB-FD2D-4F70-D6FEDC4EC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7225B-C434-DAF9-2023-9E31A69D9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3BBBF4-4D60-DDAF-A128-F7ED65EFF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55A57-430B-A01D-151A-94A613B76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2026. 05. 20.</a:t>
            </a:fld>
            <a:endParaRPr lang="en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2F9EB8-EA31-43AE-BD2D-FC562E38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6ED0D6-B9AF-45C9-BF1C-44E4F701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60507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F1A72-4A41-466D-837A-8852F09D9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A0FD61-641A-AC8F-D533-12CE2A2F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2026. 05. 20.</a:t>
            </a:fld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0B19B-093F-7281-5029-3929D9CDB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1EF57-0185-2CC5-A18A-14DA05CC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76702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02729-A986-A677-9817-F6A9001F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2026. 05. 20.</a:t>
            </a:fld>
            <a:endParaRPr lang="en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5EB4B-290A-6B05-7E2E-0A34F165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76437-4632-B33F-E00A-B647A6B9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265390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4C09E-11F9-B158-1437-62367F608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963B2-D346-82E2-F152-B57D688E0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6E7DB-F833-CC4E-B10F-012F8B9D8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7C6F1-8ED8-CF2A-F656-6E91A93FD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2026. 05. 20.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EDB14-3855-61E0-FB42-0221DF5A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A29B6-C6FA-0E76-5C51-2B103572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09413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F0905-9DC1-4718-E905-A61027CCD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768DB-56AF-B853-4A73-09318E5288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5BD43-529D-C758-F233-6D74E1FE8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5DA5E-EED7-89A0-B829-5641844E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2026. 05. 20.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60D35-1C75-6231-BAAD-CF965302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BF46F-807B-A6F7-26DB-C5B16A828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366847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1EFC-10A5-F04A-1985-B85B13C1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945C8-42B9-21B8-7ED7-5D35A38CB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E67F5-3DBF-4B78-EBF1-A34067A9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2026. 05. 20.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096E9-8E8A-8132-E659-EDE1FA2D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9DE57-69EB-C7D3-BF6E-D9BC9842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43508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5E9458-BA11-4D0A-3C9E-0718791BE2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0E488-FF60-2694-DCF9-11AED8466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D4666-7FA4-EE63-DA08-6EFD26E08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FDC9-B09F-C347-BBB0-E5614BC97474}" type="datetimeFigureOut">
              <a:t>2026. 05. 20.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51E87-50BB-E366-6B4F-D9E5F11A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CA437-A185-EE36-A3D6-76F65B97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24064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3A1D37-B238-A3D7-F472-5A4CBB0B7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98E75-1645-B9FB-76E3-10FDE6D23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6D2A-9B37-B446-A365-DA8243BAF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6FDC9-B09F-C347-BBB0-E5614BC97474}" type="datetimeFigureOut">
              <a:t>2026. 05. 20.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0A3A1-77EA-9B43-10AA-D5E5DB0C1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8210A-7FD7-DC82-AA4B-4FF0A7501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EF26D-9819-7B49-80A7-6271FE50AAF6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516740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3109-197C-8433-0BA4-FC2C2DE85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HU"/>
              <a:t>Sztatinok helye a megelőzésben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AF934-F839-F404-34BB-5B17CBDDF1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7679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6A8BC-2A83-8978-C5A3-DF2474A3B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207778E-C1CD-BD02-A03F-C8CC5F39AC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HU"/>
              <a:t>Score2-Diabetes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C77019-787E-E966-B839-5C32A8D333D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r>
              <a:rPr lang="en-HU"/>
              <a:t>pl. 55 éves magyar férfi</a:t>
            </a:r>
          </a:p>
          <a:p>
            <a:r>
              <a:rPr lang="en-HU"/>
              <a:t>életmód nem optimális</a:t>
            </a:r>
          </a:p>
          <a:p>
            <a:r>
              <a:rPr lang="en-HU"/>
              <a:t>dohányos</a:t>
            </a:r>
          </a:p>
          <a:p>
            <a:r>
              <a:rPr lang="en-HU"/>
              <a:t>5 éve cukorbeteg</a:t>
            </a:r>
          </a:p>
          <a:p>
            <a:r>
              <a:rPr lang="en-HU"/>
              <a:t>nem optimális vérnyomás (RR ~150 Hgmm)</a:t>
            </a:r>
          </a:p>
          <a:p>
            <a:r>
              <a:rPr lang="en-HU"/>
              <a:t>mérsékelten vesebeteg (GFR 67)</a:t>
            </a:r>
          </a:p>
          <a:p>
            <a:r>
              <a:rPr lang="en-HU"/>
              <a:t>részben kontrollált cukorbeteg (HbA1c 7.3%)</a:t>
            </a:r>
          </a:p>
          <a:p>
            <a:r>
              <a:rPr lang="en-HU"/>
              <a:t>vérzsírok célérték felett (koleszterin 5.9, LDL 3.7)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1492AB-AB36-62AE-43C9-DB139D3A9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0"/>
            <a:ext cx="613844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EA16C1D-BFFE-D078-6CB3-75D4C13CA5C2}"/>
              </a:ext>
            </a:extLst>
          </p:cNvPr>
          <p:cNvSpPr/>
          <p:nvPr/>
        </p:nvSpPr>
        <p:spPr>
          <a:xfrm>
            <a:off x="6783185" y="2194675"/>
            <a:ext cx="1673631" cy="1019580"/>
          </a:xfrm>
          <a:prstGeom prst="rect">
            <a:avLst/>
          </a:prstGeom>
          <a:noFill/>
          <a:ln w="57150">
            <a:solidFill>
              <a:srgbClr val="E6302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U" sz="2400"/>
          </a:p>
        </p:txBody>
      </p:sp>
    </p:spTree>
    <p:extLst>
      <p:ext uri="{BB962C8B-B14F-4D97-AF65-F5344CB8AC3E}">
        <p14:creationId xmlns:p14="http://schemas.microsoft.com/office/powerpoint/2010/main" val="1986803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EEE99F-043A-866F-55EB-381363148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39" y="0"/>
            <a:ext cx="10146323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771758-2F63-BD07-8C53-4E8D8AFFE027}"/>
              </a:ext>
            </a:extLst>
          </p:cNvPr>
          <p:cNvSpPr/>
          <p:nvPr/>
        </p:nvSpPr>
        <p:spPr>
          <a:xfrm>
            <a:off x="2892828" y="2249486"/>
            <a:ext cx="2128059" cy="842849"/>
          </a:xfrm>
          <a:prstGeom prst="rect">
            <a:avLst/>
          </a:prstGeom>
          <a:noFill/>
          <a:ln w="57150">
            <a:solidFill>
              <a:srgbClr val="E6302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U" sz="24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3EF430D-F0FD-0C77-26C1-C7BB5B993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2350" y="-19049"/>
            <a:ext cx="971551" cy="102986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20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C5968-1036-AFFF-C867-A1755BB60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12CE1B-3D13-B33D-4FF5-4D554A9FE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39" y="0"/>
            <a:ext cx="10146323" cy="6858000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0E3A253D-220E-C31E-08E9-AA5FA735BF5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370056" y="0"/>
          <a:ext cx="944870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00137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B16EBA-9932-8744-798C-B9ED20FC2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/>
              <a:t>Mik az orvostudomány által bizonyított hatások?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01414F-878F-9AB4-E14A-0CD39C6B1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U"/>
              <a:t>a sztatinok hatékony LDL-koleszterin csökkentők</a:t>
            </a:r>
          </a:p>
          <a:p>
            <a:endParaRPr lang="en-HU"/>
          </a:p>
          <a:p>
            <a:r>
              <a:rPr lang="en-HU"/>
              <a:t>a sztatinokkal elért LDL-koleszterin csökkenése esetén kevesebb a szívinfarktus, stroke és a kardiovaszkuláris halálozás</a:t>
            </a:r>
          </a:p>
          <a:p>
            <a:endParaRPr lang="en-HU"/>
          </a:p>
          <a:p>
            <a:r>
              <a:rPr lang="en-HU"/>
              <a:t>a sztatin terápiák előnyei sokszorosan meghaladják a kockázatot, a mellékhatások ritkák és nem visszafordíthatatlanok</a:t>
            </a:r>
          </a:p>
          <a:p>
            <a:endParaRPr lang="en-HU"/>
          </a:p>
          <a:p>
            <a:r>
              <a:rPr lang="en-HU"/>
              <a:t>a terápia elhagyása az egyik legveszélyesebb betegmagatartás</a:t>
            </a:r>
          </a:p>
        </p:txBody>
      </p:sp>
    </p:spTree>
    <p:extLst>
      <p:ext uri="{BB962C8B-B14F-4D97-AF65-F5344CB8AC3E}">
        <p14:creationId xmlns:p14="http://schemas.microsoft.com/office/powerpoint/2010/main" val="839118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802EA-6F10-71B0-6ABB-469CEFE2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/>
              <a:t>Mikor elengedhetetlen a sztatin terápia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F8302-4F44-6BF2-42C4-9866E4C52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5019675"/>
          </a:xfrm>
        </p:spPr>
        <p:txBody>
          <a:bodyPr>
            <a:normAutofit fontScale="92500" lnSpcReduction="10000"/>
          </a:bodyPr>
          <a:lstStyle/>
          <a:p>
            <a:r>
              <a:rPr lang="en-HU"/>
              <a:t>magas vagy igen magas 10 éves szív- és érrendszeri betegségkockázat esetén</a:t>
            </a:r>
          </a:p>
          <a:p>
            <a:endParaRPr lang="en-HU"/>
          </a:p>
          <a:p>
            <a:r>
              <a:rPr lang="en-HU"/>
              <a:t>40 év feletti cukorbetegeknél</a:t>
            </a:r>
          </a:p>
          <a:p>
            <a:endParaRPr lang="en-HU"/>
          </a:p>
          <a:p>
            <a:r>
              <a:rPr lang="en-HU"/>
              <a:t>igen magas LDL koleszterin szint esetén rizikófaktorok nélkül is (&gt;4.9 mmol/L)</a:t>
            </a:r>
          </a:p>
          <a:p>
            <a:endParaRPr lang="en-HU"/>
          </a:p>
          <a:p>
            <a:r>
              <a:rPr lang="en-HU"/>
              <a:t>szívinfarktus vagy stroke után</a:t>
            </a:r>
          </a:p>
          <a:p>
            <a:endParaRPr lang="en-HU"/>
          </a:p>
          <a:p>
            <a:r>
              <a:rPr lang="en-HU"/>
              <a:t>érműtét, katéteres beavatkozások után</a:t>
            </a:r>
            <a:br>
              <a:rPr lang="en-HU"/>
            </a:br>
            <a:r>
              <a:rPr lang="en-HU"/>
              <a:t>koszorúér tágítás, koszorúér műtét, nyaki érműtét vagy tágítás stb.</a:t>
            </a:r>
          </a:p>
        </p:txBody>
      </p:sp>
    </p:spTree>
    <p:extLst>
      <p:ext uri="{BB962C8B-B14F-4D97-AF65-F5344CB8AC3E}">
        <p14:creationId xmlns:p14="http://schemas.microsoft.com/office/powerpoint/2010/main" val="3130431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ED292-4C41-F82A-34D7-AE7CC7769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b="1"/>
              <a:t>Sztatinellenesség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DD86C-286A-A430-B6EC-C2163DC8A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HU"/>
              <a:t>a főáramú tudomány megállapításaihoz képest az előnyöket jelentősen alábecsülik, a mellékhatásokat pedig túlértékelik</a:t>
            </a:r>
          </a:p>
          <a:p>
            <a:endParaRPr lang="en-HU"/>
          </a:p>
          <a:p>
            <a:pPr fontAlgn="t"/>
            <a:r>
              <a:rPr lang="en-HU"/>
              <a:t>az Egyesült Királyságban egy fél éves időszakban mintegy </a:t>
            </a:r>
            <a:r>
              <a:rPr lang="en-HU" b="1"/>
              <a:t>220 000 ember hagyhatta abba</a:t>
            </a:r>
            <a:r>
              <a:rPr lang="en-HU"/>
              <a:t> a sztatinhasználatot, ami a British Heart Foundation becslései szerint </a:t>
            </a:r>
            <a:r>
              <a:rPr lang="en-HU" b="1"/>
              <a:t>a következő 10 évben 2170 körüli extra szívroham, illetve szélütés (stroke)</a:t>
            </a:r>
            <a:r>
              <a:rPr lang="en-HU"/>
              <a:t> kialakulásáért lesz felelős</a:t>
            </a:r>
          </a:p>
          <a:p>
            <a:pPr marL="0" indent="0" fontAlgn="t">
              <a:buNone/>
            </a:pPr>
            <a:endParaRPr lang="en-HU"/>
          </a:p>
          <a:p>
            <a:pPr marL="0" indent="0" fontAlgn="t">
              <a:buNone/>
            </a:pPr>
            <a:r>
              <a:rPr lang="en-HU"/>
              <a:t>---</a:t>
            </a:r>
            <a:br>
              <a:rPr lang="en-HU"/>
            </a:br>
            <a:r>
              <a:rPr lang="en-HU"/>
              <a:t>(Impact of statin related media coverage on use of statins: interrupted time series analysis with UK primary care data, Matthews et. al.</a:t>
            </a:r>
            <a:br>
              <a:rPr lang="en-HU"/>
            </a:br>
            <a:r>
              <a:rPr lang="en-HU"/>
              <a:t>BMJ 2016;353:i3283)</a:t>
            </a:r>
          </a:p>
        </p:txBody>
      </p:sp>
    </p:spTree>
    <p:extLst>
      <p:ext uri="{BB962C8B-B14F-4D97-AF65-F5344CB8AC3E}">
        <p14:creationId xmlns:p14="http://schemas.microsoft.com/office/powerpoint/2010/main" val="1268263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CF4DC-6C70-7348-D182-CFEB51E1C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292838"/>
            <a:ext cx="3734014" cy="51402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/>
              <a:t>“Elveszítjük a pácienseink szívét és elméjét érintő csatát a nem bizonyított terápiákat hirdető webhelyekkel szemben”</a:t>
            </a:r>
            <a:br>
              <a:rPr lang="en-US" sz="3000"/>
            </a:br>
            <a:br>
              <a:rPr lang="en-US" sz="3000"/>
            </a:br>
            <a:r>
              <a:rPr lang="en-US" sz="3000"/>
              <a:t>(Dr. Steven Nissen,</a:t>
            </a:r>
            <a:br>
              <a:rPr lang="en-US" sz="3000"/>
            </a:br>
            <a:r>
              <a:rPr lang="en-US" sz="3000"/>
              <a:t>Cleveland Clinic)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even E. Nissen | Cardiometabolic Health Congress">
            <a:extLst>
              <a:ext uri="{FF2B5EF4-FFF2-40B4-BE49-F238E27FC236}">
                <a16:creationId xmlns:a16="http://schemas.microsoft.com/office/drawing/2014/main" id="{24FBB524-62B5-5555-D478-0EA37A088D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725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05350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BEB69-8ADE-1D87-B0C7-93EFF1CA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HU" sz="4800"/>
              <a:t>A sztatinellenes influenszerektől elhangzó kijelentések nem támaszthatóak alá sem klinikai vizsgálatokkal, sem szakmai irányelvekkel.</a:t>
            </a:r>
          </a:p>
        </p:txBody>
      </p:sp>
    </p:spTree>
    <p:extLst>
      <p:ext uri="{BB962C8B-B14F-4D97-AF65-F5344CB8AC3E}">
        <p14:creationId xmlns:p14="http://schemas.microsoft.com/office/powerpoint/2010/main" val="677239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18F1-11E4-1F65-D3AD-34F327F63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i="1"/>
              <a:t>Állítás: </a:t>
            </a:r>
            <a:r>
              <a:rPr lang="en-HU"/>
              <a:t>A</a:t>
            </a:r>
            <a:r>
              <a:rPr lang="en-HU" i="1"/>
              <a:t> koleszterin szükséges, nem szabad csökkenteni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76D5B-A2D7-7F32-9941-26DB35A48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HU"/>
          </a:p>
          <a:p>
            <a:pPr marL="0" indent="0">
              <a:buNone/>
            </a:pPr>
            <a:r>
              <a:rPr lang="en-HU"/>
              <a:t>Valóban szükséges anyag. Az emberi szervezet önmaga is termeli (májunk állítja elő a ~70–80%</a:t>
            </a:r>
            <a:r>
              <a:rPr lang="en-HU" b="1"/>
              <a:t>-</a:t>
            </a:r>
            <a:r>
              <a:rPr lang="en-HU"/>
              <a:t>át), így teljes „kiiktatása” sztatinokkal nem lehetséges és nem is cél.</a:t>
            </a:r>
          </a:p>
          <a:p>
            <a:pPr marL="0" indent="0">
              <a:buNone/>
            </a:pPr>
            <a:r>
              <a:rPr lang="en-HU"/>
              <a:t>Viszont attól, hogy </a:t>
            </a:r>
            <a:r>
              <a:rPr lang="en-HU" b="1"/>
              <a:t>valami szükséges, az nem jelenti azt, hogy minden mennyiségben biztonságos is</a:t>
            </a:r>
            <a:r>
              <a:rPr lang="en-HU"/>
              <a:t>.</a:t>
            </a:r>
          </a:p>
          <a:p>
            <a:pPr marL="0" indent="0">
              <a:buNone/>
            </a:pPr>
            <a:r>
              <a:rPr lang="en-HU"/>
              <a:t>Gondoljunk csak arra, hogy például vércukor nélkül sem tudnánk életben maradni, de ha sok van belőle, annak cukorbetegség a neve és nem kérdés, hogy kezelni kell.</a:t>
            </a:r>
          </a:p>
        </p:txBody>
      </p:sp>
    </p:spTree>
    <p:extLst>
      <p:ext uri="{BB962C8B-B14F-4D97-AF65-F5344CB8AC3E}">
        <p14:creationId xmlns:p14="http://schemas.microsoft.com/office/powerpoint/2010/main" val="2399370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06A93-AC1A-660E-6A37-FF7A2A22D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i="1"/>
              <a:t>Állítás: A sztatinok növelik a plakkok meszességét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BEFF-AC47-C832-0F56-F7C129775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HU"/>
          </a:p>
          <a:p>
            <a:pPr marL="0" indent="0">
              <a:buNone/>
            </a:pPr>
            <a:r>
              <a:rPr lang="en-HU"/>
              <a:t>Igaz. A szakirodalom ezt kalcium paradoxonként ismeri – a </a:t>
            </a:r>
            <a:r>
              <a:rPr lang="en-HU" b="1"/>
              <a:t>mésztartalom nő</a:t>
            </a:r>
            <a:r>
              <a:rPr lang="en-HU"/>
              <a:t>, a </a:t>
            </a:r>
            <a:r>
              <a:rPr lang="en-HU" b="1"/>
              <a:t>szívinfarktus kockázata mégis csökken</a:t>
            </a:r>
            <a:r>
              <a:rPr lang="en-HU"/>
              <a:t>.</a:t>
            </a:r>
            <a:br>
              <a:rPr lang="en-HU"/>
            </a:br>
            <a:br>
              <a:rPr lang="en-HU"/>
            </a:br>
            <a:r>
              <a:rPr lang="en-HU"/>
              <a:t>Arról van szó, hogy a veszélyes, puha plakkok idővel stabilabb, megrepedésre kevésbé hajlamos formává alakulnak át.</a:t>
            </a:r>
          </a:p>
          <a:p>
            <a:pPr marL="0" indent="0">
              <a:buNone/>
            </a:pPr>
            <a:endParaRPr lang="en-HU"/>
          </a:p>
          <a:p>
            <a:pPr marL="0" indent="0">
              <a:buNone/>
            </a:pPr>
            <a:r>
              <a:rPr lang="en-HU"/>
              <a:t>Másrészt </a:t>
            </a:r>
            <a:r>
              <a:rPr lang="en-HU" b="1"/>
              <a:t>hatásos, jelentős LDL koleszterin csökkentés mellett akár a plakkok méretének csökkenése</a:t>
            </a:r>
            <a:r>
              <a:rPr lang="en-HU"/>
              <a:t> is bekövetkezhet</a:t>
            </a:r>
            <a:r>
              <a:rPr lang="en-HU">
                <a:effectLst/>
              </a:rPr>
              <a:t> </a:t>
            </a:r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848215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7D70A-DDD7-02C7-D5B6-6778C8A77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i="1"/>
              <a:t>Állítás: A sztatinok hatástalanok</a:t>
            </a:r>
            <a:r>
              <a:rPr lang="en-HU">
                <a:effectLst/>
              </a:rPr>
              <a:t> 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05C2F-7EED-64F3-8A6F-E30EF80B8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U"/>
          </a:p>
          <a:p>
            <a:pPr marL="0" indent="0">
              <a:buNone/>
            </a:pPr>
            <a:endParaRPr lang="en-HU"/>
          </a:p>
          <a:p>
            <a:pPr marL="0" indent="0">
              <a:buNone/>
            </a:pPr>
            <a:r>
              <a:rPr lang="en-HU"/>
              <a:t>Több mint </a:t>
            </a:r>
            <a:r>
              <a:rPr lang="en-HU" b="1"/>
              <a:t>30 évnyi jól megtervezett klinikai vizsgálat</a:t>
            </a:r>
            <a:r>
              <a:rPr lang="en-HU"/>
              <a:t> igazolja a hatásosságukat LDL-csökkentésben és szív- és érrendszeri eseménycsökkentésben.</a:t>
            </a:r>
            <a:br>
              <a:rPr lang="en-HU"/>
            </a:br>
            <a:br>
              <a:rPr lang="en-HU"/>
            </a:br>
            <a:r>
              <a:rPr lang="en-HU"/>
              <a:t>Bizonyítékszint: legmagasabb, I.A</a:t>
            </a:r>
          </a:p>
        </p:txBody>
      </p:sp>
    </p:spTree>
    <p:extLst>
      <p:ext uri="{BB962C8B-B14F-4D97-AF65-F5344CB8AC3E}">
        <p14:creationId xmlns:p14="http://schemas.microsoft.com/office/powerpoint/2010/main" val="310533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1E37-E473-6A82-5316-19DB634F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i="1"/>
              <a:t>Állítás: Az infarktusnak nincs köze a koleszterinhez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90EC0-7444-F7A9-DC78-B51B8069C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U"/>
          </a:p>
          <a:p>
            <a:pPr marL="0" indent="0">
              <a:buNone/>
            </a:pPr>
            <a:endParaRPr lang="en-HU"/>
          </a:p>
          <a:p>
            <a:pPr marL="0" indent="0">
              <a:buNone/>
            </a:pPr>
            <a:r>
              <a:rPr lang="en-HU"/>
              <a:t>Genetikai, epidemiológiai és randomizált-kontrollált klinikai vizsgálatok egyaránt bizonyítják az LDL-koleszterin ok-okozati szerepét érelmeszesedésben.</a:t>
            </a:r>
          </a:p>
          <a:p>
            <a:pPr marL="0" indent="0">
              <a:buNone/>
            </a:pPr>
            <a:endParaRPr lang="en-HU"/>
          </a:p>
          <a:p>
            <a:pPr marL="0" indent="0">
              <a:buNone/>
            </a:pPr>
            <a:r>
              <a:rPr lang="en-HU"/>
              <a:t>Bizonyítékszint: legmagasabb, I.A</a:t>
            </a:r>
          </a:p>
        </p:txBody>
      </p:sp>
    </p:spTree>
    <p:extLst>
      <p:ext uri="{BB962C8B-B14F-4D97-AF65-F5344CB8AC3E}">
        <p14:creationId xmlns:p14="http://schemas.microsoft.com/office/powerpoint/2010/main" val="414918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4E3FB-4B35-0F93-4D8D-8FBA14FB0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i="1"/>
              <a:t>Állítás: A koleszterincsökkentők károsabbak, mint amennyit használnak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2002D-0534-D64D-B235-1FAC9D2D1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U"/>
          </a:p>
          <a:p>
            <a:endParaRPr lang="en-HU"/>
          </a:p>
          <a:p>
            <a:pPr marL="0" indent="0">
              <a:buNone/>
            </a:pPr>
            <a:r>
              <a:rPr lang="en-HU"/>
              <a:t>A mellékhatások túlnyomó része enyhe, és ritka. A szív-érrendszeri események megelőzése sokszorosan meghaladja a kockázatokat.</a:t>
            </a:r>
          </a:p>
          <a:p>
            <a:pPr marL="0" indent="0">
              <a:buNone/>
            </a:pPr>
            <a:endParaRPr lang="en-HU"/>
          </a:p>
          <a:p>
            <a:pPr marL="0" indent="0">
              <a:buNone/>
            </a:pPr>
            <a:r>
              <a:rPr lang="en-HU"/>
              <a:t>Bizonyítékszint: legmagasabb, I.A</a:t>
            </a:r>
          </a:p>
        </p:txBody>
      </p:sp>
    </p:spTree>
    <p:extLst>
      <p:ext uri="{BB962C8B-B14F-4D97-AF65-F5344CB8AC3E}">
        <p14:creationId xmlns:p14="http://schemas.microsoft.com/office/powerpoint/2010/main" val="3159435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5F06-D67A-84C0-908A-05B95D13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i="1"/>
              <a:t>Állítás: Nincs bizonyíték arra, hogy a sztatin javítja a túlélést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2C199-5C2D-AF86-6A50-D3F00889F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U"/>
          </a:p>
          <a:p>
            <a:endParaRPr lang="en-HU"/>
          </a:p>
          <a:p>
            <a:pPr marL="0" indent="0">
              <a:buNone/>
            </a:pPr>
            <a:r>
              <a:rPr lang="en-HU"/>
              <a:t>Magas kockázatú betegekben (pl. szívinfarktus után vagy többszörös rizikófaktorral élő páciensek) egyértelműen csökkenti a halálozást.</a:t>
            </a:r>
          </a:p>
          <a:p>
            <a:pPr marL="0" indent="0">
              <a:buNone/>
            </a:pPr>
            <a:endParaRPr lang="en-HU"/>
          </a:p>
          <a:p>
            <a:pPr marL="0" indent="0">
              <a:buNone/>
            </a:pPr>
            <a:r>
              <a:rPr lang="en-HU"/>
              <a:t>Bizonyítékszint: legmagasabb, I.A</a:t>
            </a:r>
          </a:p>
        </p:txBody>
      </p:sp>
    </p:spTree>
    <p:extLst>
      <p:ext uri="{BB962C8B-B14F-4D97-AF65-F5344CB8AC3E}">
        <p14:creationId xmlns:p14="http://schemas.microsoft.com/office/powerpoint/2010/main" val="1911336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16741-03FA-9557-E262-0F4511E55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/>
              <a:t>Sztatinellenes narratívák veszélyei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7582A-73DD-6BDC-8077-1236EAE91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HU"/>
              <a:t>Terápia önkényes elhagyása</a:t>
            </a:r>
            <a:br>
              <a:rPr lang="en-HU"/>
            </a:br>
            <a:r>
              <a:rPr lang="en-HU">
                <a:sym typeface="Wingdings" pitchFamily="2" charset="2"/>
              </a:rPr>
              <a:t></a:t>
            </a:r>
            <a:r>
              <a:rPr lang="en-HU"/>
              <a:t> szívinfarktus és agyi érkatasztrófa, szélütés kockázatának gyors és jelentős növekedése</a:t>
            </a:r>
          </a:p>
          <a:p>
            <a:endParaRPr lang="en-HU"/>
          </a:p>
          <a:p>
            <a:r>
              <a:rPr lang="en-HU"/>
              <a:t>Késleltetve indított kezelés</a:t>
            </a:r>
            <a:br>
              <a:rPr lang="en-HU"/>
            </a:br>
            <a:r>
              <a:rPr lang="en-HU">
                <a:sym typeface="Wingdings" pitchFamily="2" charset="2"/>
              </a:rPr>
              <a:t></a:t>
            </a:r>
            <a:r>
              <a:rPr lang="en-HU"/>
              <a:t> az érelmeszesedés folyamata kontrollálatlanul folytatódik</a:t>
            </a:r>
          </a:p>
          <a:p>
            <a:endParaRPr lang="en-HU"/>
          </a:p>
          <a:p>
            <a:r>
              <a:rPr lang="en-HU"/>
              <a:t>Félelemkeltés</a:t>
            </a:r>
            <a:br>
              <a:rPr lang="en-HU"/>
            </a:br>
            <a:r>
              <a:rPr lang="en-HU">
                <a:sym typeface="Wingdings" pitchFamily="2" charset="2"/>
              </a:rPr>
              <a:t> a betegek bizalmát gyengíti a bizonyíték-alapú gyógyszerekkel illetve orvostudománnyal szemben</a:t>
            </a:r>
          </a:p>
          <a:p>
            <a:endParaRPr lang="en-HU">
              <a:sym typeface="Wingdings" pitchFamily="2" charset="2"/>
            </a:endParaRPr>
          </a:p>
          <a:p>
            <a:r>
              <a:rPr lang="en-HU"/>
              <a:t>Alternatív kezelésekre terelés, “megélhetési influenszerkedés”</a:t>
            </a:r>
            <a:br>
              <a:rPr lang="en-HU"/>
            </a:br>
            <a:r>
              <a:rPr lang="en-HU">
                <a:sym typeface="Wingdings" pitchFamily="2" charset="2"/>
              </a:rPr>
              <a:t> hatástalan vagy bizonytalan módszerek akár káros következményekkel</a:t>
            </a:r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277631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037D-AAF6-7DE4-19A7-B0A5BC332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/>
              <a:t>Tanácsok sztatinok biztonságos alkalmazásához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D86E4-34E5-711B-062A-35BC8FD7A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HU"/>
              <a:t>A statinok általában biztonságosak, a terápia nagyban csökkenti a szívinfarktus és stroke kockázatát.</a:t>
            </a:r>
          </a:p>
          <a:p>
            <a:pPr marL="0" indent="0">
              <a:buNone/>
            </a:pPr>
            <a:r>
              <a:rPr lang="en-HU"/>
              <a:t>Alkoholt csak mérsékelten fogyasszon, kerülje a rendszeres nagy mennyiségeket.</a:t>
            </a:r>
          </a:p>
          <a:p>
            <a:pPr marL="0" indent="0">
              <a:buNone/>
            </a:pPr>
            <a:r>
              <a:rPr lang="en-HU"/>
              <a:t>Ha izomfájdalom, izomgyengeség, sötét színű vizelet, vagy szokatlan fáradékonyság jelentkezik, jelezze kezelőorvosának. </a:t>
            </a:r>
          </a:p>
          <a:p>
            <a:pPr marL="0" indent="0">
              <a:buNone/>
            </a:pPr>
            <a:r>
              <a:rPr lang="en-HU"/>
              <a:t>Májbetegségre utaló tünetek (hasi fájdalom, sárgaság) esetén is keresse fel orvosát.</a:t>
            </a:r>
          </a:p>
          <a:p>
            <a:pPr marL="0" indent="0">
              <a:buNone/>
            </a:pPr>
            <a:r>
              <a:rPr lang="en-HU"/>
              <a:t>Grapefruitlé fogyasztása nagyobb mennyiségben kerülendő bizonyos statinok mellett (atorvastatin, simvastatin).</a:t>
            </a:r>
          </a:p>
        </p:txBody>
      </p:sp>
    </p:spTree>
    <p:extLst>
      <p:ext uri="{BB962C8B-B14F-4D97-AF65-F5344CB8AC3E}">
        <p14:creationId xmlns:p14="http://schemas.microsoft.com/office/powerpoint/2010/main" val="2412394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478D8-E06C-5C15-7729-91A756B1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U" b="1"/>
              <a:t>Mit ajánl a természetgyógyász akut szívinfarktusban?</a:t>
            </a:r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260647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1937-1CA6-4E81-0DEF-E6501B17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0C01-8643-2951-B53C-C15373CE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U" b="1"/>
              <a:t>Mit ajánl a természetgyógyász akut szívinfarktusban?</a:t>
            </a:r>
            <a:endParaRPr lang="en-H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B8640C-D3CA-A626-C813-BE752DE4D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900" y="1690688"/>
            <a:ext cx="49022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00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736</Words>
  <Application>Microsoft Macintosh PowerPoint</Application>
  <PresentationFormat>Widescreen</PresentationFormat>
  <Paragraphs>86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Wingdings</vt:lpstr>
      <vt:lpstr>Office Theme</vt:lpstr>
      <vt:lpstr>Sztatinok helye a megelőzésben</vt:lpstr>
      <vt:lpstr>Score2-Diabetes</vt:lpstr>
      <vt:lpstr>PowerPoint Presentation</vt:lpstr>
      <vt:lpstr>PowerPoint Presentation</vt:lpstr>
      <vt:lpstr>Mik az orvostudomány által bizonyított hatások?</vt:lpstr>
      <vt:lpstr>Mikor elengedhetetlen a sztatin terápia</vt:lpstr>
      <vt:lpstr>Sztatinellenesség</vt:lpstr>
      <vt:lpstr>“Elveszítjük a pácienseink szívét és elméjét érintő csatát a nem bizonyított terápiákat hirdető webhelyekkel szemben”  (Dr. Steven Nissen, Cleveland Clinic)</vt:lpstr>
      <vt:lpstr>A sztatinellenes influenszerektől elhangzó kijelentések nem támaszthatóak alá sem klinikai vizsgálatokkal, sem szakmai irányelvekkel.</vt:lpstr>
      <vt:lpstr>Állítás: A koleszterin szükséges, nem szabad csökkenteni</vt:lpstr>
      <vt:lpstr>Állítás: A sztatinok növelik a plakkok meszességét</vt:lpstr>
      <vt:lpstr>Állítás: A sztatinok hatástalanok </vt:lpstr>
      <vt:lpstr>Állítás: Az infarktusnak nincs köze a koleszterinhez</vt:lpstr>
      <vt:lpstr>Állítás: A koleszterincsökkentők károsabbak, mint amennyit használnak</vt:lpstr>
      <vt:lpstr>Állítás: Nincs bizonyíték arra, hogy a sztatin javítja a túlélést</vt:lpstr>
      <vt:lpstr>Sztatinellenes narratívák veszélyei</vt:lpstr>
      <vt:lpstr>Tanácsok sztatinok biztonságos alkalmazásához</vt:lpstr>
      <vt:lpstr>Mit ajánl a természetgyógyász akut szívinfarktusban?</vt:lpstr>
      <vt:lpstr>Mit ajánl a természetgyógyász akut szívinfarktusban?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Gábor Iglói</dc:creator>
  <cp:lastModifiedBy>Gábor Iglói</cp:lastModifiedBy>
  <cp:revision>2</cp:revision>
  <dcterms:created xsi:type="dcterms:W3CDTF">2026-05-20T05:33:38Z</dcterms:created>
  <dcterms:modified xsi:type="dcterms:W3CDTF">2026-05-20T07:11:05Z</dcterms:modified>
</cp:coreProperties>
</file>