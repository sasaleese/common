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notesMasterIdLst>
    <p:notesMasterId r:id="rId21"/>
  </p:notesMasterIdLst>
  <p:sldIdLst>
    <p:sldId id="256" r:id="rId2"/>
    <p:sldId id="13672" r:id="rId3"/>
    <p:sldId id="2842" r:id="rId4"/>
    <p:sldId id="2843" r:id="rId5"/>
    <p:sldId id="13676" r:id="rId6"/>
    <p:sldId id="13678" r:id="rId7"/>
    <p:sldId id="13674" r:id="rId8"/>
    <p:sldId id="13675" r:id="rId9"/>
    <p:sldId id="13679" r:id="rId10"/>
    <p:sldId id="13677" r:id="rId11"/>
    <p:sldId id="13681" r:id="rId12"/>
    <p:sldId id="13680" r:id="rId13"/>
    <p:sldId id="13682" r:id="rId14"/>
    <p:sldId id="13683" r:id="rId15"/>
    <p:sldId id="13684" r:id="rId16"/>
    <p:sldId id="13685" r:id="rId17"/>
    <p:sldId id="13686" r:id="rId18"/>
    <p:sldId id="13687" r:id="rId19"/>
    <p:sldId id="13688" r:id="rId20"/>
  </p:sldIdLst>
  <p:sldSz cx="12192000" cy="6858000"/>
  <p:notesSz cx="6858000" cy="9144000"/>
  <p:defaultTextStyle>
    <a:defPPr>
      <a:defRPr lang="en-H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–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3345"/>
    <p:restoredTop sz="94745"/>
  </p:normalViewPr>
  <p:slideViewPr>
    <p:cSldViewPr snapToGrid="0">
      <p:cViewPr varScale="1">
        <p:scale>
          <a:sx n="106" d="100"/>
          <a:sy n="106" d="100"/>
        </p:scale>
        <p:origin x="1024" y="1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.xlsx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GB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2128" b="1" i="0" u="none" strike="noStrike" kern="1200" spc="100" baseline="0">
                <a:solidFill>
                  <a:schemeClr val="lt1">
                    <a:lumMod val="95000"/>
                  </a:schemeClr>
                </a:solidFill>
                <a:effectLst>
                  <a:outerShdw blurRad="50800" dist="38100" dir="5400000" algn="t" rotWithShape="0">
                    <a:prstClr val="black">
                      <a:alpha val="40000"/>
                    </a:prstClr>
                  </a:outerShdw>
                </a:effectLst>
                <a:latin typeface="+mn-lt"/>
                <a:ea typeface="+mn-ea"/>
                <a:cs typeface="+mn-cs"/>
              </a:defRPr>
            </a:pPr>
            <a:r>
              <a:rPr lang="en-GB"/>
              <a:t>10 éves CV rizikó</a:t>
            </a:r>
            <a:r>
              <a:rPr lang="en-GB" baseline="0"/>
              <a:t> </a:t>
            </a:r>
            <a:r>
              <a:rPr lang="en-GB"/>
              <a:t>csökkentése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2128" b="1" i="0" u="none" strike="noStrike" kern="1200" spc="100" baseline="0">
              <a:solidFill>
                <a:schemeClr val="lt1">
                  <a:lumMod val="95000"/>
                </a:schemeClr>
              </a:solidFill>
              <a:effectLst>
                <a:outerShdw blurRad="50800" dist="38100" dir="5400000" algn="t" rotWithShape="0">
                  <a:prstClr val="black">
                    <a:alpha val="40000"/>
                  </a:prstClr>
                </a:outerShdw>
              </a:effectLst>
              <a:latin typeface="+mn-lt"/>
              <a:ea typeface="+mn-ea"/>
              <a:cs typeface="+mn-cs"/>
            </a:defRPr>
          </a:pPr>
          <a:endParaRPr lang="en-HU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Rizikócsökkentés</c:v>
                </c:pt>
              </c:strCache>
            </c:strRef>
          </c:tx>
          <c:spPr>
            <a:gradFill rotWithShape="1">
              <a:gsLst>
                <a:gs pos="0">
                  <a:schemeClr val="accent1">
                    <a:satMod val="103000"/>
                    <a:lumMod val="102000"/>
                    <a:tint val="94000"/>
                  </a:schemeClr>
                </a:gs>
                <a:gs pos="50000">
                  <a:schemeClr val="accent1">
                    <a:satMod val="110000"/>
                    <a:lumMod val="100000"/>
                    <a:shade val="100000"/>
                  </a:schemeClr>
                </a:gs>
                <a:gs pos="100000">
                  <a:schemeClr val="accent1">
                    <a:lumMod val="99000"/>
                    <a:satMod val="120000"/>
                    <a:shade val="78000"/>
                  </a:schemeClr>
                </a:gs>
              </a:gsLst>
              <a:lin ang="5400000" scaled="0"/>
            </a:gradFill>
            <a:ln>
              <a:noFill/>
            </a:ln>
            <a:effectLst>
              <a:outerShdw blurRad="57150" dist="19050" dir="5400000" algn="ctr" rotWithShape="0">
                <a:srgbClr val="000000">
                  <a:alpha val="63000"/>
                </a:srgbClr>
              </a:outerShdw>
            </a:effectLst>
          </c:spPr>
          <c:invertIfNegative val="0"/>
          <c:dPt>
            <c:idx val="0"/>
            <c:invertIfNegative val="0"/>
            <c:bubble3D val="0"/>
            <c:spPr>
              <a:solidFill>
                <a:srgbClr val="C00000"/>
              </a:solidFill>
              <a:ln>
                <a:noFill/>
              </a:ln>
              <a:effectLst>
                <a:outerShdw blurRad="57150" dist="19050" dir="5400000" algn="ctr" rotWithShape="0">
                  <a:srgbClr val="000000">
                    <a:alpha val="63000"/>
                  </a:srgbClr>
                </a:outerShdw>
              </a:effectLst>
            </c:spPr>
            <c:extLst>
              <c:ext xmlns:c16="http://schemas.microsoft.com/office/drawing/2014/chart" uri="{C3380CC4-5D6E-409C-BE32-E72D297353CC}">
                <c16:uniqueId val="{00000010-C9CE-A746-8970-2B5B4894A007}"/>
              </c:ext>
            </c:extLst>
          </c:dPt>
          <c:dPt>
            <c:idx val="1"/>
            <c:invertIfNegative val="0"/>
            <c:bubble3D val="0"/>
            <c:spPr>
              <a:solidFill>
                <a:srgbClr val="FFFF00"/>
              </a:solidFill>
              <a:ln>
                <a:noFill/>
              </a:ln>
              <a:effectLst>
                <a:outerShdw blurRad="57150" dist="19050" dir="5400000" algn="ctr" rotWithShape="0">
                  <a:srgbClr val="000000">
                    <a:alpha val="63000"/>
                  </a:srgbClr>
                </a:outerShdw>
              </a:effectLst>
            </c:spPr>
            <c:extLst>
              <c:ext xmlns:c16="http://schemas.microsoft.com/office/drawing/2014/chart" uri="{C3380CC4-5D6E-409C-BE32-E72D297353CC}">
                <c16:uniqueId val="{00000013-C9CE-A746-8970-2B5B4894A007}"/>
              </c:ext>
            </c:extLst>
          </c:dPt>
          <c:dPt>
            <c:idx val="2"/>
            <c:invertIfNegative val="0"/>
            <c:bubble3D val="0"/>
            <c:spPr>
              <a:solidFill>
                <a:srgbClr val="FFFF00"/>
              </a:solidFill>
              <a:ln>
                <a:noFill/>
              </a:ln>
              <a:effectLst>
                <a:outerShdw blurRad="57150" dist="19050" dir="5400000" algn="ctr" rotWithShape="0">
                  <a:srgbClr val="000000">
                    <a:alpha val="63000"/>
                  </a:srgbClr>
                </a:outerShdw>
              </a:effectLst>
            </c:spPr>
            <c:extLst>
              <c:ext xmlns:c16="http://schemas.microsoft.com/office/drawing/2014/chart" uri="{C3380CC4-5D6E-409C-BE32-E72D297353CC}">
                <c16:uniqueId val="{00000014-C9CE-A746-8970-2B5B4894A007}"/>
              </c:ext>
            </c:extLst>
          </c:dPt>
          <c:dPt>
            <c:idx val="3"/>
            <c:invertIfNegative val="0"/>
            <c:bubble3D val="0"/>
            <c:spPr>
              <a:solidFill>
                <a:srgbClr val="FFC000"/>
              </a:solidFill>
              <a:ln>
                <a:noFill/>
              </a:ln>
              <a:effectLst>
                <a:outerShdw blurRad="57150" dist="19050" dir="5400000" algn="ctr" rotWithShape="0">
                  <a:srgbClr val="000000">
                    <a:alpha val="63000"/>
                  </a:srgbClr>
                </a:outerShdw>
              </a:effectLst>
            </c:spPr>
            <c:extLst>
              <c:ext xmlns:c16="http://schemas.microsoft.com/office/drawing/2014/chart" uri="{C3380CC4-5D6E-409C-BE32-E72D297353CC}">
                <c16:uniqueId val="{00000011-C9CE-A746-8970-2B5B4894A007}"/>
              </c:ext>
            </c:extLst>
          </c:dPt>
          <c:dPt>
            <c:idx val="4"/>
            <c:invertIfNegative val="0"/>
            <c:bubble3D val="0"/>
            <c:spPr>
              <a:solidFill>
                <a:srgbClr val="FF0000"/>
              </a:solidFill>
              <a:ln>
                <a:noFill/>
              </a:ln>
              <a:effectLst>
                <a:outerShdw blurRad="57150" dist="19050" dir="5400000" algn="ctr" rotWithShape="0">
                  <a:srgbClr val="000000">
                    <a:alpha val="63000"/>
                  </a:srgbClr>
                </a:outerShdw>
              </a:effectLst>
            </c:spPr>
            <c:extLst>
              <c:ext xmlns:c16="http://schemas.microsoft.com/office/drawing/2014/chart" uri="{C3380CC4-5D6E-409C-BE32-E72D297353CC}">
                <c16:uniqueId val="{00000012-C9CE-A746-8970-2B5B4894A007}"/>
              </c:ext>
            </c:extLst>
          </c:dPt>
          <c:dLbls>
            <c:dLbl>
              <c:idx val="6"/>
              <c:layout>
                <c:manualLayout>
                  <c:x val="1.9243545361821552E-3"/>
                  <c:y val="-3.8531155827743753E-2"/>
                </c:manualLayout>
              </c:layout>
              <c:showLegendKey val="0"/>
              <c:showVal val="1"/>
              <c:showCatName val="1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F-C9CE-A746-8970-2B5B4894A007}"/>
                </c:ext>
              </c:extLst>
            </c:dLbl>
            <c:spPr>
              <a:solidFill>
                <a:prstClr val="white"/>
              </a:solidFill>
              <a:ln>
                <a:noFill/>
              </a:ln>
              <a:effectLst/>
            </c:spPr>
            <c:txPr>
              <a:bodyPr rot="0" spcFirstLastPara="1" vertOverflow="clip" horzOverflow="clip" vert="horz" wrap="square" lIns="38100" tIns="19050" rIns="38100" bIns="19050" anchor="ctr" anchorCtr="1">
                <a:spAutoFit/>
              </a:bodyPr>
              <a:lstStyle/>
              <a:p>
                <a:pPr>
                  <a:defRPr sz="1600" b="1" i="0" u="none" strike="noStrike" kern="1200" baseline="0">
                    <a:solidFill>
                      <a:schemeClr val="dk1">
                        <a:lumMod val="65000"/>
                        <a:lumOff val="3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en-HU"/>
              </a:p>
            </c:txPr>
            <c:showLegendKey val="0"/>
            <c:showVal val="1"/>
            <c:showCatName val="1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pPr xmlns:c15="http://schemas.microsoft.com/office/drawing/2012/chart">
                  <a:prstGeom prst="wedgeRectCallout">
                    <a:avLst/>
                  </a:prstGeom>
                  <a:noFill/>
                  <a:ln>
                    <a:noFill/>
                  </a:ln>
                </c15:spPr>
                <c15:showLeaderLines val="0"/>
              </c:ext>
            </c:extLst>
          </c:dLbls>
          <c:cat>
            <c:strRef>
              <c:f>Sheet1!$A$2:$A$8</c:f>
              <c:strCache>
                <c:ptCount val="7"/>
                <c:pt idx="0">
                  <c:v>Dohányzás</c:v>
                </c:pt>
                <c:pt idx="1">
                  <c:v>Mozgás, diéta</c:v>
                </c:pt>
                <c:pt idx="2">
                  <c:v>GLP1+SGLT2</c:v>
                </c:pt>
                <c:pt idx="3">
                  <c:v>Statin</c:v>
                </c:pt>
                <c:pt idx="4">
                  <c:v>&lt;130 Hgmm</c:v>
                </c:pt>
                <c:pt idx="5">
                  <c:v>&lt;140 Hgmm</c:v>
                </c:pt>
                <c:pt idx="6">
                  <c:v>HbA1c &lt;7%</c:v>
                </c:pt>
              </c:strCache>
            </c:strRef>
          </c:cat>
          <c:val>
            <c:numRef>
              <c:f>Sheet1!$B$2:$B$8</c:f>
              <c:numCache>
                <c:formatCode>0.0%</c:formatCode>
                <c:ptCount val="7"/>
                <c:pt idx="0">
                  <c:v>8.8999999999999996E-2</c:v>
                </c:pt>
                <c:pt idx="1">
                  <c:v>5.8999999999999997E-2</c:v>
                </c:pt>
                <c:pt idx="2">
                  <c:v>4.9000000000000002E-2</c:v>
                </c:pt>
                <c:pt idx="3">
                  <c:v>7.1999999999999995E-2</c:v>
                </c:pt>
                <c:pt idx="4">
                  <c:v>0.08</c:v>
                </c:pt>
                <c:pt idx="5">
                  <c:v>4.2999999999999997E-2</c:v>
                </c:pt>
                <c:pt idx="6">
                  <c:v>6.0000000000000001E-3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C9CE-A746-8970-2B5B4894A00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1702177728"/>
        <c:axId val="1702173248"/>
      </c:barChart>
      <c:catAx>
        <c:axId val="1702177728"/>
        <c:scaling>
          <c:orientation val="minMax"/>
        </c:scaling>
        <c:delete val="1"/>
        <c:axPos val="b"/>
        <c:numFmt formatCode="General" sourceLinked="1"/>
        <c:majorTickMark val="none"/>
        <c:minorTickMark val="none"/>
        <c:tickLblPos val="nextTo"/>
        <c:crossAx val="1702173248"/>
        <c:crosses val="autoZero"/>
        <c:auto val="1"/>
        <c:lblAlgn val="ctr"/>
        <c:lblOffset val="100"/>
        <c:noMultiLvlLbl val="0"/>
      </c:catAx>
      <c:valAx>
        <c:axId val="1702173248"/>
        <c:scaling>
          <c:orientation val="minMax"/>
        </c:scaling>
        <c:delete val="1"/>
        <c:axPos val="l"/>
        <c:numFmt formatCode="0.0%" sourceLinked="1"/>
        <c:majorTickMark val="none"/>
        <c:minorTickMark val="none"/>
        <c:tickLblPos val="nextTo"/>
        <c:crossAx val="1702177728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gradFill flip="none" rotWithShape="1">
      <a:gsLst>
        <a:gs pos="0">
          <a:schemeClr val="dk1">
            <a:lumMod val="65000"/>
            <a:lumOff val="35000"/>
          </a:schemeClr>
        </a:gs>
        <a:gs pos="100000">
          <a:schemeClr val="dk1">
            <a:lumMod val="85000"/>
            <a:lumOff val="15000"/>
          </a:schemeClr>
        </a:gs>
      </a:gsLst>
      <a:path path="circle">
        <a:fillToRect l="50000" t="50000" r="50000" b="50000"/>
      </a:path>
      <a:tileRect/>
    </a:gradFill>
    <a:ln>
      <a:noFill/>
    </a:ln>
    <a:effectLst/>
  </c:spPr>
  <c:txPr>
    <a:bodyPr/>
    <a:lstStyle/>
    <a:p>
      <a:pPr>
        <a:defRPr/>
      </a:pPr>
      <a:endParaRPr lang="en-HU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304">
  <cs:axisTitle>
    <cs:lnRef idx="0"/>
    <cs:fillRef idx="0"/>
    <cs:effectRef idx="0"/>
    <cs:fontRef idx="minor">
      <a:schemeClr val="lt1">
        <a:lumMod val="85000"/>
      </a:schemeClr>
    </cs:fontRef>
    <cs:defRPr sz="1197" b="1" kern="1200" cap="all"/>
  </cs:axisTitle>
  <cs:categoryAxis>
    <cs:lnRef idx="0"/>
    <cs:fillRef idx="0"/>
    <cs:effectRef idx="0"/>
    <cs:fontRef idx="minor">
      <a:schemeClr val="lt1">
        <a:lumMod val="85000"/>
      </a:schemeClr>
    </cs:fontRef>
    <cs:spPr>
      <a:ln w="12700" cap="flat" cmpd="sng" algn="ctr">
        <a:solidFill>
          <a:schemeClr val="lt1">
            <a:lumMod val="95000"/>
            <a:alpha val="54000"/>
          </a:schemeClr>
        </a:solidFill>
        <a:round/>
      </a:ln>
    </cs:spPr>
    <cs:defRPr sz="1197" kern="1200"/>
  </cs:categoryAxis>
  <cs:chartArea>
    <cs:lnRef idx="0"/>
    <cs:fillRef idx="0"/>
    <cs:effectRef idx="0"/>
    <cs:fontRef idx="minor">
      <a:schemeClr val="dk1"/>
    </cs:fontRef>
    <cs:spPr>
      <a:gradFill flip="none" rotWithShape="1">
        <a:gsLst>
          <a:gs pos="0">
            <a:schemeClr val="dk1">
              <a:lumMod val="65000"/>
              <a:lumOff val="35000"/>
            </a:schemeClr>
          </a:gs>
          <a:gs pos="100000">
            <a:schemeClr val="dk1">
              <a:lumMod val="85000"/>
              <a:lumOff val="15000"/>
            </a:schemeClr>
          </a:gs>
        </a:gsLst>
        <a:path path="circle">
          <a:fillToRect l="50000" t="50000" r="50000" b="50000"/>
        </a:path>
        <a:tileRect/>
      </a:gradFill>
    </cs:spPr>
    <cs:defRPr sz="1330" kern="1200"/>
  </cs:chartArea>
  <cs:dataLabel>
    <cs:lnRef idx="0"/>
    <cs:fillRef idx="0"/>
    <cs:effectRef idx="0"/>
    <cs:fontRef idx="minor">
      <a:schemeClr val="lt1">
        <a:lumMod val="8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3">
      <cs:styleClr val="auto"/>
    </cs:fillRef>
    <cs:effectRef idx="3"/>
    <cs:fontRef idx="minor">
      <a:schemeClr val="tx1"/>
    </cs:fontRef>
  </cs:dataPoint>
  <cs:dataPoint3D>
    <cs:lnRef idx="0"/>
    <cs:fillRef idx="3">
      <cs:styleClr val="auto"/>
    </cs:fillRef>
    <cs:effectRef idx="3"/>
    <cs:fontRef idx="minor">
      <a:schemeClr val="tx1"/>
    </cs:fontRef>
  </cs:dataPoint3D>
  <cs:dataPointLine>
    <cs:lnRef idx="0">
      <cs:styleClr val="auto"/>
    </cs:lnRef>
    <cs:fillRef idx="3"/>
    <cs:effectRef idx="3"/>
    <cs:fontRef idx="minor">
      <a:schemeClr val="tx1"/>
    </cs:fontRef>
    <cs:spPr>
      <a:ln w="3492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3">
      <cs:styleClr val="auto"/>
    </cs:fillRef>
    <cs:effectRef idx="3"/>
    <cs:fontRef idx="minor">
      <a:schemeClr val="tx1"/>
    </cs:fontRef>
    <cs:spPr>
      <a:ln w="9525">
        <a:solidFill>
          <a:schemeClr val="phClr"/>
        </a:solidFill>
        <a:round/>
      </a:ln>
    </cs:spPr>
  </cs:dataPointMarker>
  <cs:dataPointMarkerLayout symbol="circle" size="6"/>
  <cs:dataPointWireframe>
    <cs:lnRef idx="0">
      <cs:styleClr val="auto"/>
    </cs:lnRef>
    <cs:fillRef idx="3"/>
    <cs:effectRef idx="3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lt1">
        <a:lumMod val="85000"/>
      </a:schemeClr>
    </cs:fontRef>
    <cs:spPr>
      <a:ln w="9525">
        <a:solidFill>
          <a:schemeClr val="lt1">
            <a:lumMod val="95000"/>
            <a:alpha val="54000"/>
          </a:schemeClr>
        </a:solidFill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>
        <a:solidFill>
          <a:schemeClr val="lt1">
            <a:lumMod val="95000"/>
            <a:alpha val="54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>
        <a:solidFill>
          <a:schemeClr val="lt1">
            <a:lumMod val="95000"/>
            <a:alpha val="54000"/>
          </a:schemeClr>
        </a:solidFill>
        <a:prstDash val="dash"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lt1">
            <a:lumMod val="9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lt1">
            <a:lumMod val="95000"/>
            <a:alpha val="10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>
        <a:solidFill>
          <a:schemeClr val="lt1">
            <a:lumMod val="95000"/>
            <a:alpha val="5000"/>
          </a:schemeClr>
        </a:solidFill>
      </a:ln>
    </cs:spPr>
  </cs:gridlineMinor>
  <cs:hiLoLine>
    <cs:lnRef idx="0"/>
    <cs:fillRef idx="0"/>
    <cs:effectRef idx="0"/>
    <cs:fontRef idx="minor">
      <a:schemeClr val="tx1"/>
    </cs:fontRef>
    <cs:spPr>
      <a:ln w="9525">
        <a:solidFill>
          <a:schemeClr val="lt1">
            <a:lumMod val="95000"/>
            <a:alpha val="54000"/>
          </a:schemeClr>
        </a:solidFill>
        <a:prstDash val="dash"/>
      </a:ln>
    </cs:spPr>
  </cs:hiLoLine>
  <cs:leaderLine>
    <cs:lnRef idx="0"/>
    <cs:fillRef idx="0"/>
    <cs:effectRef idx="0"/>
    <cs:fontRef idx="minor">
      <a:schemeClr val="tx1"/>
    </cs:fontRef>
    <cs:spPr>
      <a:ln w="9525">
        <a:solidFill>
          <a:schemeClr val="lt1">
            <a:lumMod val="95000"/>
            <a:alpha val="54000"/>
          </a:schemeClr>
        </a:solidFill>
      </a:ln>
    </cs:spPr>
  </cs:leaderLine>
  <cs:legend>
    <cs:lnRef idx="0"/>
    <cs:fillRef idx="0"/>
    <cs:effectRef idx="0"/>
    <cs:fontRef idx="minor">
      <a:schemeClr val="lt1">
        <a:lumMod val="85000"/>
      </a:schemeClr>
    </cs:fontRef>
    <cs:defRPr sz="1197" kern="1200"/>
  </cs:legend>
  <cs:plotArea>
    <cs:lnRef idx="0"/>
    <cs:fillRef idx="0"/>
    <cs:effectRef idx="0"/>
    <cs:fontRef idx="minor">
      <a:schemeClr val="tx1"/>
    </cs:fontRef>
  </cs:plotArea>
  <cs:plotArea3D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lt1">
        <a:lumMod val="85000"/>
      </a:schemeClr>
    </cs:fontRef>
    <cs:spPr>
      <a:ln w="12700" cap="flat" cmpd="sng" algn="ctr">
        <a:solidFill>
          <a:schemeClr val="lt1">
            <a:lumMod val="95000"/>
            <a:alpha val="54000"/>
          </a:schemeClr>
        </a:solidFill>
        <a:round/>
      </a:ln>
    </cs:spPr>
    <cs:defRPr sz="1197" kern="1200"/>
  </cs:seriesAxis>
  <cs:seriesLine>
    <cs:lnRef idx="0"/>
    <cs:fillRef idx="0"/>
    <cs:effectRef idx="0"/>
    <cs:fontRef idx="minor">
      <a:schemeClr val="lt1"/>
    </cs:fontRef>
    <cs:spPr>
      <a:ln w="9525" cap="flat" cmpd="sng" algn="ctr">
        <a:solidFill>
          <a:schemeClr val="lt1">
            <a:lumMod val="95000"/>
            <a:alpha val="54000"/>
          </a:schemeClr>
        </a:solidFill>
        <a:round/>
      </a:ln>
    </cs:spPr>
  </cs:seriesLine>
  <cs:title>
    <cs:lnRef idx="0"/>
    <cs:fillRef idx="0"/>
    <cs:effectRef idx="0"/>
    <cs:fontRef idx="minor">
      <a:schemeClr val="lt1">
        <a:lumMod val="95000"/>
      </a:schemeClr>
    </cs:fontRef>
    <cs:defRPr sz="2128" b="1" kern="1200" spc="100" baseline="0">
      <a:effectLst>
        <a:outerShdw blurRad="50800" dist="38100" dir="5400000" algn="t" rotWithShape="0">
          <a:prstClr val="black">
            <a:alpha val="40000"/>
          </a:prstClr>
        </a:outerShdw>
      </a:effectLst>
    </cs:defRPr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</a:ln>
    </cs:spPr>
  </cs:trendline>
  <cs:trendlineLabel>
    <cs:lnRef idx="0"/>
    <cs:fillRef idx="0"/>
    <cs:effectRef idx="0"/>
    <cs:fontRef idx="minor">
      <a:schemeClr val="lt1">
        <a:lumMod val="8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>
        <a:solidFill>
          <a:schemeClr val="lt1">
            <a:lumMod val="95000"/>
            <a:alpha val="54000"/>
          </a:schemeClr>
        </a:solidFill>
      </a:ln>
    </cs:spPr>
  </cs:upBar>
  <cs:valueAxis>
    <cs:lnRef idx="0"/>
    <cs:fillRef idx="0"/>
    <cs:effectRef idx="0"/>
    <cs:fontRef idx="minor">
      <a:schemeClr val="lt1">
        <a:lumMod val="85000"/>
      </a:schemeClr>
    </cs:fontRef>
    <cs:defRPr sz="1197" kern="1200"/>
  </cs:valueAxis>
  <cs:wall>
    <cs:lnRef idx="0"/>
    <cs:fillRef idx="0"/>
    <cs:effectRef idx="0"/>
    <cs:fontRef idx="minor">
      <a:schemeClr val="tx1"/>
    </cs:fontRef>
  </cs:wall>
</cs:chartStyl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HU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796F9C8-BBD8-8342-8474-987E188FEFB2}" type="datetimeFigureOut">
              <a:t>2026. 05. 20.</a:t>
            </a:fld>
            <a:endParaRPr lang="en-HU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HU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H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H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6677AFD-810C-2A43-920D-66B65E4B4F80}" type="slidenum">
              <a:t>‹#›</a:t>
            </a:fld>
            <a:endParaRPr lang="en-HU"/>
          </a:p>
        </p:txBody>
      </p:sp>
    </p:spTree>
    <p:extLst>
      <p:ext uri="{BB962C8B-B14F-4D97-AF65-F5344CB8AC3E}">
        <p14:creationId xmlns:p14="http://schemas.microsoft.com/office/powerpoint/2010/main" val="155223882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HU"/>
          </a:p>
        </p:txBody>
      </p:sp>
    </p:spTree>
    <p:extLst>
      <p:ext uri="{BB962C8B-B14F-4D97-AF65-F5344CB8AC3E}">
        <p14:creationId xmlns:p14="http://schemas.microsoft.com/office/powerpoint/2010/main" val="337540424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26A0CC-9287-5A21-F7CE-3A94FFA6E96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HU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BC73468-85AA-2E6C-BEF7-3777D60424E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H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FFB2F02-863D-F114-CF10-4404006BA7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86FDC9-B09F-C347-BBB0-E5614BC97474}" type="datetimeFigureOut">
              <a:t>2026. 05. 20.</a:t>
            </a:fld>
            <a:endParaRPr lang="en-H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887EB99-C86A-6E7A-88E0-01F5ADA18B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H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746C683-313F-9B63-AD7F-DCA4102FD6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CEF26D-9819-7B49-80A7-6271FE50AAF6}" type="slidenum">
              <a:t>‹#›</a:t>
            </a:fld>
            <a:endParaRPr lang="en-HU"/>
          </a:p>
        </p:txBody>
      </p:sp>
    </p:spTree>
    <p:extLst>
      <p:ext uri="{BB962C8B-B14F-4D97-AF65-F5344CB8AC3E}">
        <p14:creationId xmlns:p14="http://schemas.microsoft.com/office/powerpoint/2010/main" val="3862931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3EA7BC-1CCF-F4BE-79D6-BB8AEC2461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H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1F2E0AC-EAA7-A59E-28BB-F9C11F182B1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H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C44167F-749C-60EE-5039-2749B4CC08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86FDC9-B09F-C347-BBB0-E5614BC97474}" type="datetimeFigureOut">
              <a:t>2026. 05. 20.</a:t>
            </a:fld>
            <a:endParaRPr lang="en-H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1333F7E-7F59-C0BC-88FD-C377C8D556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H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DA7D91C-37A7-2614-F245-4B29499738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CEF26D-9819-7B49-80A7-6271FE50AAF6}" type="slidenum">
              <a:t>‹#›</a:t>
            </a:fld>
            <a:endParaRPr lang="en-HU"/>
          </a:p>
        </p:txBody>
      </p:sp>
    </p:spTree>
    <p:extLst>
      <p:ext uri="{BB962C8B-B14F-4D97-AF65-F5344CB8AC3E}">
        <p14:creationId xmlns:p14="http://schemas.microsoft.com/office/powerpoint/2010/main" val="142839463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1D66B4-E495-90D0-5587-29730EBD80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H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220D965-F7AE-A1FD-013B-5055A726A80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FAEADF4-07B7-02DC-18F0-3BCE8D2AAC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86FDC9-B09F-C347-BBB0-E5614BC97474}" type="datetimeFigureOut">
              <a:t>2026. 05. 20.</a:t>
            </a:fld>
            <a:endParaRPr lang="en-H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CC29BA1-3CF6-7C97-FC7A-090E949DCF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H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7B6417A-2454-FEC5-E56A-3A6C5FB62D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CEF26D-9819-7B49-80A7-6271FE50AAF6}" type="slidenum">
              <a:t>‹#›</a:t>
            </a:fld>
            <a:endParaRPr lang="en-HU"/>
          </a:p>
        </p:txBody>
      </p:sp>
    </p:spTree>
    <p:extLst>
      <p:ext uri="{BB962C8B-B14F-4D97-AF65-F5344CB8AC3E}">
        <p14:creationId xmlns:p14="http://schemas.microsoft.com/office/powerpoint/2010/main" val="98674071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1DACB2-F785-1AAA-F2DA-33DF48ECB3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H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00BBC34-D34C-DC2D-A2DB-8AF0D9EBC1A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HU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AD6B260-3A7E-EA1E-4D7D-B8F8FC84C72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HU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647881B-FBF5-4464-3E5E-54EAFF89BA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86FDC9-B09F-C347-BBB0-E5614BC97474}" type="datetimeFigureOut">
              <a:t>2026. 05. 20.</a:t>
            </a:fld>
            <a:endParaRPr lang="en-H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9B64E23-5B69-53D2-E125-025D1E8052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H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5DCC186-BC4A-1AFE-6CC7-389C865248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CEF26D-9819-7B49-80A7-6271FE50AAF6}" type="slidenum">
              <a:t>‹#›</a:t>
            </a:fld>
            <a:endParaRPr lang="en-HU"/>
          </a:p>
        </p:txBody>
      </p:sp>
    </p:spTree>
    <p:extLst>
      <p:ext uri="{BB962C8B-B14F-4D97-AF65-F5344CB8AC3E}">
        <p14:creationId xmlns:p14="http://schemas.microsoft.com/office/powerpoint/2010/main" val="413741727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037B3C-4D2C-8F0F-4409-F0C4D1CF1B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H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470F43C-F805-820C-37F9-CD5EA53182D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933DC28-5AAB-FD2D-4F70-D6FEDC4EC27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HU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267225B-C434-DAF9-2023-9E31A69D9C6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43BBBF4-4D60-DDAF-A128-F7ED65EFFA0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HU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6255A57-430B-A01D-151A-94A613B76F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86FDC9-B09F-C347-BBB0-E5614BC97474}" type="datetimeFigureOut">
              <a:t>2026. 05. 20.</a:t>
            </a:fld>
            <a:endParaRPr lang="en-HU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52F9EB8-EA31-43AE-BD2D-FC562E38F5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HU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F6ED0D6-B9AF-45C9-BF1C-44E4F701FB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CEF26D-9819-7B49-80A7-6271FE50AAF6}" type="slidenum">
              <a:t>‹#›</a:t>
            </a:fld>
            <a:endParaRPr lang="en-HU"/>
          </a:p>
        </p:txBody>
      </p:sp>
    </p:spTree>
    <p:extLst>
      <p:ext uri="{BB962C8B-B14F-4D97-AF65-F5344CB8AC3E}">
        <p14:creationId xmlns:p14="http://schemas.microsoft.com/office/powerpoint/2010/main" val="60507331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4F1A72-4A41-466D-837A-8852F09D9E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HU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DA0FD61-641A-AC8F-D533-12CE2A2F13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86FDC9-B09F-C347-BBB0-E5614BC97474}" type="datetimeFigureOut">
              <a:t>2026. 05. 20.</a:t>
            </a:fld>
            <a:endParaRPr lang="en-HU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BE0B19B-093F-7281-5029-3929D9CDB5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HU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D01EF57-0185-2CC5-A18A-14DA05CC35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CEF26D-9819-7B49-80A7-6271FE50AAF6}" type="slidenum">
              <a:t>‹#›</a:t>
            </a:fld>
            <a:endParaRPr lang="en-HU"/>
          </a:p>
        </p:txBody>
      </p:sp>
    </p:spTree>
    <p:extLst>
      <p:ext uri="{BB962C8B-B14F-4D97-AF65-F5344CB8AC3E}">
        <p14:creationId xmlns:p14="http://schemas.microsoft.com/office/powerpoint/2010/main" val="276702408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AF02729-A986-A677-9817-F6A9001F2B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86FDC9-B09F-C347-BBB0-E5614BC97474}" type="datetimeFigureOut">
              <a:t>2026. 05. 20.</a:t>
            </a:fld>
            <a:endParaRPr lang="en-HU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4F5EB4B-290A-6B05-7E2E-0A34F1653B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HU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EA76437-4632-B33F-E00A-B647A6B946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CEF26D-9819-7B49-80A7-6271FE50AAF6}" type="slidenum">
              <a:t>‹#›</a:t>
            </a:fld>
            <a:endParaRPr lang="en-HU"/>
          </a:p>
        </p:txBody>
      </p:sp>
    </p:spTree>
    <p:extLst>
      <p:ext uri="{BB962C8B-B14F-4D97-AF65-F5344CB8AC3E}">
        <p14:creationId xmlns:p14="http://schemas.microsoft.com/office/powerpoint/2010/main" val="126539037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74C09E-11F9-B158-1437-62367F6089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H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CE963B2-D346-82E2-F152-B57D688E0CC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HU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2A6E7DB-F833-CC4E-B10F-012F8B9D849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9A7C6F1-8ED8-CF2A-F656-6E91A93FD3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86FDC9-B09F-C347-BBB0-E5614BC97474}" type="datetimeFigureOut">
              <a:t>2026. 05. 20.</a:t>
            </a:fld>
            <a:endParaRPr lang="en-H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EDEDB14-3855-61E0-FB42-0221DF5A2F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H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0EA29B6-C6FA-0E76-5C51-2B1035725E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CEF26D-9819-7B49-80A7-6271FE50AAF6}" type="slidenum">
              <a:t>‹#›</a:t>
            </a:fld>
            <a:endParaRPr lang="en-HU"/>
          </a:p>
        </p:txBody>
      </p:sp>
    </p:spTree>
    <p:extLst>
      <p:ext uri="{BB962C8B-B14F-4D97-AF65-F5344CB8AC3E}">
        <p14:creationId xmlns:p14="http://schemas.microsoft.com/office/powerpoint/2010/main" val="409413567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8F0905-9DC1-4718-E905-A61027CCD0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HU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CD768DB-56AF-B853-4A73-09318E52887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HU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085BD43-529D-C758-F233-6D74E1FE8A1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6A5DA5E-EED7-89A0-B829-5641844EB8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86FDC9-B09F-C347-BBB0-E5614BC97474}" type="datetimeFigureOut">
              <a:t>2026. 05. 20.</a:t>
            </a:fld>
            <a:endParaRPr lang="en-H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C660D35-1C75-6231-BAAD-CF9653025F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H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51BF46F-807B-A6F7-26DB-C5B16A828B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CEF26D-9819-7B49-80A7-6271FE50AAF6}" type="slidenum">
              <a:t>‹#›</a:t>
            </a:fld>
            <a:endParaRPr lang="en-HU"/>
          </a:p>
        </p:txBody>
      </p:sp>
    </p:spTree>
    <p:extLst>
      <p:ext uri="{BB962C8B-B14F-4D97-AF65-F5344CB8AC3E}">
        <p14:creationId xmlns:p14="http://schemas.microsoft.com/office/powerpoint/2010/main" val="236684789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2B1EFC-10A5-F04A-1985-B85B13C15A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HU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1C945C8-42B9-21B8-7ED7-5D35A38CB92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H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A3E67F5-3DBF-4B78-EBF1-A34067A9BE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86FDC9-B09F-C347-BBB0-E5614BC97474}" type="datetimeFigureOut">
              <a:t>2026. 05. 20.</a:t>
            </a:fld>
            <a:endParaRPr lang="en-H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B9096E9-8E8A-8132-E659-EDE1FA2DDD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H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5B9DE57-69EB-C7D3-BF6E-D9BC98427F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CEF26D-9819-7B49-80A7-6271FE50AAF6}" type="slidenum">
              <a:t>‹#›</a:t>
            </a:fld>
            <a:endParaRPr lang="en-HU"/>
          </a:p>
        </p:txBody>
      </p:sp>
    </p:spTree>
    <p:extLst>
      <p:ext uri="{BB962C8B-B14F-4D97-AF65-F5344CB8AC3E}">
        <p14:creationId xmlns:p14="http://schemas.microsoft.com/office/powerpoint/2010/main" val="143508980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765E9458-BA11-4D0A-3C9E-0718791BE29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HU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B30E488-FF60-2694-DCF9-11AED846677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H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CCD4666-7FA4-EE63-DA08-6EFD26E088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86FDC9-B09F-C347-BBB0-E5614BC97474}" type="datetimeFigureOut">
              <a:t>2026. 05. 20.</a:t>
            </a:fld>
            <a:endParaRPr lang="en-H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5A51E87-50BB-E366-6B4F-D9E5F11A75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H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50CA437-A185-EE36-A3D6-76F65B9730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CEF26D-9819-7B49-80A7-6271FE50AAF6}" type="slidenum">
              <a:t>‹#›</a:t>
            </a:fld>
            <a:endParaRPr lang="en-HU"/>
          </a:p>
        </p:txBody>
      </p:sp>
    </p:spTree>
    <p:extLst>
      <p:ext uri="{BB962C8B-B14F-4D97-AF65-F5344CB8AC3E}">
        <p14:creationId xmlns:p14="http://schemas.microsoft.com/office/powerpoint/2010/main" val="124064971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83A1D37-B238-A3D7-F472-5A4CBB0B7A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H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CE98E75-1645-B9FB-76E3-10FDE6D23F1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H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F096D2A-9B37-B446-A365-DA8243BAF5F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A86FDC9-B09F-C347-BBB0-E5614BC97474}" type="datetimeFigureOut">
              <a:t>2026. 05. 20.</a:t>
            </a:fld>
            <a:endParaRPr lang="en-H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80A3A1-77EA-9B43-10AA-D5E5DB0C1D4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H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078210A-7FD7-DC82-AA4B-4FF0A7501DD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4CEF26D-9819-7B49-80A7-6271FE50AAF6}" type="slidenum">
              <a:t>‹#›</a:t>
            </a:fld>
            <a:endParaRPr lang="en-HU"/>
          </a:p>
        </p:txBody>
      </p:sp>
    </p:spTree>
    <p:extLst>
      <p:ext uri="{BB962C8B-B14F-4D97-AF65-F5344CB8AC3E}">
        <p14:creationId xmlns:p14="http://schemas.microsoft.com/office/powerpoint/2010/main" val="151674038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H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4.xml"/><Relationship Id="rId4" Type="http://schemas.openxmlformats.org/officeDocument/2006/relationships/chart" Target="../charts/char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EF3109-197C-8433-0BA4-FC2C2DE85C01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HU"/>
              <a:t>Sztatinok helye a megelőzésben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51AF934-F839-F404-34BB-5B17CBDDF199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HU"/>
          </a:p>
        </p:txBody>
      </p:sp>
    </p:spTree>
    <p:extLst>
      <p:ext uri="{BB962C8B-B14F-4D97-AF65-F5344CB8AC3E}">
        <p14:creationId xmlns:p14="http://schemas.microsoft.com/office/powerpoint/2010/main" val="4767965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B6A8BC-2A83-8978-C5A3-DF2474A3B2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C207778E-C1CD-BD02-A03F-C8CC5F39AC89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365125"/>
            <a:ext cx="10515600" cy="1325563"/>
          </a:xfrm>
        </p:spPr>
        <p:txBody>
          <a:bodyPr/>
          <a:lstStyle/>
          <a:p>
            <a:r>
              <a:rPr lang="en-HU"/>
              <a:t>Score2-Diabetes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94C77019-787E-E966-B839-5C32A8D333DF}"/>
              </a:ext>
            </a:extLst>
          </p:cNvPr>
          <p:cNvSpPr>
            <a:spLocks noGrp="1"/>
          </p:cNvSpPr>
          <p:nvPr>
            <p:ph sz="half" idx="4294967295"/>
          </p:nvPr>
        </p:nvSpPr>
        <p:spPr>
          <a:xfrm>
            <a:off x="0" y="1825625"/>
            <a:ext cx="5181600" cy="4351338"/>
          </a:xfrm>
        </p:spPr>
        <p:txBody>
          <a:bodyPr>
            <a:normAutofit fontScale="92500" lnSpcReduction="20000"/>
          </a:bodyPr>
          <a:lstStyle/>
          <a:p>
            <a:r>
              <a:rPr lang="en-HU"/>
              <a:t>pl. 55 éves magyar férfi</a:t>
            </a:r>
          </a:p>
          <a:p>
            <a:r>
              <a:rPr lang="en-HU"/>
              <a:t>életmód nem optimális</a:t>
            </a:r>
          </a:p>
          <a:p>
            <a:r>
              <a:rPr lang="en-HU"/>
              <a:t>dohányos</a:t>
            </a:r>
          </a:p>
          <a:p>
            <a:r>
              <a:rPr lang="en-HU"/>
              <a:t>5 éve cukorbeteg</a:t>
            </a:r>
          </a:p>
          <a:p>
            <a:r>
              <a:rPr lang="en-HU"/>
              <a:t>nem optimális vérnyomás (RR ~150 Hgmm)</a:t>
            </a:r>
          </a:p>
          <a:p>
            <a:r>
              <a:rPr lang="en-HU"/>
              <a:t>mérsékelten vesebeteg (GFR 67)</a:t>
            </a:r>
          </a:p>
          <a:p>
            <a:r>
              <a:rPr lang="en-HU"/>
              <a:t>részben kontrollált cukorbeteg (HbA1c 7.3%)</a:t>
            </a:r>
          </a:p>
          <a:p>
            <a:r>
              <a:rPr lang="en-HU"/>
              <a:t>vérzsírok célérték felett (koleszterin 5.9, LDL 3.7)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FC1492AB-AB36-62AE-43C9-DB139D3A992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4411" y="0"/>
            <a:ext cx="6138443" cy="6858000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4EA16C1D-BFFE-D078-6CB3-75D4C13CA5C2}"/>
              </a:ext>
            </a:extLst>
          </p:cNvPr>
          <p:cNvSpPr/>
          <p:nvPr/>
        </p:nvSpPr>
        <p:spPr>
          <a:xfrm>
            <a:off x="6783185" y="2194675"/>
            <a:ext cx="1673631" cy="1019580"/>
          </a:xfrm>
          <a:prstGeom prst="rect">
            <a:avLst/>
          </a:prstGeom>
          <a:noFill/>
          <a:ln w="57150">
            <a:solidFill>
              <a:srgbClr val="E63022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HU" sz="2400"/>
          </a:p>
        </p:txBody>
      </p:sp>
    </p:spTree>
    <p:extLst>
      <p:ext uri="{BB962C8B-B14F-4D97-AF65-F5344CB8AC3E}">
        <p14:creationId xmlns:p14="http://schemas.microsoft.com/office/powerpoint/2010/main" val="198680342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76EEE99F-043A-866F-55EB-38136314832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2839" y="0"/>
            <a:ext cx="10146323" cy="6858000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37771758-2F63-BD07-8C53-4E8D8AFFE027}"/>
              </a:ext>
            </a:extLst>
          </p:cNvPr>
          <p:cNvSpPr/>
          <p:nvPr/>
        </p:nvSpPr>
        <p:spPr>
          <a:xfrm>
            <a:off x="2892828" y="2249486"/>
            <a:ext cx="2128059" cy="842849"/>
          </a:xfrm>
          <a:prstGeom prst="rect">
            <a:avLst/>
          </a:prstGeom>
          <a:noFill/>
          <a:ln w="57150">
            <a:solidFill>
              <a:srgbClr val="E63022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HU" sz="2400"/>
          </a:p>
        </p:txBody>
      </p:sp>
      <p:pic>
        <p:nvPicPr>
          <p:cNvPr id="2" name="Picture 2">
            <a:extLst>
              <a:ext uri="{FF2B5EF4-FFF2-40B4-BE49-F238E27FC236}">
                <a16:creationId xmlns:a16="http://schemas.microsoft.com/office/drawing/2014/main" id="{73EF430D-F0FD-0C77-26C1-C7BB5B9938A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182350" y="-19049"/>
            <a:ext cx="971551" cy="1029867"/>
          </a:xfrm>
          <a:prstGeom prst="rect">
            <a:avLst/>
          </a:prstGeom>
          <a:noFill/>
          <a:ln>
            <a:noFill/>
          </a:ln>
          <a:effectLst>
            <a:outerShdw blurRad="50800" dist="50800" dir="5400000" algn="ctr" rotWithShape="0">
              <a:schemeClr val="tx1"/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34520241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1C5968-1036-AFFF-C867-A1755BB60B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5A12CE1B-3D13-B33D-4FF5-4D554A9FE46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2839" y="0"/>
            <a:ext cx="10146323" cy="6858000"/>
          </a:xfrm>
          <a:prstGeom prst="rect">
            <a:avLst/>
          </a:prstGeom>
        </p:spPr>
      </p:pic>
      <p:graphicFrame>
        <p:nvGraphicFramePr>
          <p:cNvPr id="3" name="Content Placeholder 2">
            <a:extLst>
              <a:ext uri="{FF2B5EF4-FFF2-40B4-BE49-F238E27FC236}">
                <a16:creationId xmlns:a16="http://schemas.microsoft.com/office/drawing/2014/main" id="{0E3A253D-220E-C31E-08E9-AA5FA735BF54}"/>
              </a:ext>
            </a:extLst>
          </p:cNvPr>
          <p:cNvGraphicFramePr>
            <a:graphicFrameLocks noGrp="1"/>
          </p:cNvGraphicFramePr>
          <p:nvPr>
            <p:ph sz="half" idx="1"/>
          </p:nvPr>
        </p:nvGraphicFramePr>
        <p:xfrm>
          <a:off x="1370056" y="0"/>
          <a:ext cx="9448709" cy="6858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</p:spTree>
    <p:extLst>
      <p:ext uri="{BB962C8B-B14F-4D97-AF65-F5344CB8AC3E}">
        <p14:creationId xmlns:p14="http://schemas.microsoft.com/office/powerpoint/2010/main" val="90013714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5EB16EBA-9932-8744-798C-B9ED20FC27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HU"/>
              <a:t>Mik az orvostudomány által bizonyított hatások?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D501414F-878F-9AB4-E14A-0CD39C6B141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HU"/>
              <a:t>a sztatinok hatékony LDL-koleszterin csökkentők</a:t>
            </a:r>
          </a:p>
          <a:p>
            <a:endParaRPr lang="en-HU"/>
          </a:p>
          <a:p>
            <a:r>
              <a:rPr lang="en-HU"/>
              <a:t>a sztatinokkal elért LDL-koleszterin csökkenése esetén kevesebb a szívinfarktus, stroke és a kardiovaszkuláris halálozás</a:t>
            </a:r>
          </a:p>
          <a:p>
            <a:endParaRPr lang="en-HU"/>
          </a:p>
          <a:p>
            <a:r>
              <a:rPr lang="en-HU"/>
              <a:t>a sztatin terápiák előnyei sokszorosan meghaladják a kockázatot, a mellékhatások ritkák és nem visszafordíthatatlanok</a:t>
            </a:r>
          </a:p>
          <a:p>
            <a:endParaRPr lang="en-HU"/>
          </a:p>
          <a:p>
            <a:r>
              <a:rPr lang="en-HU"/>
              <a:t>a terápia elhagyása az egyik legveszélyesebb betegmagatartás</a:t>
            </a:r>
          </a:p>
        </p:txBody>
      </p:sp>
    </p:spTree>
    <p:extLst>
      <p:ext uri="{BB962C8B-B14F-4D97-AF65-F5344CB8AC3E}">
        <p14:creationId xmlns:p14="http://schemas.microsoft.com/office/powerpoint/2010/main" val="83911819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1802EA-6F10-71B0-6ABB-469CEFE2B3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HU"/>
              <a:t>Mikor elengedhetetlen a sztatin terápia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9AF8302-4F44-6BF2-42C4-9866E4C527F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73200"/>
            <a:ext cx="10515600" cy="5019675"/>
          </a:xfrm>
        </p:spPr>
        <p:txBody>
          <a:bodyPr>
            <a:normAutofit fontScale="92500" lnSpcReduction="10000"/>
          </a:bodyPr>
          <a:lstStyle/>
          <a:p>
            <a:r>
              <a:rPr lang="en-HU"/>
              <a:t>magas vagy igen magas 10 éves szív- és érrendszeri betegségkockázat esetén</a:t>
            </a:r>
          </a:p>
          <a:p>
            <a:endParaRPr lang="en-HU"/>
          </a:p>
          <a:p>
            <a:r>
              <a:rPr lang="en-HU"/>
              <a:t>40 év feletti cukorbetegeknél</a:t>
            </a:r>
          </a:p>
          <a:p>
            <a:endParaRPr lang="en-HU"/>
          </a:p>
          <a:p>
            <a:r>
              <a:rPr lang="en-HU"/>
              <a:t>igen magas LDL koleszterin szint esetén rizikófaktorok nélkül is (&gt;4.9 mmol/L)</a:t>
            </a:r>
          </a:p>
          <a:p>
            <a:endParaRPr lang="en-HU"/>
          </a:p>
          <a:p>
            <a:r>
              <a:rPr lang="en-HU"/>
              <a:t>szívinfarktus vagy stroke után</a:t>
            </a:r>
          </a:p>
          <a:p>
            <a:endParaRPr lang="en-HU"/>
          </a:p>
          <a:p>
            <a:r>
              <a:rPr lang="en-HU"/>
              <a:t>érműtét, katéteres beavatkozások után</a:t>
            </a:r>
            <a:br>
              <a:rPr lang="en-HU"/>
            </a:br>
            <a:r>
              <a:rPr lang="en-HU"/>
              <a:t>koszorúér tágítás, koszorúér műtét, nyaki érműtét vagy tágítás stb.</a:t>
            </a:r>
          </a:p>
        </p:txBody>
      </p:sp>
    </p:spTree>
    <p:extLst>
      <p:ext uri="{BB962C8B-B14F-4D97-AF65-F5344CB8AC3E}">
        <p14:creationId xmlns:p14="http://schemas.microsoft.com/office/powerpoint/2010/main" val="313043180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CED292-4C41-F82A-34D7-AE7CC77697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HU" b="1"/>
              <a:t>Sztatinellenesség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86DD86C-286A-A430-B6EC-C2163DC8AA5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r>
              <a:rPr lang="en-HU" b="1"/>
              <a:t>A koleszterincsökkentésen kívül semmilyen más kardiológiai irányelvre nem jellemző a laikus közvélemény ilyen mértékű szembenállása</a:t>
            </a:r>
          </a:p>
          <a:p>
            <a:endParaRPr lang="en-HU"/>
          </a:p>
          <a:p>
            <a:r>
              <a:rPr lang="en-HU"/>
              <a:t>A sztatinellenes influenszerek a főáramú tudomány megállapításaihoz képest az előnyöket jelentősen alábecsülik, a mellékhatásokat pedig túlértékelik</a:t>
            </a:r>
          </a:p>
          <a:p>
            <a:endParaRPr lang="en-HU"/>
          </a:p>
          <a:p>
            <a:pPr fontAlgn="t"/>
            <a:r>
              <a:rPr lang="en-HU"/>
              <a:t>Az Egyesült Királyságban egy fél éves időszakban mintegy </a:t>
            </a:r>
            <a:r>
              <a:rPr lang="en-HU" b="1"/>
              <a:t>220 000 ember hagyhatta abba</a:t>
            </a:r>
            <a:r>
              <a:rPr lang="en-HU"/>
              <a:t> a sztatinhasználatot, ami a British Heart Foundation becslései szerint </a:t>
            </a:r>
            <a:r>
              <a:rPr lang="en-HU" b="1"/>
              <a:t>a következő 10 évben 2170 körüli extra szívroham, illetve szélütés (stroke)</a:t>
            </a:r>
            <a:r>
              <a:rPr lang="en-HU"/>
              <a:t> kialakulásáért lesz felelős</a:t>
            </a:r>
          </a:p>
          <a:p>
            <a:pPr marL="0" indent="0" fontAlgn="t">
              <a:buNone/>
            </a:pPr>
            <a:endParaRPr lang="en-HU"/>
          </a:p>
          <a:p>
            <a:pPr marL="0" indent="0" fontAlgn="t">
              <a:buNone/>
            </a:pPr>
            <a:r>
              <a:rPr lang="en-HU"/>
              <a:t>---</a:t>
            </a:r>
            <a:br>
              <a:rPr lang="en-HU"/>
            </a:br>
            <a:r>
              <a:rPr lang="en-HU"/>
              <a:t>(Impact of statin related media coverage on use of statins: interrupted time series analysis with UK primary care data, Matthews et. al.</a:t>
            </a:r>
            <a:br>
              <a:rPr lang="en-HU"/>
            </a:br>
            <a:r>
              <a:rPr lang="en-HU"/>
              <a:t>BMJ 2016;353:i3283)</a:t>
            </a:r>
          </a:p>
        </p:txBody>
      </p:sp>
    </p:spTree>
    <p:extLst>
      <p:ext uri="{BB962C8B-B14F-4D97-AF65-F5344CB8AC3E}">
        <p14:creationId xmlns:p14="http://schemas.microsoft.com/office/powerpoint/2010/main" val="126826371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9B7AD9F6-8CE7-4299-8FC6-328F4DCD3FF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EBCF4DC-6C70-7348-D182-CFEB51E1C4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90338" y="292838"/>
            <a:ext cx="3734014" cy="5140234"/>
          </a:xfrm>
        </p:spPr>
        <p:txBody>
          <a:bodyPr vert="horz" lIns="91440" tIns="45720" rIns="91440" bIns="45720" rtlCol="0" anchor="b">
            <a:normAutofit fontScale="90000"/>
          </a:bodyPr>
          <a:lstStyle/>
          <a:p>
            <a:r>
              <a:rPr lang="en-US" sz="3600"/>
              <a:t>“Elveszítjük a pácienseink szívét és elméjét érintő csatát a nem bizonyított terápiákat hirdető webhelyekkel szemben”</a:t>
            </a:r>
            <a:br>
              <a:rPr lang="en-US" sz="3000"/>
            </a:br>
            <a:br>
              <a:rPr lang="en-US" sz="3000"/>
            </a:br>
            <a:r>
              <a:rPr lang="en-US" sz="3000"/>
              <a:t>(Dr. Steven Nissen,</a:t>
            </a:r>
            <a:br>
              <a:rPr lang="en-US" sz="3000"/>
            </a:br>
            <a:r>
              <a:rPr lang="en-US" sz="3000"/>
              <a:t>Cleveland Clinic)</a:t>
            </a:r>
          </a:p>
        </p:txBody>
      </p:sp>
      <p:sp>
        <p:nvSpPr>
          <p:cNvPr id="11" name="sketchy line">
            <a:extLst>
              <a:ext uri="{FF2B5EF4-FFF2-40B4-BE49-F238E27FC236}">
                <a16:creationId xmlns:a16="http://schemas.microsoft.com/office/drawing/2014/main" id="{F49775AF-8896-43EE-92C6-83497D6DC56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90338" y="4409267"/>
            <a:ext cx="3474720" cy="18288"/>
          </a:xfrm>
          <a:custGeom>
            <a:avLst/>
            <a:gdLst>
              <a:gd name="csX0" fmla="*/ 0 w 3474720"/>
              <a:gd name="csY0" fmla="*/ 0 h 18288"/>
              <a:gd name="csX1" fmla="*/ 694944 w 3474720"/>
              <a:gd name="csY1" fmla="*/ 0 h 18288"/>
              <a:gd name="csX2" fmla="*/ 1355141 w 3474720"/>
              <a:gd name="csY2" fmla="*/ 0 h 18288"/>
              <a:gd name="csX3" fmla="*/ 2015338 w 3474720"/>
              <a:gd name="csY3" fmla="*/ 0 h 18288"/>
              <a:gd name="csX4" fmla="*/ 2779776 w 3474720"/>
              <a:gd name="csY4" fmla="*/ 0 h 18288"/>
              <a:gd name="csX5" fmla="*/ 3474720 w 3474720"/>
              <a:gd name="csY5" fmla="*/ 0 h 18288"/>
              <a:gd name="csX6" fmla="*/ 3474720 w 3474720"/>
              <a:gd name="csY6" fmla="*/ 18288 h 18288"/>
              <a:gd name="csX7" fmla="*/ 2779776 w 3474720"/>
              <a:gd name="csY7" fmla="*/ 18288 h 18288"/>
              <a:gd name="csX8" fmla="*/ 2189074 w 3474720"/>
              <a:gd name="csY8" fmla="*/ 18288 h 18288"/>
              <a:gd name="csX9" fmla="*/ 1528877 w 3474720"/>
              <a:gd name="csY9" fmla="*/ 18288 h 18288"/>
              <a:gd name="csX10" fmla="*/ 868680 w 3474720"/>
              <a:gd name="csY10" fmla="*/ 18288 h 18288"/>
              <a:gd name="csX11" fmla="*/ 0 w 3474720"/>
              <a:gd name="csY11" fmla="*/ 18288 h 18288"/>
              <a:gd name="csX12" fmla="*/ 0 w 3474720"/>
              <a:gd name="csY12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</a:cxnLst>
            <a:rect l="l" t="t" r="r" b="b"/>
            <a:pathLst>
              <a:path w="3474720" h="18288" fill="none" extrusionOk="0">
                <a:moveTo>
                  <a:pt x="0" y="0"/>
                </a:moveTo>
                <a:cubicBezTo>
                  <a:pt x="224454" y="-14544"/>
                  <a:pt x="495407" y="26540"/>
                  <a:pt x="694944" y="0"/>
                </a:cubicBezTo>
                <a:cubicBezTo>
                  <a:pt x="894481" y="-26540"/>
                  <a:pt x="1130063" y="24713"/>
                  <a:pt x="1355141" y="0"/>
                </a:cubicBezTo>
                <a:cubicBezTo>
                  <a:pt x="1580219" y="-24713"/>
                  <a:pt x="1820099" y="26695"/>
                  <a:pt x="2015338" y="0"/>
                </a:cubicBezTo>
                <a:cubicBezTo>
                  <a:pt x="2210577" y="-26695"/>
                  <a:pt x="2402045" y="165"/>
                  <a:pt x="2779776" y="0"/>
                </a:cubicBezTo>
                <a:cubicBezTo>
                  <a:pt x="3157507" y="-165"/>
                  <a:pt x="3286859" y="-15571"/>
                  <a:pt x="3474720" y="0"/>
                </a:cubicBezTo>
                <a:cubicBezTo>
                  <a:pt x="3474286" y="7551"/>
                  <a:pt x="3474253" y="9822"/>
                  <a:pt x="3474720" y="18288"/>
                </a:cubicBezTo>
                <a:cubicBezTo>
                  <a:pt x="3233904" y="29845"/>
                  <a:pt x="2945134" y="-5256"/>
                  <a:pt x="2779776" y="18288"/>
                </a:cubicBezTo>
                <a:cubicBezTo>
                  <a:pt x="2614418" y="41832"/>
                  <a:pt x="2339768" y="22709"/>
                  <a:pt x="2189074" y="18288"/>
                </a:cubicBezTo>
                <a:cubicBezTo>
                  <a:pt x="2038380" y="13867"/>
                  <a:pt x="1817434" y="-4947"/>
                  <a:pt x="1528877" y="18288"/>
                </a:cubicBezTo>
                <a:cubicBezTo>
                  <a:pt x="1240320" y="41523"/>
                  <a:pt x="1042447" y="37198"/>
                  <a:pt x="868680" y="18288"/>
                </a:cubicBezTo>
                <a:cubicBezTo>
                  <a:pt x="694913" y="-622"/>
                  <a:pt x="233232" y="44909"/>
                  <a:pt x="0" y="18288"/>
                </a:cubicBezTo>
                <a:cubicBezTo>
                  <a:pt x="60" y="11696"/>
                  <a:pt x="66" y="3758"/>
                  <a:pt x="0" y="0"/>
                </a:cubicBezTo>
                <a:close/>
              </a:path>
              <a:path w="3474720" h="18288" stroke="0" extrusionOk="0">
                <a:moveTo>
                  <a:pt x="0" y="0"/>
                </a:moveTo>
                <a:cubicBezTo>
                  <a:pt x="202328" y="-14716"/>
                  <a:pt x="332722" y="-11499"/>
                  <a:pt x="625450" y="0"/>
                </a:cubicBezTo>
                <a:cubicBezTo>
                  <a:pt x="918178" y="11499"/>
                  <a:pt x="1096688" y="5123"/>
                  <a:pt x="1389888" y="0"/>
                </a:cubicBezTo>
                <a:cubicBezTo>
                  <a:pt x="1683088" y="-5123"/>
                  <a:pt x="1835981" y="-14038"/>
                  <a:pt x="1980590" y="0"/>
                </a:cubicBezTo>
                <a:cubicBezTo>
                  <a:pt x="2125199" y="14038"/>
                  <a:pt x="2396099" y="-7203"/>
                  <a:pt x="2571293" y="0"/>
                </a:cubicBezTo>
                <a:cubicBezTo>
                  <a:pt x="2746487" y="7203"/>
                  <a:pt x="3041609" y="-12036"/>
                  <a:pt x="3474720" y="0"/>
                </a:cubicBezTo>
                <a:cubicBezTo>
                  <a:pt x="3474638" y="4406"/>
                  <a:pt x="3474631" y="9982"/>
                  <a:pt x="3474720" y="18288"/>
                </a:cubicBezTo>
                <a:cubicBezTo>
                  <a:pt x="3324873" y="21876"/>
                  <a:pt x="3136771" y="12587"/>
                  <a:pt x="2814523" y="18288"/>
                </a:cubicBezTo>
                <a:cubicBezTo>
                  <a:pt x="2492275" y="23989"/>
                  <a:pt x="2294402" y="47111"/>
                  <a:pt x="2154326" y="18288"/>
                </a:cubicBezTo>
                <a:cubicBezTo>
                  <a:pt x="2014250" y="-10535"/>
                  <a:pt x="1820317" y="33903"/>
                  <a:pt x="1494130" y="18288"/>
                </a:cubicBezTo>
                <a:cubicBezTo>
                  <a:pt x="1167943" y="2673"/>
                  <a:pt x="948432" y="14868"/>
                  <a:pt x="729691" y="18288"/>
                </a:cubicBezTo>
                <a:cubicBezTo>
                  <a:pt x="510950" y="21708"/>
                  <a:pt x="264032" y="24354"/>
                  <a:pt x="0" y="18288"/>
                </a:cubicBezTo>
                <a:cubicBezTo>
                  <a:pt x="189" y="14288"/>
                  <a:pt x="-703" y="3747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4450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2863741219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Picture 3" descr="Steven E. Nissen | Cardiometabolic Health Congress">
            <a:extLst>
              <a:ext uri="{FF2B5EF4-FFF2-40B4-BE49-F238E27FC236}">
                <a16:creationId xmlns:a16="http://schemas.microsoft.com/office/drawing/2014/main" id="{24FBB524-62B5-5555-D478-0EA37A088D2C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-1" b="17250"/>
          <a:stretch>
            <a:fillRect/>
          </a:stretch>
        </p:blipFill>
        <p:spPr>
          <a:xfrm>
            <a:off x="5311702" y="10"/>
            <a:ext cx="6878775" cy="6857990"/>
          </a:xfrm>
          <a:custGeom>
            <a:avLst/>
            <a:gdLst/>
            <a:ahLst/>
            <a:cxnLst/>
            <a:rect l="l" t="t" r="r" b="b"/>
            <a:pathLst>
              <a:path w="6878775" h="6858000">
                <a:moveTo>
                  <a:pt x="1102973" y="0"/>
                </a:moveTo>
                <a:lnTo>
                  <a:pt x="1160688" y="0"/>
                </a:lnTo>
                <a:lnTo>
                  <a:pt x="983189" y="331786"/>
                </a:lnTo>
                <a:cubicBezTo>
                  <a:pt x="914866" y="469145"/>
                  <a:pt x="850355" y="608712"/>
                  <a:pt x="789261" y="750263"/>
                </a:cubicBezTo>
                <a:cubicBezTo>
                  <a:pt x="774307" y="784928"/>
                  <a:pt x="759992" y="819849"/>
                  <a:pt x="745295" y="854514"/>
                </a:cubicBezTo>
                <a:cubicBezTo>
                  <a:pt x="756682" y="845393"/>
                  <a:pt x="765489" y="833492"/>
                  <a:pt x="770857" y="819975"/>
                </a:cubicBezTo>
                <a:cubicBezTo>
                  <a:pt x="879943" y="589569"/>
                  <a:pt x="999605" y="365513"/>
                  <a:pt x="1131329" y="148742"/>
                </a:cubicBezTo>
                <a:lnTo>
                  <a:pt x="1227589" y="0"/>
                </a:lnTo>
                <a:lnTo>
                  <a:pt x="6878775" y="0"/>
                </a:lnTo>
                <a:lnTo>
                  <a:pt x="6878775" y="6858000"/>
                </a:lnTo>
                <a:lnTo>
                  <a:pt x="713521" y="6858000"/>
                </a:lnTo>
                <a:lnTo>
                  <a:pt x="625642" y="6670527"/>
                </a:lnTo>
                <a:cubicBezTo>
                  <a:pt x="507232" y="6398531"/>
                  <a:pt x="403083" y="6118381"/>
                  <a:pt x="312785" y="5830359"/>
                </a:cubicBezTo>
                <a:cubicBezTo>
                  <a:pt x="278149" y="5719759"/>
                  <a:pt x="248879" y="5607635"/>
                  <a:pt x="212198" y="5480401"/>
                </a:cubicBezTo>
                <a:cubicBezTo>
                  <a:pt x="212208" y="5491601"/>
                  <a:pt x="212803" y="5502788"/>
                  <a:pt x="213988" y="5513923"/>
                </a:cubicBezTo>
                <a:cubicBezTo>
                  <a:pt x="264089" y="5723695"/>
                  <a:pt x="307290" y="5935370"/>
                  <a:pt x="365826" y="6142729"/>
                </a:cubicBezTo>
                <a:cubicBezTo>
                  <a:pt x="433152" y="6380817"/>
                  <a:pt x="510068" y="6614016"/>
                  <a:pt x="597975" y="6841549"/>
                </a:cubicBezTo>
                <a:lnTo>
                  <a:pt x="604824" y="6858000"/>
                </a:lnTo>
                <a:lnTo>
                  <a:pt x="552056" y="6858000"/>
                </a:lnTo>
                <a:lnTo>
                  <a:pt x="539576" y="6828295"/>
                </a:lnTo>
                <a:cubicBezTo>
                  <a:pt x="380597" y="6414594"/>
                  <a:pt x="260223" y="5988893"/>
                  <a:pt x="171555" y="5552906"/>
                </a:cubicBezTo>
                <a:cubicBezTo>
                  <a:pt x="91163" y="5157998"/>
                  <a:pt x="43746" y="4758899"/>
                  <a:pt x="12305" y="4357388"/>
                </a:cubicBezTo>
                <a:cubicBezTo>
                  <a:pt x="-14281" y="4013908"/>
                  <a:pt x="4507" y="3672965"/>
                  <a:pt x="46684" y="3331516"/>
                </a:cubicBezTo>
                <a:cubicBezTo>
                  <a:pt x="127203" y="2664286"/>
                  <a:pt x="277819" y="2007265"/>
                  <a:pt x="496065" y="1371196"/>
                </a:cubicBezTo>
                <a:cubicBezTo>
                  <a:pt x="636273" y="966066"/>
                  <a:pt x="800445" y="573253"/>
                  <a:pt x="995723" y="196614"/>
                </a:cubicBezTo>
                <a:close/>
              </a:path>
            </a:pathLst>
          </a:custGeom>
        </p:spPr>
      </p:pic>
    </p:spTree>
    <p:extLst>
      <p:ext uri="{BB962C8B-B14F-4D97-AF65-F5344CB8AC3E}">
        <p14:creationId xmlns:p14="http://schemas.microsoft.com/office/powerpoint/2010/main" val="200535064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ABEB69-8ADE-1D87-B0C7-93EFF1CA42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pPr algn="ctr"/>
            <a:r>
              <a:rPr lang="en-HU" sz="4800"/>
              <a:t>A sztatinellenes influenszerektől elhangzó kijelentések nem támaszthatóak alá sem klinikai vizsgálatokkal, sem szakmai irányelvekkel.</a:t>
            </a:r>
          </a:p>
        </p:txBody>
      </p:sp>
    </p:spTree>
    <p:extLst>
      <p:ext uri="{BB962C8B-B14F-4D97-AF65-F5344CB8AC3E}">
        <p14:creationId xmlns:p14="http://schemas.microsoft.com/office/powerpoint/2010/main" val="67723912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8E18F1-11E4-1F65-D3AD-34F327F636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HU" i="1"/>
              <a:t>Állítás: </a:t>
            </a:r>
            <a:r>
              <a:rPr lang="en-HU"/>
              <a:t>A</a:t>
            </a:r>
            <a:r>
              <a:rPr lang="en-HU" i="1"/>
              <a:t> koleszterin szükséges, nem szabad csökkenteni</a:t>
            </a:r>
            <a:endParaRPr lang="en-H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8176D5B-A2D7-7F32-9941-26DB35A483D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endParaRPr lang="en-HU"/>
          </a:p>
          <a:p>
            <a:pPr marL="0" indent="0">
              <a:buNone/>
            </a:pPr>
            <a:r>
              <a:rPr lang="en-HU"/>
              <a:t>Valóban szükséges anyag. Az emberi szervezet önmaga is termeli (májunk állítja elő a ~70–80%</a:t>
            </a:r>
            <a:r>
              <a:rPr lang="en-HU" b="1"/>
              <a:t>-</a:t>
            </a:r>
            <a:r>
              <a:rPr lang="en-HU"/>
              <a:t>át), így teljes „kiiktatása” sztatinokkal nem lehetséges és nem is cél.</a:t>
            </a:r>
          </a:p>
          <a:p>
            <a:pPr marL="0" indent="0">
              <a:buNone/>
            </a:pPr>
            <a:r>
              <a:rPr lang="en-HU"/>
              <a:t>Viszont attól, hogy </a:t>
            </a:r>
            <a:r>
              <a:rPr lang="en-HU" b="1"/>
              <a:t>valami szükséges, az nem jelenti azt, hogy minden mennyiségben biztonságos is</a:t>
            </a:r>
            <a:r>
              <a:rPr lang="en-HU"/>
              <a:t>.</a:t>
            </a:r>
          </a:p>
          <a:p>
            <a:pPr marL="0" indent="0">
              <a:buNone/>
            </a:pPr>
            <a:r>
              <a:rPr lang="en-HU"/>
              <a:t>Gondoljunk csak arra, hogy például vércukor nélkül sem tudnánk életben maradni, de ha sok van belőle, annak cukorbetegség a neve és nem kérdés, hogy kezelni kell.</a:t>
            </a:r>
          </a:p>
        </p:txBody>
      </p:sp>
    </p:spTree>
    <p:extLst>
      <p:ext uri="{BB962C8B-B14F-4D97-AF65-F5344CB8AC3E}">
        <p14:creationId xmlns:p14="http://schemas.microsoft.com/office/powerpoint/2010/main" val="239937018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406A93-AC1A-660E-6A37-FF7A2A22D7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HU" i="1"/>
              <a:t>Állítás: A sztatinok növelik a plakkok meszességét</a:t>
            </a:r>
            <a:endParaRPr lang="en-H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FBCBEFF-AC47-C832-0F56-F7C12977537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endParaRPr lang="en-HU"/>
          </a:p>
          <a:p>
            <a:pPr marL="0" indent="0">
              <a:buNone/>
            </a:pPr>
            <a:r>
              <a:rPr lang="en-HU"/>
              <a:t>Igaz. A szakirodalom ezt kalcium paradoxonként ismeri – a </a:t>
            </a:r>
            <a:r>
              <a:rPr lang="en-HU" b="1"/>
              <a:t>mésztartalom nő</a:t>
            </a:r>
            <a:r>
              <a:rPr lang="en-HU"/>
              <a:t>, a </a:t>
            </a:r>
            <a:r>
              <a:rPr lang="en-HU" b="1"/>
              <a:t>szívinfarktus kockázata mégis csökken</a:t>
            </a:r>
            <a:r>
              <a:rPr lang="en-HU"/>
              <a:t>.</a:t>
            </a:r>
            <a:br>
              <a:rPr lang="en-HU"/>
            </a:br>
            <a:br>
              <a:rPr lang="en-HU"/>
            </a:br>
            <a:r>
              <a:rPr lang="en-HU"/>
              <a:t>Arról van szó, hogy a veszélyes, puha plakkok idővel stabilabb, megrepedésre kevésbé hajlamos formává alakulnak át.</a:t>
            </a:r>
          </a:p>
          <a:p>
            <a:pPr marL="0" indent="0">
              <a:buNone/>
            </a:pPr>
            <a:endParaRPr lang="en-HU"/>
          </a:p>
          <a:p>
            <a:pPr marL="0" indent="0">
              <a:buNone/>
            </a:pPr>
            <a:r>
              <a:rPr lang="en-HU"/>
              <a:t>Másrészt </a:t>
            </a:r>
            <a:r>
              <a:rPr lang="en-HU" b="1"/>
              <a:t>hatásos, jelentős LDL koleszterin csökkentés mellett akár a plakkok méretének csökkenése</a:t>
            </a:r>
            <a:r>
              <a:rPr lang="en-HU"/>
              <a:t> is bekövetkezhet</a:t>
            </a:r>
            <a:r>
              <a:rPr lang="en-HU">
                <a:effectLst/>
              </a:rPr>
              <a:t> </a:t>
            </a:r>
            <a:endParaRPr lang="en-HU"/>
          </a:p>
        </p:txBody>
      </p:sp>
    </p:spTree>
    <p:extLst>
      <p:ext uri="{BB962C8B-B14F-4D97-AF65-F5344CB8AC3E}">
        <p14:creationId xmlns:p14="http://schemas.microsoft.com/office/powerpoint/2010/main" val="184821593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77D70A-DDD7-02C7-D5B6-6778C8A770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HU" i="1"/>
              <a:t>Állítás: A sztatinok hatástalanok</a:t>
            </a:r>
            <a:r>
              <a:rPr lang="en-HU">
                <a:effectLst/>
              </a:rPr>
              <a:t> </a:t>
            </a:r>
            <a:endParaRPr lang="en-H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2E05C2F-7EED-64F3-8A6F-E30EF80B806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HU"/>
          </a:p>
          <a:p>
            <a:pPr marL="0" indent="0">
              <a:buNone/>
            </a:pPr>
            <a:endParaRPr lang="en-HU"/>
          </a:p>
          <a:p>
            <a:pPr marL="0" indent="0">
              <a:buNone/>
            </a:pPr>
            <a:r>
              <a:rPr lang="en-HU"/>
              <a:t>Több mint </a:t>
            </a:r>
            <a:r>
              <a:rPr lang="en-HU" b="1"/>
              <a:t>30 évnyi jól megtervezett klinikai vizsgálat</a:t>
            </a:r>
            <a:r>
              <a:rPr lang="en-HU"/>
              <a:t> igazolja a hatásosságukat LDL-csökkentésben és szív- és érrendszeri eseménycsökkentésben.</a:t>
            </a:r>
            <a:br>
              <a:rPr lang="en-HU"/>
            </a:br>
            <a:br>
              <a:rPr lang="en-HU"/>
            </a:br>
            <a:r>
              <a:rPr lang="en-HU"/>
              <a:t>Bizonyítékszint: legmagasabb, I.A</a:t>
            </a:r>
          </a:p>
        </p:txBody>
      </p:sp>
    </p:spTree>
    <p:extLst>
      <p:ext uri="{BB962C8B-B14F-4D97-AF65-F5344CB8AC3E}">
        <p14:creationId xmlns:p14="http://schemas.microsoft.com/office/powerpoint/2010/main" val="31053338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AD1E37-E473-6A82-5316-19DB634F43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HU" i="1"/>
              <a:t>Állítás: Az infarktusnak nincs köze a koleszterinhez</a:t>
            </a:r>
            <a:endParaRPr lang="en-H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0790EC0-7444-F7A9-DC78-B51B8069C39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HU"/>
          </a:p>
          <a:p>
            <a:pPr marL="0" indent="0">
              <a:buNone/>
            </a:pPr>
            <a:endParaRPr lang="en-HU"/>
          </a:p>
          <a:p>
            <a:pPr marL="0" indent="0">
              <a:buNone/>
            </a:pPr>
            <a:r>
              <a:rPr lang="en-HU"/>
              <a:t>Genetikai, epidemiológiai és randomizált-kontrollált klinikai vizsgálatok egyaránt bizonyítják az LDL-koleszterin ok-okozati szerepét érelmeszesedésben.</a:t>
            </a:r>
          </a:p>
          <a:p>
            <a:pPr marL="0" indent="0">
              <a:buNone/>
            </a:pPr>
            <a:endParaRPr lang="en-HU"/>
          </a:p>
          <a:p>
            <a:pPr marL="0" indent="0">
              <a:buNone/>
            </a:pPr>
            <a:r>
              <a:rPr lang="en-HU"/>
              <a:t>Bizonyítékszint: legmagasabb, I.A</a:t>
            </a:r>
          </a:p>
        </p:txBody>
      </p:sp>
    </p:spTree>
    <p:extLst>
      <p:ext uri="{BB962C8B-B14F-4D97-AF65-F5344CB8AC3E}">
        <p14:creationId xmlns:p14="http://schemas.microsoft.com/office/powerpoint/2010/main" val="41491873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44E3FB-4B35-0F93-4D8D-8FBA14FB01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HU" i="1"/>
              <a:t>Állítás: A koleszterincsökkentők károsabbak, mint amennyit használnak</a:t>
            </a:r>
            <a:endParaRPr lang="en-H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DC2002D-0534-D64D-B235-1FAC9D2D115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HU"/>
          </a:p>
          <a:p>
            <a:endParaRPr lang="en-HU"/>
          </a:p>
          <a:p>
            <a:pPr marL="0" indent="0">
              <a:buNone/>
            </a:pPr>
            <a:r>
              <a:rPr lang="en-HU"/>
              <a:t>A mellékhatások túlnyomó része enyhe, és ritka. A szív-érrendszeri események megelőzése sokszorosan meghaladja a kockázatokat.</a:t>
            </a:r>
          </a:p>
          <a:p>
            <a:pPr marL="0" indent="0">
              <a:buNone/>
            </a:pPr>
            <a:endParaRPr lang="en-HU"/>
          </a:p>
          <a:p>
            <a:pPr marL="0" indent="0">
              <a:buNone/>
            </a:pPr>
            <a:r>
              <a:rPr lang="en-HU"/>
              <a:t>Bizonyítékszint: legmagasabb, I.A</a:t>
            </a:r>
          </a:p>
        </p:txBody>
      </p:sp>
    </p:spTree>
    <p:extLst>
      <p:ext uri="{BB962C8B-B14F-4D97-AF65-F5344CB8AC3E}">
        <p14:creationId xmlns:p14="http://schemas.microsoft.com/office/powerpoint/2010/main" val="315943579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F95F06-D67A-84C0-908A-05B95D132F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HU" i="1"/>
              <a:t>Állítás: Nincs bizonyíték arra, hogy a sztatin javítja a túlélést</a:t>
            </a:r>
            <a:endParaRPr lang="en-H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772C199-5C2D-AF86-6A50-D3F00889F1D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HU"/>
          </a:p>
          <a:p>
            <a:endParaRPr lang="en-HU"/>
          </a:p>
          <a:p>
            <a:pPr marL="0" indent="0">
              <a:buNone/>
            </a:pPr>
            <a:r>
              <a:rPr lang="en-HU"/>
              <a:t>Magas kockázatú betegekben (pl. szívinfarktus után vagy többszörös rizikófaktorral élő páciensek) egyértelműen csökkenti a halálozást.</a:t>
            </a:r>
          </a:p>
          <a:p>
            <a:pPr marL="0" indent="0">
              <a:buNone/>
            </a:pPr>
            <a:endParaRPr lang="en-HU"/>
          </a:p>
          <a:p>
            <a:pPr marL="0" indent="0">
              <a:buNone/>
            </a:pPr>
            <a:r>
              <a:rPr lang="en-HU"/>
              <a:t>Bizonyítékszint: legmagasabb, I.A</a:t>
            </a:r>
          </a:p>
        </p:txBody>
      </p:sp>
    </p:spTree>
    <p:extLst>
      <p:ext uri="{BB962C8B-B14F-4D97-AF65-F5344CB8AC3E}">
        <p14:creationId xmlns:p14="http://schemas.microsoft.com/office/powerpoint/2010/main" val="191133620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416741-03FA-9557-E262-0F4511E55D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HU"/>
              <a:t>Sztatinellenes narratívák veszélyei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287582A-73DD-6BDC-8077-1236EAE91F1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HU"/>
              <a:t>Terápia önkényes elhagyása</a:t>
            </a:r>
            <a:br>
              <a:rPr lang="en-HU"/>
            </a:br>
            <a:r>
              <a:rPr lang="en-HU">
                <a:sym typeface="Wingdings" pitchFamily="2" charset="2"/>
              </a:rPr>
              <a:t></a:t>
            </a:r>
            <a:r>
              <a:rPr lang="en-HU"/>
              <a:t> szívinfarktus és agyi érkatasztrófa, szélütés kockázatának gyors és jelentős növekedése</a:t>
            </a:r>
          </a:p>
          <a:p>
            <a:endParaRPr lang="en-HU"/>
          </a:p>
          <a:p>
            <a:r>
              <a:rPr lang="en-HU"/>
              <a:t>Késleltetve indított kezelés</a:t>
            </a:r>
            <a:br>
              <a:rPr lang="en-HU"/>
            </a:br>
            <a:r>
              <a:rPr lang="en-HU">
                <a:sym typeface="Wingdings" pitchFamily="2" charset="2"/>
              </a:rPr>
              <a:t></a:t>
            </a:r>
            <a:r>
              <a:rPr lang="en-HU"/>
              <a:t> az érelmeszesedés folyamata kontrollálatlanul folytatódik</a:t>
            </a:r>
          </a:p>
          <a:p>
            <a:endParaRPr lang="en-HU"/>
          </a:p>
          <a:p>
            <a:r>
              <a:rPr lang="en-HU"/>
              <a:t>Félelemkeltés</a:t>
            </a:r>
            <a:br>
              <a:rPr lang="en-HU"/>
            </a:br>
            <a:r>
              <a:rPr lang="en-HU">
                <a:sym typeface="Wingdings" pitchFamily="2" charset="2"/>
              </a:rPr>
              <a:t> a betegek bizalmát gyengíti a bizonyíték-alapú gyógyszerekkel illetve orvostudománnyal szemben</a:t>
            </a:r>
          </a:p>
          <a:p>
            <a:endParaRPr lang="en-HU">
              <a:sym typeface="Wingdings" pitchFamily="2" charset="2"/>
            </a:endParaRPr>
          </a:p>
          <a:p>
            <a:r>
              <a:rPr lang="en-HU"/>
              <a:t>Alternatív kezelésekre terelés, “megélhetési influenszerkedés”</a:t>
            </a:r>
            <a:br>
              <a:rPr lang="en-HU"/>
            </a:br>
            <a:r>
              <a:rPr lang="en-HU">
                <a:sym typeface="Wingdings" pitchFamily="2" charset="2"/>
              </a:rPr>
              <a:t> hatástalan vagy bizonytalan módszerek akár káros következményekkel</a:t>
            </a:r>
            <a:endParaRPr lang="en-HU"/>
          </a:p>
        </p:txBody>
      </p:sp>
    </p:spTree>
    <p:extLst>
      <p:ext uri="{BB962C8B-B14F-4D97-AF65-F5344CB8AC3E}">
        <p14:creationId xmlns:p14="http://schemas.microsoft.com/office/powerpoint/2010/main" val="427763107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45037D-AAF6-7DE4-19A7-B0A5BC3326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HU"/>
              <a:t>Tanácsok sztatinok biztonságos alkalmazásához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19D86E4-34E5-711B-062A-35BC8FD7AA4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HU"/>
              <a:t>A statinok általában biztonságosak, a terápia nagyban csökkenti a szívinfarktus és stroke kockázatát.</a:t>
            </a:r>
          </a:p>
          <a:p>
            <a:pPr marL="0" indent="0">
              <a:buNone/>
            </a:pPr>
            <a:r>
              <a:rPr lang="en-HU"/>
              <a:t>Alkoholt csak mérsékelten fogyasszon, kerülje a rendszeres nagy mennyiségeket.</a:t>
            </a:r>
          </a:p>
          <a:p>
            <a:pPr marL="0" indent="0">
              <a:buNone/>
            </a:pPr>
            <a:r>
              <a:rPr lang="en-HU"/>
              <a:t>Ha izomfájdalom, izomgyengeség, sötét színű vizelet, vagy szokatlan fáradékonyság jelentkezik, jelezze kezelőorvosának. </a:t>
            </a:r>
          </a:p>
          <a:p>
            <a:pPr marL="0" indent="0">
              <a:buNone/>
            </a:pPr>
            <a:r>
              <a:rPr lang="en-HU"/>
              <a:t>Májbetegségre utaló tünetek (hasi fájdalom, sárgaság) esetén is keresse fel orvosát.</a:t>
            </a:r>
          </a:p>
          <a:p>
            <a:pPr marL="0" indent="0">
              <a:buNone/>
            </a:pPr>
            <a:r>
              <a:rPr lang="en-HU"/>
              <a:t>Grapefruitlé fogyasztása nagyobb mennyiségben kerülendő bizonyos statinok mellett (atorvastatin, simvastatin).</a:t>
            </a:r>
          </a:p>
        </p:txBody>
      </p:sp>
    </p:spTree>
    <p:extLst>
      <p:ext uri="{BB962C8B-B14F-4D97-AF65-F5344CB8AC3E}">
        <p14:creationId xmlns:p14="http://schemas.microsoft.com/office/powerpoint/2010/main" val="241239474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C478D8-E06C-5C15-7729-91A756B1E2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HU" b="1"/>
              <a:t>Mit ajánl a természetgyógyász akut szívinfarktusban?</a:t>
            </a:r>
            <a:endParaRPr lang="en-HU"/>
          </a:p>
        </p:txBody>
      </p:sp>
    </p:spTree>
    <p:extLst>
      <p:ext uri="{BB962C8B-B14F-4D97-AF65-F5344CB8AC3E}">
        <p14:creationId xmlns:p14="http://schemas.microsoft.com/office/powerpoint/2010/main" val="226064798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A31937-1CA6-4E81-0DEF-E6501B177F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A50C01-8643-2951-B53C-C15373CECD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HU" b="1"/>
              <a:t>Mit ajánl a természetgyógyász akut szívinfarktusban?</a:t>
            </a:r>
            <a:endParaRPr lang="en-HU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EB8640C-D3CA-A626-C813-BE752DE4D1E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44900" y="1690688"/>
            <a:ext cx="4902200" cy="4902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6800020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97</TotalTime>
  <Words>751</Words>
  <Application>Microsoft Macintosh PowerPoint</Application>
  <PresentationFormat>Widescreen</PresentationFormat>
  <Paragraphs>87</Paragraphs>
  <Slides>19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4" baseType="lpstr">
      <vt:lpstr>Arial</vt:lpstr>
      <vt:lpstr>Aptos Display</vt:lpstr>
      <vt:lpstr>Wingdings</vt:lpstr>
      <vt:lpstr>Aptos</vt:lpstr>
      <vt:lpstr>Office Theme</vt:lpstr>
      <vt:lpstr>Sztatinok helye a megelőzésben</vt:lpstr>
      <vt:lpstr>Score2-Diabetes</vt:lpstr>
      <vt:lpstr>PowerPoint Presentation</vt:lpstr>
      <vt:lpstr>PowerPoint Presentation</vt:lpstr>
      <vt:lpstr>Mik az orvostudomány által bizonyított hatások?</vt:lpstr>
      <vt:lpstr>Mikor elengedhetetlen a sztatin terápia</vt:lpstr>
      <vt:lpstr>Sztatinellenesség</vt:lpstr>
      <vt:lpstr>“Elveszítjük a pácienseink szívét és elméjét érintő csatát a nem bizonyított terápiákat hirdető webhelyekkel szemben”  (Dr. Steven Nissen, Cleveland Clinic)</vt:lpstr>
      <vt:lpstr>A sztatinellenes influenszerektől elhangzó kijelentések nem támaszthatóak alá sem klinikai vizsgálatokkal, sem szakmai irányelvekkel.</vt:lpstr>
      <vt:lpstr>Állítás: A koleszterin szükséges, nem szabad csökkenteni</vt:lpstr>
      <vt:lpstr>Állítás: A sztatinok növelik a plakkok meszességét</vt:lpstr>
      <vt:lpstr>Állítás: A sztatinok hatástalanok </vt:lpstr>
      <vt:lpstr>Állítás: Az infarktusnak nincs köze a koleszterinhez</vt:lpstr>
      <vt:lpstr>Állítás: A koleszterincsökkentők károsabbak, mint amennyit használnak</vt:lpstr>
      <vt:lpstr>Állítás: Nincs bizonyíték arra, hogy a sztatin javítja a túlélést</vt:lpstr>
      <vt:lpstr>Sztatinellenes narratívák veszélyei</vt:lpstr>
      <vt:lpstr>Tanácsok sztatinok biztonságos alkalmazásához</vt:lpstr>
      <vt:lpstr>Mit ajánl a természetgyógyász akut szívinfarktusban?</vt:lpstr>
      <vt:lpstr>Mit ajánl a természetgyógyász akut szívinfarktusban?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Gábor Iglói</dc:creator>
  <cp:lastModifiedBy>Dr. Iglói Gábor</cp:lastModifiedBy>
  <cp:revision>4</cp:revision>
  <dcterms:created xsi:type="dcterms:W3CDTF">2026-05-20T05:33:38Z</dcterms:created>
  <dcterms:modified xsi:type="dcterms:W3CDTF">2026-05-20T13:11:21Z</dcterms:modified>
</cp:coreProperties>
</file>